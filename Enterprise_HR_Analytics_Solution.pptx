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A2F5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A2F5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A2F5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2836944" y="3440641"/>
            <a:ext cx="3569969" cy="518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A2F5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0769" y="180179"/>
            <a:ext cx="16073660" cy="150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A2F5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931" y="2076070"/>
            <a:ext cx="7536815" cy="248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07384" y="9455853"/>
            <a:ext cx="1235709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Relationship Id="rId13" Type="http://schemas.openxmlformats.org/officeDocument/2006/relationships/image" Target="../media/image19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2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jpg"/><Relationship Id="rId9" Type="http://schemas.openxmlformats.org/officeDocument/2006/relationships/image" Target="../media/image41.png"/><Relationship Id="rId10" Type="http://schemas.openxmlformats.org/officeDocument/2006/relationships/image" Target="../media/image4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openxmlformats.org/officeDocument/2006/relationships/image" Target="../media/image6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jpg"/><Relationship Id="rId10" Type="http://schemas.openxmlformats.org/officeDocument/2006/relationships/image" Target="../media/image70.png"/><Relationship Id="rId11" Type="http://schemas.openxmlformats.org/officeDocument/2006/relationships/image" Target="../media/image71.jpg"/><Relationship Id="rId12" Type="http://schemas.openxmlformats.org/officeDocument/2006/relationships/image" Target="../media/image72.png"/><Relationship Id="rId13" Type="http://schemas.openxmlformats.org/officeDocument/2006/relationships/image" Target="../media/image73.jp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jp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Relationship Id="rId20" Type="http://schemas.openxmlformats.org/officeDocument/2006/relationships/image" Target="../media/image80.png"/><Relationship Id="rId21" Type="http://schemas.openxmlformats.org/officeDocument/2006/relationships/image" Target="../media/image81.jpg"/><Relationship Id="rId22" Type="http://schemas.openxmlformats.org/officeDocument/2006/relationships/image" Target="../media/image82.png"/><Relationship Id="rId23" Type="http://schemas.openxmlformats.org/officeDocument/2006/relationships/image" Target="../media/image8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jpg"/><Relationship Id="rId5" Type="http://schemas.openxmlformats.org/officeDocument/2006/relationships/image" Target="../media/image88.png"/><Relationship Id="rId6" Type="http://schemas.openxmlformats.org/officeDocument/2006/relationships/image" Target="../media/image8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800" y="4838700"/>
            <a:ext cx="457200" cy="50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27100" y="4648200"/>
            <a:ext cx="152400" cy="711200"/>
            <a:chOff x="927100" y="4648200"/>
            <a:chExt cx="152400" cy="7112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100" y="4648200"/>
              <a:ext cx="152400" cy="7112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100" y="4648200"/>
              <a:ext cx="152400" cy="711200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70300" y="7416800"/>
            <a:ext cx="965200" cy="2222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12800" y="5829300"/>
            <a:ext cx="3924300" cy="11176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14200" y="8166100"/>
            <a:ext cx="2247900" cy="9398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13100" y="8089900"/>
            <a:ext cx="406400" cy="15494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33466" y="2259894"/>
            <a:ext cx="10769600" cy="2291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8830"/>
              </a:lnSpc>
              <a:spcBef>
                <a:spcPts val="105"/>
              </a:spcBef>
            </a:pPr>
            <a:r>
              <a:rPr dirty="0" sz="8050" spc="-40">
                <a:solidFill>
                  <a:srgbClr val="032F56"/>
                </a:solidFill>
              </a:rPr>
              <a:t>Enterprise</a:t>
            </a:r>
            <a:r>
              <a:rPr dirty="0" sz="8050" spc="-495">
                <a:solidFill>
                  <a:srgbClr val="032F56"/>
                </a:solidFill>
              </a:rPr>
              <a:t> </a:t>
            </a:r>
            <a:r>
              <a:rPr dirty="0" sz="8050" spc="-935">
                <a:solidFill>
                  <a:srgbClr val="00284F"/>
                </a:solidFill>
              </a:rPr>
              <a:t>HR</a:t>
            </a:r>
            <a:r>
              <a:rPr dirty="0" sz="8050" spc="-254">
                <a:solidFill>
                  <a:srgbClr val="00284F"/>
                </a:solidFill>
              </a:rPr>
              <a:t> </a:t>
            </a:r>
            <a:r>
              <a:rPr dirty="0" sz="8050" spc="-10">
                <a:solidFill>
                  <a:srgbClr val="01264F"/>
                </a:solidFill>
              </a:rPr>
              <a:t>Analytics:</a:t>
            </a:r>
            <a:endParaRPr sz="8050"/>
          </a:p>
          <a:p>
            <a:pPr marL="43815">
              <a:lnSpc>
                <a:spcPts val="9010"/>
              </a:lnSpc>
            </a:pPr>
            <a:r>
              <a:rPr dirty="0" sz="8200" spc="-880">
                <a:solidFill>
                  <a:srgbClr val="002A52"/>
                </a:solidFill>
              </a:rPr>
              <a:t>A</a:t>
            </a:r>
            <a:r>
              <a:rPr dirty="0" sz="8200" spc="-705">
                <a:solidFill>
                  <a:srgbClr val="002A52"/>
                </a:solidFill>
              </a:rPr>
              <a:t> </a:t>
            </a:r>
            <a:r>
              <a:rPr dirty="0" sz="8200" spc="-25">
                <a:solidFill>
                  <a:srgbClr val="01264B"/>
                </a:solidFill>
              </a:rPr>
              <a:t>Strategic</a:t>
            </a:r>
            <a:r>
              <a:rPr dirty="0" sz="8200" spc="-515">
                <a:solidFill>
                  <a:srgbClr val="01264B"/>
                </a:solidFill>
              </a:rPr>
              <a:t> </a:t>
            </a:r>
            <a:r>
              <a:rPr dirty="0" sz="8200" spc="-10">
                <a:solidFill>
                  <a:srgbClr val="032D54"/>
                </a:solidFill>
              </a:rPr>
              <a:t>Solution</a:t>
            </a:r>
            <a:endParaRPr sz="8200"/>
          </a:p>
        </p:txBody>
      </p:sp>
      <p:sp>
        <p:nvSpPr>
          <p:cNvPr id="11" name="object 11" descr=""/>
          <p:cNvSpPr txBox="1"/>
          <p:nvPr/>
        </p:nvSpPr>
        <p:spPr>
          <a:xfrm>
            <a:off x="852254" y="4026546"/>
            <a:ext cx="8540750" cy="2780665"/>
          </a:xfrm>
          <a:prstGeom prst="rect">
            <a:avLst/>
          </a:prstGeom>
        </p:spPr>
        <p:txBody>
          <a:bodyPr wrap="square" lIns="0" tIns="342265" rIns="0" bIns="0" rtlCol="0" vert="horz">
            <a:spAutoFit/>
          </a:bodyPr>
          <a:lstStyle/>
          <a:p>
            <a:pPr marL="1012825">
              <a:lnSpc>
                <a:spcPct val="100000"/>
              </a:lnSpc>
              <a:spcBef>
                <a:spcPts val="2695"/>
              </a:spcBef>
            </a:pPr>
            <a:r>
              <a:rPr dirty="0" sz="7700" spc="-10">
                <a:solidFill>
                  <a:srgbClr val="012D57"/>
                </a:solidFill>
                <a:latin typeface="Arial MT"/>
                <a:cs typeface="Arial MT"/>
              </a:rPr>
              <a:t>Excel</a:t>
            </a:r>
            <a:endParaRPr sz="7700">
              <a:latin typeface="Arial MT"/>
              <a:cs typeface="Arial MT"/>
            </a:endParaRPr>
          </a:p>
          <a:p>
            <a:pPr marL="12700" marR="5080" indent="12700">
              <a:lnSpc>
                <a:spcPts val="4100"/>
              </a:lnSpc>
              <a:spcBef>
                <a:spcPts val="1730"/>
              </a:spcBef>
            </a:pPr>
            <a:r>
              <a:rPr dirty="0" sz="3750" spc="-100">
                <a:solidFill>
                  <a:srgbClr val="151515"/>
                </a:solidFill>
                <a:latin typeface="Arial MT"/>
                <a:cs typeface="Arial MT"/>
              </a:rPr>
              <a:t>Transforming</a:t>
            </a:r>
            <a:r>
              <a:rPr dirty="0" sz="3750" spc="-6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3750" spc="-305">
                <a:solidFill>
                  <a:srgbClr val="161616"/>
                </a:solidFill>
                <a:latin typeface="Arial MT"/>
                <a:cs typeface="Arial MT"/>
              </a:rPr>
              <a:t>Raw</a:t>
            </a:r>
            <a:r>
              <a:rPr dirty="0" sz="3750" spc="5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750" spc="-114">
                <a:solidFill>
                  <a:srgbClr val="161616"/>
                </a:solidFill>
                <a:latin typeface="Arial MT"/>
                <a:cs typeface="Arial MT"/>
              </a:rPr>
              <a:t>Payroll</a:t>
            </a:r>
            <a:r>
              <a:rPr dirty="0" sz="3750" spc="-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750" spc="-325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375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3750" spc="-10">
                <a:solidFill>
                  <a:srgbClr val="131313"/>
                </a:solidFill>
                <a:latin typeface="Arial MT"/>
                <a:cs typeface="Arial MT"/>
              </a:rPr>
              <a:t>Performance </a:t>
            </a:r>
            <a:r>
              <a:rPr dirty="0" sz="3750" spc="-12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dirty="0" sz="3750" spc="-1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3750">
                <a:solidFill>
                  <a:srgbClr val="181818"/>
                </a:solidFill>
                <a:latin typeface="Arial MT"/>
                <a:cs typeface="Arial MT"/>
              </a:rPr>
              <a:t>into</a:t>
            </a:r>
            <a:r>
              <a:rPr dirty="0" sz="3750" spc="-1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3750" spc="-55">
                <a:solidFill>
                  <a:srgbClr val="0F0F0F"/>
                </a:solidFill>
                <a:latin typeface="Arial MT"/>
                <a:cs typeface="Arial MT"/>
              </a:rPr>
              <a:t>Actionable</a:t>
            </a:r>
            <a:r>
              <a:rPr dirty="0" sz="37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3750" spc="-140">
                <a:solidFill>
                  <a:srgbClr val="181818"/>
                </a:solidFill>
                <a:latin typeface="Arial MT"/>
                <a:cs typeface="Arial MT"/>
              </a:rPr>
              <a:t>Business</a:t>
            </a:r>
            <a:r>
              <a:rPr dirty="0" sz="3750" spc="-12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3750" spc="-30">
                <a:solidFill>
                  <a:srgbClr val="111111"/>
                </a:solidFill>
                <a:latin typeface="Arial MT"/>
                <a:cs typeface="Arial MT"/>
              </a:rPr>
              <a:t>Intelligence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49761" y="8262480"/>
            <a:ext cx="7050405" cy="982344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50" spc="-90">
                <a:latin typeface="Arial MT"/>
                <a:cs typeface="Arial MT"/>
              </a:rPr>
              <a:t>Bhagabata</a:t>
            </a:r>
            <a:r>
              <a:rPr dirty="0" sz="2850" spc="-35">
                <a:latin typeface="Arial MT"/>
                <a:cs typeface="Arial MT"/>
              </a:rPr>
              <a:t> </a:t>
            </a:r>
            <a:r>
              <a:rPr dirty="0" sz="2850" spc="-10">
                <a:solidFill>
                  <a:srgbClr val="0A0A0A"/>
                </a:solidFill>
                <a:latin typeface="Arial MT"/>
                <a:cs typeface="Arial MT"/>
              </a:rPr>
              <a:t>Brahma</a:t>
            </a:r>
            <a:endParaRPr sz="2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2089785" algn="l"/>
              </a:tabLst>
            </a:pPr>
            <a:r>
              <a:rPr dirty="0" sz="2700">
                <a:latin typeface="Arial MT"/>
                <a:cs typeface="Arial MT"/>
              </a:rPr>
              <a:t>Data</a:t>
            </a:r>
            <a:r>
              <a:rPr dirty="0" sz="2700" spc="25"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C0C0C"/>
                </a:solidFill>
                <a:latin typeface="Arial MT"/>
                <a:cs typeface="Arial MT"/>
              </a:rPr>
              <a:t>Analyst</a:t>
            </a:r>
            <a:r>
              <a:rPr dirty="0" sz="2700">
                <a:solidFill>
                  <a:srgbClr val="0C0C0C"/>
                </a:solidFill>
                <a:latin typeface="Arial MT"/>
                <a:cs typeface="Arial MT"/>
              </a:rPr>
              <a:t>	</a:t>
            </a:r>
            <a:r>
              <a:rPr dirty="0" sz="2700" spc="-365">
                <a:solidFill>
                  <a:srgbClr val="AFAFAF"/>
                </a:solidFill>
                <a:latin typeface="Arial MT"/>
                <a:cs typeface="Arial MT"/>
              </a:rPr>
              <a:t>|</a:t>
            </a:r>
            <a:r>
              <a:rPr dirty="0" sz="2700" spc="17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111111"/>
                </a:solidFill>
                <a:latin typeface="Arial MT"/>
                <a:cs typeface="Arial MT"/>
              </a:rPr>
              <a:t>Excel</a:t>
            </a:r>
            <a:r>
              <a:rPr dirty="0" sz="27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700" spc="-365">
                <a:solidFill>
                  <a:srgbClr val="AFAA97"/>
                </a:solidFill>
                <a:latin typeface="Arial MT"/>
                <a:cs typeface="Arial MT"/>
              </a:rPr>
              <a:t>|</a:t>
            </a:r>
            <a:r>
              <a:rPr dirty="0" sz="2700" spc="220">
                <a:solidFill>
                  <a:srgbClr val="AFAA97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A0A0A"/>
                </a:solidFill>
                <a:latin typeface="Arial MT"/>
                <a:cs typeface="Arial MT"/>
              </a:rPr>
              <a:t>Power</a:t>
            </a:r>
            <a:r>
              <a:rPr dirty="0" sz="2700" spc="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C0C0C"/>
                </a:solidFill>
                <a:latin typeface="Arial MT"/>
                <a:cs typeface="Arial MT"/>
              </a:rPr>
              <a:t>BI</a:t>
            </a:r>
            <a:r>
              <a:rPr dirty="0" sz="27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700" spc="-365">
                <a:solidFill>
                  <a:srgbClr val="ACACAC"/>
                </a:solidFill>
                <a:latin typeface="Arial MT"/>
                <a:cs typeface="Arial MT"/>
              </a:rPr>
              <a:t>|</a:t>
            </a:r>
            <a:r>
              <a:rPr dirty="0" sz="2700" spc="204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700" spc="-60">
                <a:solidFill>
                  <a:srgbClr val="0E0E0E"/>
                </a:solidFill>
                <a:latin typeface="Arial MT"/>
                <a:cs typeface="Arial MT"/>
              </a:rPr>
              <a:t>SQL</a:t>
            </a:r>
            <a:r>
              <a:rPr dirty="0" sz="270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700" spc="-365">
                <a:solidFill>
                  <a:srgbClr val="B1B1B1"/>
                </a:solidFill>
                <a:latin typeface="Arial MT"/>
                <a:cs typeface="Arial MT"/>
              </a:rPr>
              <a:t>|</a:t>
            </a:r>
            <a:r>
              <a:rPr dirty="0" sz="2700" spc="22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C0C0C"/>
                </a:solidFill>
                <a:latin typeface="Arial MT"/>
                <a:cs typeface="Arial MT"/>
              </a:rPr>
              <a:t>Python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1600" y="7264400"/>
            <a:ext cx="1600200" cy="838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09100" y="7264400"/>
            <a:ext cx="393700" cy="838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38000" y="7594600"/>
            <a:ext cx="673100" cy="673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38000" y="6261100"/>
            <a:ext cx="673100" cy="660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38000" y="4914900"/>
            <a:ext cx="673100" cy="673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38000" y="3556000"/>
            <a:ext cx="673100" cy="67310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9704916" y="7255933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F3F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9698566" y="7255933"/>
            <a:ext cx="1282700" cy="901700"/>
            <a:chOff x="9698566" y="7255933"/>
            <a:chExt cx="1282700" cy="901700"/>
          </a:xfrm>
        </p:grpSpPr>
        <p:sp>
          <p:nvSpPr>
            <p:cNvPr id="10" name="object 10" descr=""/>
            <p:cNvSpPr/>
            <p:nvPr/>
          </p:nvSpPr>
          <p:spPr>
            <a:xfrm>
              <a:off x="10974916" y="7255933"/>
              <a:ext cx="0" cy="901700"/>
            </a:xfrm>
            <a:custGeom>
              <a:avLst/>
              <a:gdLst/>
              <a:ahLst/>
              <a:cxnLst/>
              <a:rect l="l" t="t" r="r" b="b"/>
              <a:pathLst>
                <a:path w="0" h="901700">
                  <a:moveTo>
                    <a:pt x="0" y="9017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3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698566" y="7262283"/>
              <a:ext cx="1282700" cy="0"/>
            </a:xfrm>
            <a:custGeom>
              <a:avLst/>
              <a:gdLst/>
              <a:ahLst/>
              <a:cxnLst/>
              <a:rect l="l" t="t" r="r" b="b"/>
              <a:pathLst>
                <a:path w="1282700" h="0">
                  <a:moveTo>
                    <a:pt x="0" y="0"/>
                  </a:moveTo>
                  <a:lnTo>
                    <a:pt x="1282700" y="0"/>
                  </a:lnTo>
                </a:path>
              </a:pathLst>
            </a:custGeom>
            <a:ln w="12700">
              <a:solidFill>
                <a:srgbClr val="2F3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838266" y="8151283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 h="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12700">
              <a:solidFill>
                <a:srgbClr val="2F3F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8066616" y="7255933"/>
            <a:ext cx="0" cy="889000"/>
          </a:xfrm>
          <a:custGeom>
            <a:avLst/>
            <a:gdLst/>
            <a:ahLst/>
            <a:cxnLst/>
            <a:rect l="l" t="t" r="r" b="b"/>
            <a:pathLst>
              <a:path w="0" h="889000">
                <a:moveTo>
                  <a:pt x="0" y="889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F3F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8060266" y="7255933"/>
            <a:ext cx="1270000" cy="889000"/>
            <a:chOff x="8060266" y="7255933"/>
            <a:chExt cx="1270000" cy="889000"/>
          </a:xfrm>
        </p:grpSpPr>
        <p:sp>
          <p:nvSpPr>
            <p:cNvPr id="15" name="object 15" descr=""/>
            <p:cNvSpPr/>
            <p:nvPr/>
          </p:nvSpPr>
          <p:spPr>
            <a:xfrm>
              <a:off x="9323916" y="7255933"/>
              <a:ext cx="0" cy="889000"/>
            </a:xfrm>
            <a:custGeom>
              <a:avLst/>
              <a:gdLst/>
              <a:ahLst/>
              <a:cxnLst/>
              <a:rect l="l" t="t" r="r" b="b"/>
              <a:pathLst>
                <a:path w="0" h="889000">
                  <a:moveTo>
                    <a:pt x="0" y="889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3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60266" y="7262283"/>
              <a:ext cx="1270000" cy="0"/>
            </a:xfrm>
            <a:custGeom>
              <a:avLst/>
              <a:gdLst/>
              <a:ahLst/>
              <a:cxnLst/>
              <a:rect l="l" t="t" r="r" b="b"/>
              <a:pathLst>
                <a:path w="1270000" h="0">
                  <a:moveTo>
                    <a:pt x="0" y="0"/>
                  </a:moveTo>
                  <a:lnTo>
                    <a:pt x="1270000" y="0"/>
                  </a:lnTo>
                </a:path>
              </a:pathLst>
            </a:custGeom>
            <a:ln w="12700">
              <a:solidFill>
                <a:srgbClr val="2F3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60266" y="8138583"/>
              <a:ext cx="1270000" cy="0"/>
            </a:xfrm>
            <a:custGeom>
              <a:avLst/>
              <a:gdLst/>
              <a:ahLst/>
              <a:cxnLst/>
              <a:rect l="l" t="t" r="r" b="b"/>
              <a:pathLst>
                <a:path w="1270000" h="0">
                  <a:moveTo>
                    <a:pt x="0" y="0"/>
                  </a:moveTo>
                  <a:lnTo>
                    <a:pt x="1270000" y="0"/>
                  </a:lnTo>
                </a:path>
              </a:pathLst>
            </a:custGeom>
            <a:ln w="12700">
              <a:solidFill>
                <a:srgbClr val="2F3F4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3599" y="7442200"/>
              <a:ext cx="520700" cy="2286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94699" y="7683500"/>
              <a:ext cx="673100" cy="228600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9855200" y="7442200"/>
            <a:ext cx="1054100" cy="469900"/>
            <a:chOff x="9855200" y="7442200"/>
            <a:chExt cx="1054100" cy="469900"/>
          </a:xfrm>
        </p:grpSpPr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67900" y="7442200"/>
              <a:ext cx="1041400" cy="2286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5200" y="7683500"/>
              <a:ext cx="1041400" cy="228600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9200" y="7200900"/>
            <a:ext cx="1651000" cy="2413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19200" y="7810500"/>
            <a:ext cx="1981200" cy="241300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8394700" y="7442200"/>
            <a:ext cx="673100" cy="469900"/>
            <a:chOff x="8394700" y="7442200"/>
            <a:chExt cx="673100" cy="469900"/>
          </a:xfrm>
        </p:grpSpPr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3600" y="7442200"/>
              <a:ext cx="520700" cy="22860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94700" y="7683500"/>
              <a:ext cx="673100" cy="228600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9855200" y="7442200"/>
            <a:ext cx="1054100" cy="469900"/>
            <a:chOff x="9855200" y="7442200"/>
            <a:chExt cx="1054100" cy="469900"/>
          </a:xfrm>
        </p:grpSpPr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67900" y="7442200"/>
              <a:ext cx="1041400" cy="22860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5200" y="7683500"/>
              <a:ext cx="1041400" cy="228600"/>
            </a:xfrm>
            <a:prstGeom prst="rect">
              <a:avLst/>
            </a:prstGeom>
          </p:spPr>
        </p:pic>
      </p:grpSp>
      <p:pic>
        <p:nvPicPr>
          <p:cNvPr id="31" name="object 3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9200" y="8407400"/>
            <a:ext cx="1625600" cy="26670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02600" y="7264400"/>
            <a:ext cx="1219200" cy="83820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40900" y="7264400"/>
            <a:ext cx="1231900" cy="850900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5847" rIns="0" bIns="0" rtlCol="0" vert="horz">
            <a:spAutoFit/>
          </a:bodyPr>
          <a:lstStyle/>
          <a:p>
            <a:pPr marL="871219">
              <a:lnSpc>
                <a:spcPct val="100000"/>
              </a:lnSpc>
              <a:spcBef>
                <a:spcPts val="105"/>
              </a:spcBef>
            </a:pPr>
            <a:r>
              <a:rPr dirty="0" sz="5200" spc="-130">
                <a:solidFill>
                  <a:srgbClr val="012846"/>
                </a:solidFill>
              </a:rPr>
              <a:t>The</a:t>
            </a:r>
            <a:r>
              <a:rPr dirty="0" sz="5200" spc="-540">
                <a:solidFill>
                  <a:srgbClr val="012846"/>
                </a:solidFill>
              </a:rPr>
              <a:t> </a:t>
            </a:r>
            <a:r>
              <a:rPr dirty="0" sz="5200">
                <a:solidFill>
                  <a:srgbClr val="052D4D"/>
                </a:solidFill>
              </a:rPr>
              <a:t>Project</a:t>
            </a:r>
            <a:r>
              <a:rPr dirty="0" sz="5200" spc="-120">
                <a:solidFill>
                  <a:srgbClr val="052D4D"/>
                </a:solidFill>
              </a:rPr>
              <a:t> </a:t>
            </a:r>
            <a:r>
              <a:rPr dirty="0" sz="5200" spc="145">
                <a:solidFill>
                  <a:srgbClr val="013157"/>
                </a:solidFill>
              </a:rPr>
              <a:t>at</a:t>
            </a:r>
            <a:r>
              <a:rPr dirty="0" sz="5200" spc="-490">
                <a:solidFill>
                  <a:srgbClr val="013157"/>
                </a:solidFill>
              </a:rPr>
              <a:t> </a:t>
            </a:r>
            <a:r>
              <a:rPr dirty="0" sz="5200" spc="-180">
                <a:solidFill>
                  <a:srgbClr val="032F56"/>
                </a:solidFill>
              </a:rPr>
              <a:t>a</a:t>
            </a:r>
            <a:r>
              <a:rPr dirty="0" sz="5200" spc="-660">
                <a:solidFill>
                  <a:srgbClr val="032F56"/>
                </a:solidFill>
              </a:rPr>
              <a:t> </a:t>
            </a:r>
            <a:r>
              <a:rPr dirty="0" sz="5200" spc="-114">
                <a:solidFill>
                  <a:srgbClr val="013157"/>
                </a:solidFill>
              </a:rPr>
              <a:t>Glance:</a:t>
            </a:r>
            <a:r>
              <a:rPr dirty="0" sz="5200" spc="-305">
                <a:solidFill>
                  <a:srgbClr val="013157"/>
                </a:solidFill>
              </a:rPr>
              <a:t> </a:t>
            </a:r>
            <a:r>
              <a:rPr dirty="0" sz="5200" spc="-160">
                <a:solidFill>
                  <a:srgbClr val="002646"/>
                </a:solidFill>
              </a:rPr>
              <a:t>From</a:t>
            </a:r>
            <a:r>
              <a:rPr dirty="0" sz="5200" spc="-625">
                <a:solidFill>
                  <a:srgbClr val="002646"/>
                </a:solidFill>
              </a:rPr>
              <a:t> </a:t>
            </a:r>
            <a:r>
              <a:rPr dirty="0" sz="5200" spc="-55">
                <a:solidFill>
                  <a:srgbClr val="032F54"/>
                </a:solidFill>
              </a:rPr>
              <a:t>Challenge</a:t>
            </a:r>
            <a:r>
              <a:rPr dirty="0" sz="5200" spc="-260">
                <a:solidFill>
                  <a:srgbClr val="032F54"/>
                </a:solidFill>
              </a:rPr>
              <a:t> </a:t>
            </a:r>
            <a:r>
              <a:rPr dirty="0" sz="5200">
                <a:solidFill>
                  <a:srgbClr val="052A4F"/>
                </a:solidFill>
              </a:rPr>
              <a:t>to</a:t>
            </a:r>
            <a:r>
              <a:rPr dirty="0" sz="5200" spc="-100">
                <a:solidFill>
                  <a:srgbClr val="052A4F"/>
                </a:solidFill>
              </a:rPr>
              <a:t> </a:t>
            </a:r>
            <a:r>
              <a:rPr dirty="0" sz="5200" spc="-10">
                <a:solidFill>
                  <a:srgbClr val="012848"/>
                </a:solidFill>
              </a:rPr>
              <a:t>Impact</a:t>
            </a:r>
            <a:endParaRPr sz="5200"/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35" name="object 35" descr=""/>
          <p:cNvSpPr txBox="1"/>
          <p:nvPr/>
        </p:nvSpPr>
        <p:spPr>
          <a:xfrm>
            <a:off x="1452437" y="2430991"/>
            <a:ext cx="364490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0">
                <a:solidFill>
                  <a:srgbClr val="032344"/>
                </a:solidFill>
                <a:latin typeface="Arial MT"/>
                <a:cs typeface="Arial MT"/>
              </a:rPr>
              <a:t>The</a:t>
            </a:r>
            <a:r>
              <a:rPr dirty="0" sz="2700" spc="-260">
                <a:solidFill>
                  <a:srgbClr val="032344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031D3B"/>
                </a:solidFill>
                <a:latin typeface="Arial MT"/>
                <a:cs typeface="Arial MT"/>
              </a:rPr>
              <a:t>Business</a:t>
            </a:r>
            <a:r>
              <a:rPr dirty="0" sz="2700" spc="-125">
                <a:solidFill>
                  <a:srgbClr val="031D3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31C3A"/>
                </a:solidFill>
                <a:latin typeface="Arial MT"/>
                <a:cs typeface="Arial MT"/>
              </a:rPr>
              <a:t>Challenge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989162" y="3455811"/>
            <a:ext cx="4421505" cy="330517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4604" marR="5080" indent="-2540">
              <a:lnSpc>
                <a:spcPct val="92600"/>
              </a:lnSpc>
              <a:spcBef>
                <a:spcPts val="370"/>
              </a:spcBef>
            </a:pPr>
            <a:r>
              <a:rPr dirty="0" sz="2600" spc="-475">
                <a:latin typeface="Arial MT"/>
                <a:cs typeface="Arial MT"/>
              </a:rPr>
              <a:t>HR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215">
                <a:latin typeface="Arial MT"/>
                <a:cs typeface="Arial MT"/>
              </a:rPr>
              <a:t>and</a:t>
            </a:r>
            <a:r>
              <a:rPr dirty="0" sz="2600" spc="-275">
                <a:latin typeface="Arial MT"/>
                <a:cs typeface="Arial MT"/>
              </a:rPr>
              <a:t> </a:t>
            </a:r>
            <a:r>
              <a:rPr dirty="0" sz="2600" spc="-225">
                <a:latin typeface="Arial MT"/>
                <a:cs typeface="Arial MT"/>
              </a:rPr>
              <a:t>Finance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200">
                <a:latin typeface="Arial MT"/>
                <a:cs typeface="Arial MT"/>
              </a:rPr>
              <a:t>teams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180">
                <a:latin typeface="Arial MT"/>
                <a:cs typeface="Arial MT"/>
              </a:rPr>
              <a:t>lacked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385">
                <a:latin typeface="Arial MT"/>
                <a:cs typeface="Arial MT"/>
              </a:rPr>
              <a:t>a </a:t>
            </a:r>
            <a:r>
              <a:rPr dirty="0" sz="2500" spc="-85">
                <a:latin typeface="Arial MT"/>
                <a:cs typeface="Arial MT"/>
              </a:rPr>
              <a:t>unified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150">
                <a:latin typeface="Arial MT"/>
                <a:cs typeface="Arial MT"/>
              </a:rPr>
              <a:t>view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6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30">
                <a:latin typeface="Arial MT"/>
                <a:cs typeface="Arial MT"/>
              </a:rPr>
              <a:t>workforce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50" spc="-170">
                <a:latin typeface="Arial MT"/>
                <a:cs typeface="Arial MT"/>
              </a:rPr>
              <a:t>across</a:t>
            </a:r>
            <a:r>
              <a:rPr dirty="0" sz="2550" spc="-85">
                <a:latin typeface="Arial MT"/>
                <a:cs typeface="Arial MT"/>
              </a:rPr>
              <a:t> </a:t>
            </a:r>
            <a:r>
              <a:rPr dirty="0" sz="2550" spc="-90">
                <a:latin typeface="Arial MT"/>
                <a:cs typeface="Arial MT"/>
              </a:rPr>
              <a:t>different</a:t>
            </a:r>
            <a:r>
              <a:rPr dirty="0" sz="2550" spc="-125">
                <a:latin typeface="Arial MT"/>
                <a:cs typeface="Arial MT"/>
              </a:rPr>
              <a:t> </a:t>
            </a:r>
            <a:r>
              <a:rPr dirty="0" sz="2550" spc="-160">
                <a:latin typeface="Arial MT"/>
                <a:cs typeface="Arial MT"/>
              </a:rPr>
              <a:t>geographies</a:t>
            </a:r>
            <a:r>
              <a:rPr dirty="0" sz="2550" spc="120">
                <a:latin typeface="Arial MT"/>
                <a:cs typeface="Arial MT"/>
              </a:rPr>
              <a:t> </a:t>
            </a:r>
            <a:r>
              <a:rPr dirty="0" sz="2550" spc="-140">
                <a:latin typeface="Arial MT"/>
                <a:cs typeface="Arial MT"/>
              </a:rPr>
              <a:t>(New </a:t>
            </a:r>
            <a:r>
              <a:rPr dirty="0" sz="2600" spc="-225">
                <a:latin typeface="Arial MT"/>
                <a:cs typeface="Arial MT"/>
              </a:rPr>
              <a:t>Zealand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6</a:t>
            </a:r>
            <a:r>
              <a:rPr dirty="0" sz="2600" spc="-34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India).</a:t>
            </a:r>
            <a:endParaRPr sz="2600">
              <a:latin typeface="Arial MT"/>
              <a:cs typeface="Arial MT"/>
            </a:endParaRPr>
          </a:p>
          <a:p>
            <a:pPr marL="14604" marR="225425" indent="-635">
              <a:lnSpc>
                <a:spcPct val="92500"/>
              </a:lnSpc>
              <a:spcBef>
                <a:spcPts val="10"/>
              </a:spcBef>
            </a:pPr>
            <a:r>
              <a:rPr dirty="0" sz="2600" spc="-225">
                <a:latin typeface="Arial MT"/>
                <a:cs typeface="Arial MT"/>
              </a:rPr>
              <a:t>Manual,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175">
                <a:latin typeface="Arial MT"/>
                <a:cs typeface="Arial MT"/>
              </a:rPr>
              <a:t>disparate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reporting </a:t>
            </a:r>
            <a:r>
              <a:rPr dirty="0" sz="2500" spc="-130">
                <a:latin typeface="Arial MT"/>
                <a:cs typeface="Arial MT"/>
              </a:rPr>
              <a:t>processes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14">
                <a:latin typeface="Arial MT"/>
                <a:cs typeface="Arial MT"/>
              </a:rPr>
              <a:t>hindered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the</a:t>
            </a:r>
            <a:r>
              <a:rPr dirty="0" sz="2500" spc="-204">
                <a:latin typeface="Arial MT"/>
                <a:cs typeface="Arial MT"/>
              </a:rPr>
              <a:t> </a:t>
            </a:r>
            <a:r>
              <a:rPr dirty="0" sz="2500" spc="-70">
                <a:latin typeface="Arial MT"/>
                <a:cs typeface="Arial MT"/>
              </a:rPr>
              <a:t>ability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to </a:t>
            </a:r>
            <a:r>
              <a:rPr dirty="0" sz="2600" spc="-160">
                <a:latin typeface="Arial MT"/>
                <a:cs typeface="Arial MT"/>
              </a:rPr>
              <a:t>monitor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spc="-235">
                <a:latin typeface="Arial MT"/>
                <a:cs typeface="Arial MT"/>
              </a:rPr>
              <a:t>key</a:t>
            </a:r>
            <a:r>
              <a:rPr dirty="0" sz="2600" spc="-170">
                <a:latin typeface="Arial MT"/>
                <a:cs typeface="Arial MT"/>
              </a:rPr>
              <a:t> </a:t>
            </a:r>
            <a:r>
              <a:rPr dirty="0" sz="2600" spc="-135">
                <a:latin typeface="Arial MT"/>
                <a:cs typeface="Arial MT"/>
              </a:rPr>
              <a:t>metrics,</a:t>
            </a:r>
            <a:r>
              <a:rPr dirty="0" sz="2600" spc="-140">
                <a:latin typeface="Arial MT"/>
                <a:cs typeface="Arial MT"/>
              </a:rPr>
              <a:t> </a:t>
            </a:r>
            <a:r>
              <a:rPr dirty="0" sz="2600" spc="-210">
                <a:latin typeface="Arial MT"/>
                <a:cs typeface="Arial MT"/>
              </a:rPr>
              <a:t>ensure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pay </a:t>
            </a:r>
            <a:r>
              <a:rPr dirty="0" sz="2550" spc="-140">
                <a:latin typeface="Arial MT"/>
                <a:cs typeface="Arial MT"/>
              </a:rPr>
              <a:t>equity,</a:t>
            </a:r>
            <a:r>
              <a:rPr dirty="0" sz="2550" spc="-30">
                <a:latin typeface="Arial MT"/>
                <a:cs typeface="Arial MT"/>
              </a:rPr>
              <a:t> </a:t>
            </a:r>
            <a:r>
              <a:rPr dirty="0" sz="2550" spc="-165">
                <a:latin typeface="Arial MT"/>
                <a:cs typeface="Arial MT"/>
              </a:rPr>
              <a:t>and</a:t>
            </a:r>
            <a:r>
              <a:rPr dirty="0" sz="2550" spc="-240">
                <a:latin typeface="Arial MT"/>
                <a:cs typeface="Arial MT"/>
              </a:rPr>
              <a:t> make</a:t>
            </a:r>
            <a:r>
              <a:rPr dirty="0" sz="2550" spc="-13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strategic</a:t>
            </a:r>
            <a:endParaRPr sz="2550">
              <a:latin typeface="Arial MT"/>
              <a:cs typeface="Arial MT"/>
            </a:endParaRPr>
          </a:p>
          <a:p>
            <a:pPr marL="25400">
              <a:lnSpc>
                <a:spcPts val="2770"/>
              </a:lnSpc>
            </a:pPr>
            <a:r>
              <a:rPr dirty="0" sz="2400" spc="-55">
                <a:latin typeface="Arial MT"/>
                <a:cs typeface="Arial MT"/>
              </a:rPr>
              <a:t>workforce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decisions.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015037" y="2430991"/>
            <a:ext cx="3456304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0">
                <a:solidFill>
                  <a:srgbClr val="052A4B"/>
                </a:solidFill>
                <a:latin typeface="Arial MT"/>
                <a:cs typeface="Arial MT"/>
              </a:rPr>
              <a:t>The</a:t>
            </a:r>
            <a:r>
              <a:rPr dirty="0" sz="2700" spc="-150">
                <a:solidFill>
                  <a:srgbClr val="052A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A2844"/>
                </a:solidFill>
                <a:latin typeface="Arial MT"/>
                <a:cs typeface="Arial MT"/>
              </a:rPr>
              <a:t>Strategic</a:t>
            </a:r>
            <a:r>
              <a:rPr dirty="0" sz="2700" spc="140">
                <a:solidFill>
                  <a:srgbClr val="0A2844"/>
                </a:solidFill>
                <a:latin typeface="Arial MT"/>
                <a:cs typeface="Arial MT"/>
              </a:rPr>
              <a:t> </a:t>
            </a:r>
            <a:r>
              <a:rPr dirty="0" sz="2700" spc="45">
                <a:solidFill>
                  <a:srgbClr val="011C36"/>
                </a:solidFill>
                <a:latin typeface="Arial MT"/>
                <a:cs typeface="Arial MT"/>
              </a:rPr>
              <a:t>Solution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427180" y="3482269"/>
            <a:ext cx="4554855" cy="256159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2065">
              <a:lnSpc>
                <a:spcPct val="98700"/>
              </a:lnSpc>
              <a:spcBef>
                <a:spcPts val="165"/>
              </a:spcBef>
            </a:pPr>
            <a:r>
              <a:rPr dirty="0" sz="2400" spc="-120">
                <a:latin typeface="Arial MT"/>
                <a:cs typeface="Arial MT"/>
              </a:rPr>
              <a:t>An</a:t>
            </a:r>
            <a:r>
              <a:rPr dirty="0" sz="2400" spc="-26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end-</a:t>
            </a:r>
            <a:r>
              <a:rPr dirty="0" sz="2400" spc="-40">
                <a:latin typeface="Arial MT"/>
                <a:cs typeface="Arial MT"/>
              </a:rPr>
              <a:t>to-</a:t>
            </a:r>
            <a:r>
              <a:rPr dirty="0" sz="2400">
                <a:latin typeface="Arial MT"/>
                <a:cs typeface="Arial MT"/>
              </a:rPr>
              <a:t>end </a:t>
            </a:r>
            <a:r>
              <a:rPr dirty="0" sz="2400" spc="-350">
                <a:latin typeface="Arial MT"/>
                <a:cs typeface="Arial MT"/>
              </a:rPr>
              <a:t>HR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data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analytics </a:t>
            </a:r>
            <a:r>
              <a:rPr dirty="0" sz="2400" spc="-110">
                <a:latin typeface="Arial MT"/>
                <a:cs typeface="Arial MT"/>
              </a:rPr>
              <a:t>model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built</a:t>
            </a:r>
            <a:r>
              <a:rPr dirty="0" sz="2400" spc="-1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entirely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30">
                <a:latin typeface="Arial MT"/>
                <a:cs typeface="Arial MT"/>
              </a:rPr>
              <a:t>within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Microsoft </a:t>
            </a:r>
            <a:r>
              <a:rPr dirty="0" sz="2400" spc="-130">
                <a:latin typeface="Arial MT"/>
                <a:cs typeface="Arial MT"/>
              </a:rPr>
              <a:t>Excel.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100">
                <a:latin typeface="Arial MT"/>
                <a:cs typeface="Arial MT"/>
              </a:rPr>
              <a:t>The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solution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automates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35">
                <a:latin typeface="Arial MT"/>
                <a:cs typeface="Arial MT"/>
              </a:rPr>
              <a:t>workflow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from</a:t>
            </a:r>
            <a:r>
              <a:rPr dirty="0" sz="2400" spc="-175">
                <a:latin typeface="Arial MT"/>
                <a:cs typeface="Arial MT"/>
              </a:rPr>
              <a:t> </a:t>
            </a:r>
            <a:r>
              <a:rPr dirty="0" sz="2400" spc="-114">
                <a:latin typeface="Arial MT"/>
                <a:cs typeface="Arial MT"/>
              </a:rPr>
              <a:t>raw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data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ingestion </a:t>
            </a:r>
            <a:r>
              <a:rPr dirty="0" sz="2400" spc="-40">
                <a:latin typeface="Arial MT"/>
                <a:cs typeface="Arial MT"/>
              </a:rPr>
              <a:t>ingestion</a:t>
            </a:r>
            <a:r>
              <a:rPr dirty="0" sz="2400" spc="-105">
                <a:latin typeface="Arial MT"/>
                <a:cs typeface="Arial MT"/>
              </a:rPr>
              <a:t> and</a:t>
            </a:r>
            <a:r>
              <a:rPr dirty="0" sz="2400" spc="-245">
                <a:latin typeface="Arial MT"/>
                <a:cs typeface="Arial MT"/>
              </a:rPr>
              <a:t> </a:t>
            </a:r>
            <a:r>
              <a:rPr dirty="0" sz="2400" spc="-85">
                <a:latin typeface="Arial MT"/>
                <a:cs typeface="Arial MT"/>
              </a:rPr>
              <a:t>cleaning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through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70">
                <a:latin typeface="Arial MT"/>
                <a:cs typeface="Arial MT"/>
              </a:rPr>
              <a:t>to </a:t>
            </a:r>
            <a:r>
              <a:rPr dirty="0" sz="2400" spc="-100">
                <a:latin typeface="Arial MT"/>
                <a:cs typeface="Arial MT"/>
              </a:rPr>
              <a:t>advanced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0">
                <a:latin typeface="Arial MT"/>
                <a:cs typeface="Arial MT"/>
              </a:rPr>
              <a:t>analysis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5">
                <a:latin typeface="Arial MT"/>
                <a:cs typeface="Arial MT"/>
              </a:rPr>
              <a:t>and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interactive </a:t>
            </a:r>
            <a:r>
              <a:rPr dirty="0" sz="2400" spc="-50">
                <a:latin typeface="Arial MT"/>
                <a:cs typeface="Arial MT"/>
              </a:rPr>
              <a:t>executive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30">
                <a:latin typeface="Arial MT"/>
                <a:cs typeface="Arial MT"/>
              </a:rPr>
              <a:t>dashboarding.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415616" y="7262283"/>
            <a:ext cx="1270000" cy="876300"/>
          </a:xfrm>
          <a:prstGeom prst="rect">
            <a:avLst/>
          </a:prstGeom>
          <a:ln w="12700">
            <a:solidFill>
              <a:srgbClr val="2F3F4F"/>
            </a:solidFill>
          </a:ln>
        </p:spPr>
        <p:txBody>
          <a:bodyPr wrap="square" lIns="0" tIns="243204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914"/>
              </a:spcBef>
            </a:pPr>
            <a:r>
              <a:rPr dirty="0" sz="1850" spc="-180">
                <a:solidFill>
                  <a:srgbClr val="151515"/>
                </a:solidFill>
                <a:latin typeface="Arial MT"/>
                <a:cs typeface="Arial MT"/>
              </a:rPr>
              <a:t>[Raw</a:t>
            </a:r>
            <a:r>
              <a:rPr dirty="0" sz="1850" spc="-1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850" spc="-10">
                <a:solidFill>
                  <a:srgbClr val="161616"/>
                </a:solidFill>
                <a:latin typeface="Arial MT"/>
                <a:cs typeface="Arial MT"/>
              </a:rPr>
              <a:t>Data]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1946771" y="2430991"/>
            <a:ext cx="449008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01284B"/>
                </a:solidFill>
                <a:latin typeface="Arial MT"/>
                <a:cs typeface="Arial MT"/>
              </a:rPr>
              <a:t>Ouantifiable</a:t>
            </a:r>
            <a:r>
              <a:rPr dirty="0" sz="2700" spc="125">
                <a:solidFill>
                  <a:srgbClr val="01284B"/>
                </a:solidFill>
                <a:latin typeface="Arial MT"/>
                <a:cs typeface="Arial MT"/>
              </a:rPr>
              <a:t> </a:t>
            </a:r>
            <a:r>
              <a:rPr dirty="0" sz="2700" spc="-35">
                <a:solidFill>
                  <a:srgbClr val="051F3B"/>
                </a:solidFill>
                <a:latin typeface="Arial MT"/>
                <a:cs typeface="Arial MT"/>
              </a:rPr>
              <a:t>Business</a:t>
            </a:r>
            <a:r>
              <a:rPr dirty="0" sz="2700" spc="30">
                <a:solidFill>
                  <a:srgbClr val="051F3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31C36"/>
                </a:solidFill>
                <a:latin typeface="Arial MT"/>
                <a:cs typeface="Arial MT"/>
              </a:rPr>
              <a:t>Impact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15240" marR="5080" indent="-2540">
              <a:lnSpc>
                <a:spcPct val="84900"/>
              </a:lnSpc>
              <a:spcBef>
                <a:spcPts val="595"/>
              </a:spcBef>
            </a:pPr>
            <a:r>
              <a:rPr dirty="0" spc="-290"/>
              <a:t>Enabled</a:t>
            </a:r>
            <a:r>
              <a:rPr dirty="0" spc="-20"/>
              <a:t> </a:t>
            </a:r>
            <a:r>
              <a:rPr dirty="0" spc="-210"/>
              <a:t>data-</a:t>
            </a:r>
            <a:r>
              <a:rPr dirty="0" spc="-40"/>
              <a:t>driven </a:t>
            </a:r>
            <a:r>
              <a:rPr dirty="0" spc="-210"/>
              <a:t>monitoring</a:t>
            </a:r>
            <a:r>
              <a:rPr dirty="0" spc="35"/>
              <a:t> </a:t>
            </a:r>
            <a:r>
              <a:rPr dirty="0" spc="-204"/>
              <a:t>of</a:t>
            </a:r>
            <a:r>
              <a:rPr dirty="0" spc="-105"/>
              <a:t> </a:t>
            </a:r>
            <a:r>
              <a:rPr dirty="0" spc="-235"/>
              <a:t>compensation </a:t>
            </a:r>
            <a:r>
              <a:rPr dirty="0" spc="-220"/>
              <a:t>fairness</a:t>
            </a:r>
            <a:r>
              <a:rPr dirty="0" spc="-75"/>
              <a:t> </a:t>
            </a:r>
            <a:r>
              <a:rPr dirty="0" spc="-260"/>
              <a:t>and</a:t>
            </a:r>
            <a:r>
              <a:rPr dirty="0" spc="-160"/>
              <a:t> </a:t>
            </a:r>
            <a:r>
              <a:rPr dirty="0" spc="-254"/>
              <a:t>gender</a:t>
            </a:r>
            <a:r>
              <a:rPr dirty="0" spc="-135"/>
              <a:t> </a:t>
            </a:r>
            <a:r>
              <a:rPr dirty="0" spc="-290"/>
              <a:t>pay </a:t>
            </a:r>
            <a:r>
              <a:rPr dirty="0" spc="-55"/>
              <a:t>equity.</a:t>
            </a:r>
          </a:p>
          <a:p>
            <a:pPr marL="15240" marR="47625" indent="-1905">
              <a:lnSpc>
                <a:spcPts val="2700"/>
              </a:lnSpc>
            </a:pPr>
            <a:r>
              <a:rPr dirty="0" spc="-260"/>
              <a:t>Provided</a:t>
            </a:r>
            <a:r>
              <a:rPr dirty="0" spc="-65"/>
              <a:t> </a:t>
            </a:r>
            <a:r>
              <a:rPr dirty="0" spc="-229"/>
              <a:t>clear</a:t>
            </a:r>
            <a:r>
              <a:rPr dirty="0" spc="-60"/>
              <a:t> </a:t>
            </a:r>
            <a:r>
              <a:rPr dirty="0" spc="-220"/>
              <a:t>evaluation</a:t>
            </a:r>
            <a:r>
              <a:rPr dirty="0" spc="-50"/>
              <a:t> </a:t>
            </a:r>
            <a:r>
              <a:rPr dirty="0" spc="-90"/>
              <a:t>of </a:t>
            </a:r>
            <a:r>
              <a:rPr dirty="0" spc="-195"/>
              <a:t>performance-</a:t>
            </a:r>
            <a:r>
              <a:rPr dirty="0" spc="-155"/>
              <a:t>to-</a:t>
            </a:r>
            <a:r>
              <a:rPr dirty="0" spc="-25"/>
              <a:t>pay </a:t>
            </a:r>
            <a:r>
              <a:rPr dirty="0" spc="-114"/>
              <a:t>alignment.</a:t>
            </a:r>
          </a:p>
          <a:p>
            <a:pPr marL="15875" marR="313690" indent="-3810">
              <a:lnSpc>
                <a:spcPct val="84900"/>
              </a:lnSpc>
              <a:spcBef>
                <a:spcPts val="2250"/>
              </a:spcBef>
            </a:pPr>
            <a:r>
              <a:rPr dirty="0" spc="-250"/>
              <a:t>Streamlined</a:t>
            </a:r>
            <a:r>
              <a:rPr dirty="0" spc="35"/>
              <a:t> </a:t>
            </a:r>
            <a:r>
              <a:rPr dirty="0" spc="-229"/>
              <a:t>planning</a:t>
            </a:r>
            <a:r>
              <a:rPr dirty="0" spc="15"/>
              <a:t> </a:t>
            </a:r>
            <a:r>
              <a:rPr dirty="0" spc="-285"/>
              <a:t>and </a:t>
            </a:r>
            <a:r>
              <a:rPr dirty="0" spc="-204"/>
              <a:t>simulation</a:t>
            </a:r>
            <a:r>
              <a:rPr dirty="0" spc="10"/>
              <a:t> </a:t>
            </a:r>
            <a:r>
              <a:rPr dirty="0" spc="-185"/>
              <a:t>for</a:t>
            </a:r>
            <a:r>
              <a:rPr dirty="0" spc="-195"/>
              <a:t> </a:t>
            </a:r>
            <a:r>
              <a:rPr dirty="0" spc="-40"/>
              <a:t>bonus </a:t>
            </a:r>
            <a:r>
              <a:rPr dirty="0" spc="-85"/>
              <a:t>distribution.</a:t>
            </a:r>
          </a:p>
          <a:p>
            <a:pPr marL="16510" marR="28575" indent="-3810">
              <a:lnSpc>
                <a:spcPts val="2750"/>
              </a:lnSpc>
              <a:spcBef>
                <a:spcPts val="2260"/>
              </a:spcBef>
            </a:pPr>
            <a:r>
              <a:rPr dirty="0" spc="-240"/>
              <a:t>Established</a:t>
            </a:r>
            <a:r>
              <a:rPr dirty="0" spc="-60"/>
              <a:t> </a:t>
            </a:r>
            <a:r>
              <a:rPr dirty="0" spc="-265"/>
              <a:t>benchmarks</a:t>
            </a:r>
            <a:r>
              <a:rPr dirty="0" spc="150"/>
              <a:t> </a:t>
            </a:r>
            <a:r>
              <a:rPr dirty="0" spc="-145"/>
              <a:t>for </a:t>
            </a:r>
            <a:r>
              <a:rPr dirty="0" spc="-235"/>
              <a:t>workforce</a:t>
            </a:r>
            <a:r>
              <a:rPr dirty="0"/>
              <a:t> </a:t>
            </a:r>
            <a:r>
              <a:rPr dirty="0" spc="-180"/>
              <a:t>metrics</a:t>
            </a:r>
            <a:r>
              <a:rPr dirty="0" spc="-114"/>
              <a:t> </a:t>
            </a:r>
            <a:r>
              <a:rPr dirty="0" spc="-75"/>
              <a:t>across </a:t>
            </a:r>
            <a:r>
              <a:rPr dirty="0" spc="-165"/>
              <a:t>geographies.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3060700"/>
            <a:ext cx="15595600" cy="3708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100" y="1028700"/>
            <a:ext cx="444500" cy="5080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929216" y="3094567"/>
            <a:ext cx="0" cy="3522345"/>
          </a:xfrm>
          <a:custGeom>
            <a:avLst/>
            <a:gdLst/>
            <a:ahLst/>
            <a:cxnLst/>
            <a:rect l="l" t="t" r="r" b="b"/>
            <a:pathLst>
              <a:path w="0" h="3522345">
                <a:moveTo>
                  <a:pt x="0" y="3522133"/>
                </a:moveTo>
                <a:lnTo>
                  <a:pt x="0" y="0"/>
                </a:lnTo>
              </a:path>
            </a:pathLst>
          </a:custGeom>
          <a:ln w="4233">
            <a:solidFill>
              <a:srgbClr val="1F3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537516" y="3069167"/>
            <a:ext cx="0" cy="3585845"/>
          </a:xfrm>
          <a:custGeom>
            <a:avLst/>
            <a:gdLst/>
            <a:ahLst/>
            <a:cxnLst/>
            <a:rect l="l" t="t" r="r" b="b"/>
            <a:pathLst>
              <a:path w="0" h="3585845">
                <a:moveTo>
                  <a:pt x="0" y="3585633"/>
                </a:moveTo>
                <a:lnTo>
                  <a:pt x="0" y="0"/>
                </a:lnTo>
              </a:path>
            </a:pathLst>
          </a:custGeom>
          <a:ln w="4233">
            <a:solidFill>
              <a:srgbClr val="1F3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588316" y="3132667"/>
            <a:ext cx="0" cy="3484245"/>
          </a:xfrm>
          <a:custGeom>
            <a:avLst/>
            <a:gdLst/>
            <a:ahLst/>
            <a:cxnLst/>
            <a:rect l="l" t="t" r="r" b="b"/>
            <a:pathLst>
              <a:path w="0" h="3484245">
                <a:moveTo>
                  <a:pt x="0" y="3484033"/>
                </a:moveTo>
                <a:lnTo>
                  <a:pt x="0" y="0"/>
                </a:lnTo>
              </a:path>
            </a:pathLst>
          </a:custGeom>
          <a:ln w="4233">
            <a:solidFill>
              <a:srgbClr val="1F3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03300" y="3045883"/>
            <a:ext cx="15511144" cy="0"/>
          </a:xfrm>
          <a:custGeom>
            <a:avLst/>
            <a:gdLst/>
            <a:ahLst/>
            <a:cxnLst/>
            <a:rect l="l" t="t" r="r" b="b"/>
            <a:pathLst>
              <a:path w="15511144" h="0">
                <a:moveTo>
                  <a:pt x="0" y="0"/>
                </a:moveTo>
                <a:lnTo>
                  <a:pt x="15510934" y="0"/>
                </a:lnTo>
              </a:path>
            </a:pathLst>
          </a:custGeom>
          <a:ln w="4233">
            <a:solidFill>
              <a:srgbClr val="1F3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84681" y="803274"/>
            <a:ext cx="14138275" cy="1695450"/>
          </a:xfrm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12700" marR="5080" indent="609600">
              <a:lnSpc>
                <a:spcPts val="6400"/>
              </a:lnSpc>
              <a:spcBef>
                <a:spcPts val="550"/>
              </a:spcBef>
            </a:pPr>
            <a:r>
              <a:rPr dirty="0" sz="5600" spc="114">
                <a:solidFill>
                  <a:srgbClr val="083456"/>
                </a:solidFill>
              </a:rPr>
              <a:t>Disciplined</a:t>
            </a:r>
            <a:r>
              <a:rPr dirty="0" sz="5600" spc="65">
                <a:solidFill>
                  <a:srgbClr val="083456"/>
                </a:solidFill>
              </a:rPr>
              <a:t> </a:t>
            </a:r>
            <a:r>
              <a:rPr dirty="0" sz="5600" spc="165">
                <a:solidFill>
                  <a:srgbClr val="033154"/>
                </a:solidFill>
              </a:rPr>
              <a:t>Architecture</a:t>
            </a:r>
            <a:r>
              <a:rPr dirty="0" sz="5600" spc="220">
                <a:solidFill>
                  <a:srgbClr val="033154"/>
                </a:solidFill>
              </a:rPr>
              <a:t> </a:t>
            </a:r>
            <a:r>
              <a:rPr dirty="0" sz="5600" spc="130">
                <a:solidFill>
                  <a:srgbClr val="033156"/>
                </a:solidFill>
              </a:rPr>
              <a:t>for</a:t>
            </a:r>
            <a:r>
              <a:rPr dirty="0" sz="5600" spc="-270">
                <a:solidFill>
                  <a:srgbClr val="033156"/>
                </a:solidFill>
              </a:rPr>
              <a:t> </a:t>
            </a:r>
            <a:r>
              <a:rPr dirty="0" sz="5600" spc="65">
                <a:solidFill>
                  <a:srgbClr val="052B4D"/>
                </a:solidFill>
              </a:rPr>
              <a:t>Transforming </a:t>
            </a:r>
            <a:r>
              <a:rPr dirty="0" sz="5600">
                <a:solidFill>
                  <a:srgbClr val="032F52"/>
                </a:solidFill>
              </a:rPr>
              <a:t>Data</a:t>
            </a:r>
            <a:r>
              <a:rPr dirty="0" sz="5600" spc="-135">
                <a:solidFill>
                  <a:srgbClr val="032F52"/>
                </a:solidFill>
              </a:rPr>
              <a:t> </a:t>
            </a:r>
            <a:r>
              <a:rPr dirty="0" sz="5600" spc="265">
                <a:solidFill>
                  <a:srgbClr val="052D4D"/>
                </a:solidFill>
              </a:rPr>
              <a:t>into</a:t>
            </a:r>
            <a:r>
              <a:rPr dirty="0" sz="5600" spc="-425">
                <a:solidFill>
                  <a:srgbClr val="052D4D"/>
                </a:solidFill>
              </a:rPr>
              <a:t> </a:t>
            </a:r>
            <a:r>
              <a:rPr dirty="0" sz="5600" spc="70">
                <a:solidFill>
                  <a:srgbClr val="032A49"/>
                </a:solidFill>
              </a:rPr>
              <a:t>Decisions</a:t>
            </a:r>
            <a:endParaRPr sz="5600"/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234038" y="3271657"/>
          <a:ext cx="15264130" cy="2995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3555"/>
                <a:gridCol w="2187574"/>
                <a:gridCol w="2521585"/>
                <a:gridCol w="2134869"/>
                <a:gridCol w="2420620"/>
                <a:gridCol w="2049779"/>
                <a:gridCol w="2096769"/>
              </a:tblGrid>
              <a:tr h="903605">
                <a:tc>
                  <a:txBody>
                    <a:bodyPr/>
                    <a:lstStyle/>
                    <a:p>
                      <a:pPr marL="31750" marR="433070" indent="4445">
                        <a:lnSpc>
                          <a:spcPts val="2850"/>
                        </a:lnSpc>
                        <a:spcBef>
                          <a:spcPts val="105"/>
                        </a:spcBef>
                      </a:pPr>
                      <a:r>
                        <a:rPr dirty="0" sz="2500" spc="-175">
                          <a:solidFill>
                            <a:srgbClr val="0C2136"/>
                          </a:solidFill>
                          <a:latin typeface="Arial MT"/>
                          <a:cs typeface="Arial MT"/>
                        </a:rPr>
                        <a:t>Raw</a:t>
                      </a:r>
                      <a:r>
                        <a:rPr dirty="0" sz="2500" spc="-80">
                          <a:solidFill>
                            <a:srgbClr val="0C213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00" spc="-55">
                          <a:solidFill>
                            <a:srgbClr val="08233B"/>
                          </a:solidFill>
                          <a:latin typeface="Arial MT"/>
                          <a:cs typeface="Arial MT"/>
                        </a:rPr>
                        <a:t>Data </a:t>
                      </a:r>
                      <a:r>
                        <a:rPr dirty="0" sz="2500" spc="-10">
                          <a:solidFill>
                            <a:srgbClr val="0A2138"/>
                          </a:solidFill>
                          <a:latin typeface="Arial MT"/>
                          <a:cs typeface="Arial MT"/>
                        </a:rPr>
                        <a:t>Ingestion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494030" marR="316865" indent="372110">
                        <a:lnSpc>
                          <a:spcPts val="2850"/>
                        </a:lnSpc>
                        <a:spcBef>
                          <a:spcPts val="105"/>
                        </a:spcBef>
                      </a:pPr>
                      <a:r>
                        <a:rPr dirty="0" sz="2500" spc="-20">
                          <a:solidFill>
                            <a:srgbClr val="031C33"/>
                          </a:solidFill>
                          <a:latin typeface="Arial MT"/>
                          <a:cs typeface="Arial MT"/>
                        </a:rPr>
                        <a:t>Data </a:t>
                      </a:r>
                      <a:r>
                        <a:rPr dirty="0" sz="2500" spc="-45">
                          <a:solidFill>
                            <a:srgbClr val="0C243F"/>
                          </a:solidFill>
                          <a:latin typeface="Arial MT"/>
                          <a:cs typeface="Arial MT"/>
                        </a:rPr>
                        <a:t>Cleansing</a:t>
                      </a:r>
                      <a:endParaRPr sz="2500">
                        <a:latin typeface="Arial MT"/>
                        <a:cs typeface="Arial MT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23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Transformation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175895"/>
                </a:tc>
                <a:tc>
                  <a:txBody>
                    <a:bodyPr/>
                    <a:lstStyle/>
                    <a:p>
                      <a:pPr marL="535305" marR="542925" indent="-87630">
                        <a:lnSpc>
                          <a:spcPts val="2800"/>
                        </a:lnSpc>
                        <a:spcBef>
                          <a:spcPts val="145"/>
                        </a:spcBef>
                      </a:pPr>
                      <a:r>
                        <a:rPr dirty="0" sz="2600" spc="-105">
                          <a:solidFill>
                            <a:srgbClr val="051C34"/>
                          </a:solidFill>
                          <a:latin typeface="Arial MT"/>
                          <a:cs typeface="Arial MT"/>
                        </a:rPr>
                        <a:t>Analysis </a:t>
                      </a:r>
                      <a:r>
                        <a:rPr dirty="0" sz="2600" spc="-10">
                          <a:solidFill>
                            <a:srgbClr val="03213B"/>
                          </a:solidFill>
                          <a:latin typeface="Arial MT"/>
                          <a:cs typeface="Arial MT"/>
                        </a:rPr>
                        <a:t>Engine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510540">
                        <a:lnSpc>
                          <a:spcPts val="2910"/>
                        </a:lnSpc>
                      </a:pPr>
                      <a:r>
                        <a:rPr dirty="0" sz="2600" spc="-10">
                          <a:solidFill>
                            <a:srgbClr val="011D36"/>
                          </a:solidFill>
                          <a:latin typeface="Arial MT"/>
                          <a:cs typeface="Arial MT"/>
                        </a:rPr>
                        <a:t>Business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9085" marR="366395" indent="-28575">
                        <a:lnSpc>
                          <a:spcPts val="2800"/>
                        </a:lnSpc>
                        <a:spcBef>
                          <a:spcPts val="145"/>
                        </a:spcBef>
                      </a:pPr>
                      <a:r>
                        <a:rPr dirty="0" sz="2600" spc="-20">
                          <a:solidFill>
                            <a:srgbClr val="0A263D"/>
                          </a:solidFill>
                          <a:latin typeface="Arial MT"/>
                          <a:cs typeface="Arial MT"/>
                        </a:rPr>
                        <a:t>Statistical </a:t>
                      </a:r>
                      <a:r>
                        <a:rPr dirty="0" sz="2600" spc="-45">
                          <a:solidFill>
                            <a:srgbClr val="072849"/>
                          </a:solidFill>
                          <a:latin typeface="Arial MT"/>
                          <a:cs typeface="Arial MT"/>
                        </a:rPr>
                        <a:t>Modelling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24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Visualisation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175895"/>
                </a:tc>
              </a:tr>
              <a:tr h="487045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150">
                          <a:latin typeface="Calibri"/>
                          <a:cs typeface="Calibri"/>
                        </a:rPr>
                        <a:t>Raw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50">
                          <a:latin typeface="Calibri"/>
                          <a:cs typeface="Calibri"/>
                        </a:rPr>
                        <a:t>HR</a:t>
                      </a:r>
                      <a:r>
                        <a:rPr dirty="0" sz="240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  <a:tc>
                  <a:txBody>
                    <a:bodyPr/>
                    <a:lstStyle/>
                    <a:p>
                      <a:pPr algn="ctr" marL="16383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9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400" spc="-1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Cleaning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16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Ouery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  <a:tc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Analytical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Business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Statistical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  <a:tc>
                  <a:txBody>
                    <a:bodyPr/>
                    <a:lstStyle/>
                    <a:p>
                      <a:pPr algn="r" marR="7239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2400" spc="-100">
                          <a:latin typeface="Calibri"/>
                          <a:cs typeface="Calibri"/>
                        </a:rPr>
                        <a:t>Visualization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97790"/>
                </a:tc>
              </a:tr>
              <a:tr h="320040">
                <a:tc>
                  <a:txBody>
                    <a:bodyPr/>
                    <a:lstStyle/>
                    <a:p>
                      <a:pPr marL="784225">
                        <a:lnSpc>
                          <a:spcPts val="236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Excel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4150">
                        <a:lnSpc>
                          <a:spcPts val="2365"/>
                        </a:lnSpc>
                      </a:pPr>
                      <a:r>
                        <a:rPr dirty="0" sz="2400" spc="-409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2400" spc="-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Validation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2365"/>
                        </a:lnSpc>
                        <a:tabLst>
                          <a:tab pos="170815" algn="l"/>
                        </a:tabLst>
                      </a:pPr>
                      <a:r>
                        <a:rPr dirty="0" sz="2400" spc="-315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'</a:t>
                      </a:r>
                      <a:r>
                        <a:rPr dirty="0" sz="2400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Transformation-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1040">
                        <a:lnSpc>
                          <a:spcPts val="236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Layer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ts val="2365"/>
                        </a:lnSpc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Logic</a:t>
                      </a:r>
                      <a:r>
                        <a:rPr dirty="0" sz="2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Layer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236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Analysis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5459">
                        <a:lnSpc>
                          <a:spcPts val="2365"/>
                        </a:lnSpc>
                      </a:pPr>
                      <a:r>
                        <a:rPr dirty="0" sz="2400" spc="95"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2400" spc="-2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Dashboard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24485">
                <a:tc>
                  <a:txBody>
                    <a:bodyPr/>
                    <a:lstStyle/>
                    <a:p>
                      <a:pPr marL="427990">
                        <a:lnSpc>
                          <a:spcPts val="2410"/>
                        </a:lnSpc>
                      </a:pPr>
                      <a:r>
                        <a:rPr dirty="0" sz="2500" spc="-10">
                          <a:latin typeface="Calibri"/>
                          <a:cs typeface="Calibri"/>
                        </a:rPr>
                        <a:t>Files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6370">
                        <a:lnSpc>
                          <a:spcPts val="2410"/>
                        </a:lnSpc>
                      </a:pPr>
                      <a:r>
                        <a:rPr dirty="0" sz="2500" spc="-65">
                          <a:latin typeface="Calibri"/>
                          <a:cs typeface="Calibri"/>
                        </a:rPr>
                        <a:t>(Duplicates,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ts val="2410"/>
                        </a:lnSpc>
                      </a:pPr>
                      <a:r>
                        <a:rPr dirty="0" sz="2500" spc="-540">
                          <a:solidFill>
                            <a:srgbClr val="263F54"/>
                          </a:solidFill>
                          <a:latin typeface="Calibri"/>
                          <a:cs typeface="Calibri"/>
                        </a:rPr>
                        <a:t>,•</a:t>
                      </a:r>
                      <a:r>
                        <a:rPr dirty="0" sz="2500" spc="20">
                          <a:solidFill>
                            <a:srgbClr val="263F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90">
                          <a:latin typeface="Calibri"/>
                          <a:cs typeface="Calibri"/>
                        </a:rPr>
                        <a:t>(Combine</a:t>
                      </a:r>
                      <a:r>
                        <a:rPr dirty="0" sz="25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40">
                          <a:latin typeface="Calibri"/>
                          <a:cs typeface="Calibri"/>
                        </a:rPr>
                        <a:t>Files,</a:t>
                      </a:r>
                      <a:r>
                        <a:rPr dirty="0" sz="2500" spc="-1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50">
                          <a:solidFill>
                            <a:srgbClr val="A58C6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ts val="2410"/>
                        </a:lnSpc>
                      </a:pPr>
                      <a:r>
                        <a:rPr dirty="0" sz="2500" spc="-145">
                          <a:latin typeface="Calibri"/>
                          <a:cs typeface="Calibri"/>
                        </a:rPr>
                        <a:t>(Pivot</a:t>
                      </a:r>
                      <a:r>
                        <a:rPr dirty="0" sz="25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latin typeface="Calibri"/>
                          <a:cs typeface="Calibri"/>
                        </a:rPr>
                        <a:t>Tables.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ts val="2410"/>
                        </a:lnSpc>
                      </a:pPr>
                      <a:r>
                        <a:rPr dirty="0" sz="2500" spc="-150">
                          <a:latin typeface="Calibri"/>
                          <a:cs typeface="Calibri"/>
                        </a:rPr>
                        <a:t>(Bonus</a:t>
                      </a:r>
                      <a:r>
                        <a:rPr dirty="0" sz="25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55">
                          <a:latin typeface="Calibri"/>
                          <a:cs typeface="Calibri"/>
                        </a:rPr>
                        <a:t>Rules,</a:t>
                      </a:r>
                      <a:r>
                        <a:rPr dirty="0" sz="25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50">
                          <a:solidFill>
                            <a:srgbClr val="9E8967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5725">
                        <a:lnSpc>
                          <a:spcPts val="2410"/>
                        </a:lnSpc>
                      </a:pPr>
                      <a:r>
                        <a:rPr dirty="0" sz="2500" spc="-80">
                          <a:latin typeface="Calibri"/>
                          <a:cs typeface="Calibri"/>
                        </a:rPr>
                        <a:t>(Histogram.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015">
                        <a:lnSpc>
                          <a:spcPts val="2410"/>
                        </a:lnSpc>
                      </a:pPr>
                      <a:r>
                        <a:rPr dirty="0" sz="2500" spc="-45">
                          <a:latin typeface="Calibri"/>
                          <a:cs typeface="Calibri"/>
                        </a:rPr>
                        <a:t>(Executive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22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1290">
                        <a:lnSpc>
                          <a:spcPts val="2330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Missing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2330"/>
                        </a:lnSpc>
                      </a:pPr>
                      <a:r>
                        <a:rPr dirty="0" sz="2400" spc="-125">
                          <a:latin typeface="Calibri"/>
                          <a:cs typeface="Calibri"/>
                        </a:rPr>
                        <a:t>Define</a:t>
                      </a:r>
                      <a:r>
                        <a:rPr dirty="0" sz="24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ts val="2330"/>
                        </a:lnSpc>
                      </a:pPr>
                      <a:r>
                        <a:rPr dirty="0" sz="2400" spc="-80">
                          <a:latin typeface="Calibri"/>
                          <a:cs typeface="Calibri"/>
                        </a:rPr>
                        <a:t>KPIs,</a:t>
                      </a:r>
                      <a:r>
                        <a:rPr dirty="0" sz="24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Gender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25450">
                        <a:lnSpc>
                          <a:spcPts val="2330"/>
                        </a:lnSpc>
                      </a:pPr>
                      <a:r>
                        <a:rPr dirty="0" sz="2400" spc="-25">
                          <a:latin typeface="Calibri"/>
                          <a:cs typeface="Calibri"/>
                        </a:rPr>
                        <a:t>oo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5885">
                        <a:lnSpc>
                          <a:spcPts val="2330"/>
                        </a:lnSpc>
                      </a:pPr>
                      <a:r>
                        <a:rPr dirty="0" sz="2400" spc="-130">
                          <a:latin typeface="Calibri"/>
                          <a:cs typeface="Calibri"/>
                        </a:rPr>
                        <a:t>Box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Plot,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46835">
                        <a:lnSpc>
                          <a:spcPts val="2330"/>
                        </a:lnSpc>
                      </a:pPr>
                      <a:r>
                        <a:rPr dirty="0" sz="2400" spc="-25">
                          <a:latin typeface="Calibri"/>
                          <a:cs typeface="Calibri"/>
                        </a:rPr>
                        <a:t>NZ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1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2720">
                        <a:lnSpc>
                          <a:spcPts val="2325"/>
                        </a:lnSpc>
                      </a:pPr>
                      <a:r>
                        <a:rPr dirty="0" sz="2350" spc="-10">
                          <a:latin typeface="Calibri"/>
                          <a:cs typeface="Calibri"/>
                        </a:rPr>
                        <a:t>Values,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2325"/>
                        </a:lnSpc>
                      </a:pPr>
                      <a:r>
                        <a:rPr dirty="0" sz="2350" spc="-80">
                          <a:latin typeface="Calibri"/>
                          <a:cs typeface="Calibri"/>
                        </a:rPr>
                        <a:t>Types.</a:t>
                      </a:r>
                      <a:r>
                        <a:rPr dirty="0" sz="23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Create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35000">
                        <a:lnSpc>
                          <a:spcPts val="2325"/>
                        </a:lnSpc>
                      </a:pPr>
                      <a:r>
                        <a:rPr dirty="0" sz="2350" spc="-37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2350" spc="-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0">
                          <a:latin typeface="Calibri"/>
                          <a:cs typeface="Calibri"/>
                        </a:rPr>
                        <a:t>Dept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5005">
                        <a:lnSpc>
                          <a:spcPts val="2325"/>
                        </a:lnSpc>
                      </a:pPr>
                      <a:r>
                        <a:rPr dirty="0" sz="2350" spc="-10">
                          <a:latin typeface="Calibri"/>
                          <a:cs typeface="Calibri"/>
                        </a:rPr>
                        <a:t>Models)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5410">
                        <a:lnSpc>
                          <a:spcPts val="2325"/>
                        </a:lnSpc>
                      </a:pPr>
                      <a:r>
                        <a:rPr dirty="0" sz="2350" spc="-10">
                          <a:latin typeface="Calibri"/>
                          <a:cs typeface="Calibri"/>
                        </a:rPr>
                        <a:t>Correlation,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ts val="2325"/>
                        </a:lnSpc>
                      </a:pPr>
                      <a:r>
                        <a:rPr dirty="0" sz="2350" spc="-85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2350" spc="-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Report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22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1130">
                        <a:lnSpc>
                          <a:spcPts val="2415"/>
                        </a:lnSpc>
                      </a:pPr>
                      <a:r>
                        <a:rPr dirty="0" sz="2500" spc="-90">
                          <a:latin typeface="Calibri"/>
                          <a:cs typeface="Calibri"/>
                        </a:rPr>
                        <a:t>Formatting)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15"/>
                        </a:lnSpc>
                      </a:pPr>
                      <a:r>
                        <a:rPr dirty="0" sz="2500" spc="-204">
                          <a:latin typeface="Calibri"/>
                          <a:cs typeface="Calibri"/>
                        </a:rPr>
                        <a:t>Master</a:t>
                      </a:r>
                      <a:r>
                        <a:rPr dirty="0" sz="2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latin typeface="Calibri"/>
                          <a:cs typeface="Calibri"/>
                        </a:rPr>
                        <a:t>Table)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0805">
                        <a:lnSpc>
                          <a:spcPts val="2415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Trends)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8865">
                        <a:lnSpc>
                          <a:spcPts val="2415"/>
                        </a:lnSpc>
                      </a:pPr>
                      <a:r>
                        <a:rPr dirty="0" sz="2500" spc="-20">
                          <a:latin typeface="Calibri"/>
                          <a:cs typeface="Calibri"/>
                        </a:rPr>
                        <a:t>ard)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878218" y="7802033"/>
            <a:ext cx="9635490" cy="126873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080" indent="1905">
              <a:lnSpc>
                <a:spcPts val="3150"/>
              </a:lnSpc>
              <a:spcBef>
                <a:spcPts val="495"/>
              </a:spcBef>
            </a:pPr>
            <a:r>
              <a:rPr dirty="0" sz="2900" spc="-90">
                <a:latin typeface="Arial MT"/>
                <a:cs typeface="Arial MT"/>
              </a:rPr>
              <a:t>This</a:t>
            </a:r>
            <a:r>
              <a:rPr dirty="0" sz="2900" spc="-21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improjent</a:t>
            </a:r>
            <a:r>
              <a:rPr dirty="0" sz="2900" spc="-110">
                <a:latin typeface="Arial MT"/>
                <a:cs typeface="Arial MT"/>
              </a:rPr>
              <a:t> </a:t>
            </a:r>
            <a:r>
              <a:rPr dirty="0" sz="2900" spc="-40">
                <a:latin typeface="Arial MT"/>
                <a:cs typeface="Arial MT"/>
              </a:rPr>
              <a:t>replicates</a:t>
            </a:r>
            <a:r>
              <a:rPr dirty="0" sz="2900" spc="-160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a</a:t>
            </a:r>
            <a:r>
              <a:rPr dirty="0" sz="2900" spc="-270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real-</a:t>
            </a:r>
            <a:r>
              <a:rPr dirty="0" sz="2900" spc="-30">
                <a:latin typeface="Arial MT"/>
                <a:cs typeface="Arial MT"/>
              </a:rPr>
              <a:t>world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 spc="-35">
                <a:latin typeface="Arial MT"/>
                <a:cs typeface="Arial MT"/>
              </a:rPr>
              <a:t>corporate</a:t>
            </a:r>
            <a:r>
              <a:rPr dirty="0" sz="2900" spc="-12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analytics</a:t>
            </a:r>
            <a:r>
              <a:rPr dirty="0" sz="2900" spc="725">
                <a:latin typeface="Arial MT"/>
                <a:cs typeface="Arial MT"/>
              </a:rPr>
              <a:t> </a:t>
            </a:r>
            <a:r>
              <a:rPr dirty="0" sz="2900" spc="-90">
                <a:latin typeface="Arial MT"/>
                <a:cs typeface="Arial MT"/>
              </a:rPr>
              <a:t>This</a:t>
            </a:r>
            <a:r>
              <a:rPr dirty="0" sz="2900" spc="-210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project</a:t>
            </a:r>
            <a:r>
              <a:rPr dirty="0" sz="2900" spc="-180">
                <a:latin typeface="Arial MT"/>
                <a:cs typeface="Arial MT"/>
              </a:rPr>
              <a:t> </a:t>
            </a:r>
            <a:r>
              <a:rPr dirty="0" sz="2900" spc="-40">
                <a:latin typeface="Arial MT"/>
                <a:cs typeface="Arial MT"/>
              </a:rPr>
              <a:t>replicates</a:t>
            </a:r>
            <a:r>
              <a:rPr dirty="0" sz="2900" spc="-140">
                <a:latin typeface="Arial MT"/>
                <a:cs typeface="Arial MT"/>
              </a:rPr>
              <a:t> </a:t>
            </a:r>
            <a:r>
              <a:rPr dirty="0" sz="2900" spc="-260">
                <a:latin typeface="Arial MT"/>
                <a:cs typeface="Arial MT"/>
              </a:rPr>
              <a:t>a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80">
                <a:latin typeface="Arial MT"/>
                <a:cs typeface="Arial MT"/>
              </a:rPr>
              <a:t>real-</a:t>
            </a:r>
            <a:r>
              <a:rPr dirty="0" sz="2900" spc="-65">
                <a:latin typeface="Arial MT"/>
                <a:cs typeface="Arial MT"/>
              </a:rPr>
              <a:t>world,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ensuring </a:t>
            </a:r>
            <a:r>
              <a:rPr dirty="0" sz="2900" spc="-155">
                <a:latin typeface="Arial MT"/>
                <a:cs typeface="Arial MT"/>
              </a:rPr>
              <a:t>a</a:t>
            </a:r>
            <a:r>
              <a:rPr dirty="0" sz="2900" spc="-175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governed</a:t>
            </a:r>
            <a:r>
              <a:rPr dirty="0" sz="2900" spc="1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and </a:t>
            </a:r>
            <a:r>
              <a:rPr dirty="0" sz="2850" spc="-30">
                <a:latin typeface="Arial MT"/>
                <a:cs typeface="Arial MT"/>
              </a:rPr>
              <a:t>repeatable</a:t>
            </a:r>
            <a:r>
              <a:rPr dirty="0" sz="2850" spc="-150">
                <a:latin typeface="Arial MT"/>
                <a:cs typeface="Arial MT"/>
              </a:rPr>
              <a:t> </a:t>
            </a:r>
            <a:r>
              <a:rPr dirty="0" sz="2850" spc="-35">
                <a:latin typeface="Arial MT"/>
                <a:cs typeface="Arial MT"/>
              </a:rPr>
              <a:t>process</a:t>
            </a:r>
            <a:r>
              <a:rPr dirty="0" sz="2850" spc="-70">
                <a:latin typeface="Arial MT"/>
                <a:cs typeface="Arial MT"/>
              </a:rPr>
              <a:t> </a:t>
            </a:r>
            <a:r>
              <a:rPr dirty="0" sz="2850" spc="-45">
                <a:latin typeface="Arial MT"/>
                <a:cs typeface="Arial MT"/>
              </a:rPr>
              <a:t>from</a:t>
            </a:r>
            <a:r>
              <a:rPr dirty="0" sz="2850" spc="-150">
                <a:latin typeface="Arial MT"/>
                <a:cs typeface="Arial MT"/>
              </a:rPr>
              <a:t> </a:t>
            </a:r>
            <a:r>
              <a:rPr dirty="0" sz="2850" spc="-40">
                <a:latin typeface="Arial MT"/>
                <a:cs typeface="Arial MT"/>
              </a:rPr>
              <a:t>source</a:t>
            </a:r>
            <a:r>
              <a:rPr dirty="0" sz="2850" spc="-16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files</a:t>
            </a:r>
            <a:r>
              <a:rPr dirty="0" sz="2850" spc="-18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to</a:t>
            </a:r>
            <a:r>
              <a:rPr dirty="0" sz="2850" spc="-15">
                <a:latin typeface="Arial MT"/>
                <a:cs typeface="Arial MT"/>
              </a:rPr>
              <a:t> </a:t>
            </a:r>
            <a:r>
              <a:rPr dirty="0" sz="2850" spc="-20">
                <a:latin typeface="Arial MT"/>
                <a:cs typeface="Arial MT"/>
              </a:rPr>
              <a:t>final</a:t>
            </a:r>
            <a:r>
              <a:rPr dirty="0" sz="2850" spc="-140">
                <a:latin typeface="Arial MT"/>
                <a:cs typeface="Arial MT"/>
              </a:rPr>
              <a:t> </a:t>
            </a:r>
            <a:r>
              <a:rPr dirty="0" sz="2850" spc="-40">
                <a:latin typeface="Arial MT"/>
                <a:cs typeface="Arial MT"/>
              </a:rPr>
              <a:t>decision</a:t>
            </a:r>
            <a:r>
              <a:rPr dirty="0" sz="2850" spc="-155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support.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12300" y="6515100"/>
            <a:ext cx="2654300" cy="546100"/>
            <a:chOff x="9512300" y="6515100"/>
            <a:chExt cx="2654300" cy="5461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6800" y="6718300"/>
              <a:ext cx="635000" cy="2159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512300" y="6515100"/>
              <a:ext cx="2654300" cy="546100"/>
            </a:xfrm>
            <a:custGeom>
              <a:avLst/>
              <a:gdLst/>
              <a:ahLst/>
              <a:cxnLst/>
              <a:rect l="l" t="t" r="r" b="b"/>
              <a:pathLst>
                <a:path w="2654300" h="546100">
                  <a:moveTo>
                    <a:pt x="2654300" y="546100"/>
                  </a:moveTo>
                  <a:lnTo>
                    <a:pt x="0" y="546100"/>
                  </a:lnTo>
                  <a:lnTo>
                    <a:pt x="0" y="0"/>
                  </a:lnTo>
                  <a:lnTo>
                    <a:pt x="2654300" y="0"/>
                  </a:lnTo>
                  <a:lnTo>
                    <a:pt x="2654300" y="546100"/>
                  </a:lnTo>
                  <a:close/>
                </a:path>
              </a:pathLst>
            </a:custGeom>
            <a:solidFill>
              <a:srgbClr val="9AA7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512300" y="6515100"/>
            <a:ext cx="2654300" cy="5461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900"/>
              </a:spcBef>
            </a:pPr>
            <a:r>
              <a:rPr dirty="0" sz="1800" spc="-135">
                <a:solidFill>
                  <a:srgbClr val="4F6477"/>
                </a:solidFill>
                <a:latin typeface="Arial MT"/>
                <a:cs typeface="Arial MT"/>
              </a:rPr>
              <a:t>Da</a:t>
            </a:r>
            <a:r>
              <a:rPr dirty="0" sz="1800" spc="-240">
                <a:solidFill>
                  <a:srgbClr val="4F6477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9CB3C3"/>
                </a:solidFill>
                <a:latin typeface="Arial MT"/>
                <a:cs typeface="Arial MT"/>
              </a:rPr>
              <a:t>te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3550900" y="6515100"/>
            <a:ext cx="2654300" cy="546100"/>
            <a:chOff x="13550900" y="6515100"/>
            <a:chExt cx="2654300" cy="5461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5400" y="6718300"/>
              <a:ext cx="635000" cy="2159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50900" y="6515100"/>
              <a:ext cx="2654300" cy="546100"/>
            </a:xfrm>
            <a:custGeom>
              <a:avLst/>
              <a:gdLst/>
              <a:ahLst/>
              <a:cxnLst/>
              <a:rect l="l" t="t" r="r" b="b"/>
              <a:pathLst>
                <a:path w="2654300" h="546100">
                  <a:moveTo>
                    <a:pt x="2654300" y="546100"/>
                  </a:moveTo>
                  <a:lnTo>
                    <a:pt x="0" y="546100"/>
                  </a:lnTo>
                  <a:lnTo>
                    <a:pt x="0" y="0"/>
                  </a:lnTo>
                  <a:lnTo>
                    <a:pt x="2654300" y="0"/>
                  </a:lnTo>
                  <a:lnTo>
                    <a:pt x="2654300" y="546100"/>
                  </a:lnTo>
                  <a:close/>
                </a:path>
              </a:pathLst>
            </a:custGeom>
            <a:solidFill>
              <a:srgbClr val="2134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3550900" y="6515100"/>
            <a:ext cx="2654300" cy="54610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452755">
              <a:lnSpc>
                <a:spcPct val="100000"/>
              </a:lnSpc>
              <a:spcBef>
                <a:spcPts val="1000"/>
              </a:spcBef>
            </a:pPr>
            <a:r>
              <a:rPr dirty="0" sz="1700" spc="-20">
                <a:solidFill>
                  <a:srgbClr val="4D6475"/>
                </a:solidFill>
                <a:latin typeface="Arial MT"/>
                <a:cs typeface="Arial MT"/>
              </a:rPr>
              <a:t>Date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58569" y="442768"/>
            <a:ext cx="14977744" cy="1743075"/>
          </a:xfrm>
          <a:prstGeom prst="rect"/>
        </p:spPr>
        <p:txBody>
          <a:bodyPr wrap="square" lIns="0" tIns="28702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2260"/>
              </a:spcBef>
            </a:pPr>
            <a:r>
              <a:rPr dirty="0" sz="5400" spc="-405">
                <a:solidFill>
                  <a:srgbClr val="032448"/>
                </a:solidFill>
              </a:rPr>
              <a:t>Laying</a:t>
            </a:r>
            <a:r>
              <a:rPr dirty="0" sz="5400" spc="-350">
                <a:solidFill>
                  <a:srgbClr val="032448"/>
                </a:solidFill>
              </a:rPr>
              <a:t> </a:t>
            </a:r>
            <a:r>
              <a:rPr dirty="0" sz="5400" spc="-135">
                <a:solidFill>
                  <a:srgbClr val="052648"/>
                </a:solidFill>
              </a:rPr>
              <a:t>the</a:t>
            </a:r>
            <a:r>
              <a:rPr dirty="0" sz="5400" spc="-695">
                <a:solidFill>
                  <a:srgbClr val="052648"/>
                </a:solidFill>
              </a:rPr>
              <a:t> </a:t>
            </a:r>
            <a:r>
              <a:rPr dirty="0" sz="5400" spc="-345">
                <a:solidFill>
                  <a:srgbClr val="052849"/>
                </a:solidFill>
              </a:rPr>
              <a:t>Foundation:</a:t>
            </a:r>
            <a:r>
              <a:rPr dirty="0" sz="5400">
                <a:solidFill>
                  <a:srgbClr val="052849"/>
                </a:solidFill>
              </a:rPr>
              <a:t> </a:t>
            </a:r>
            <a:r>
              <a:rPr dirty="0" sz="5400" spc="-405">
                <a:solidFill>
                  <a:srgbClr val="032646"/>
                </a:solidFill>
              </a:rPr>
              <a:t>Data</a:t>
            </a:r>
            <a:r>
              <a:rPr dirty="0" sz="5400" spc="-425">
                <a:solidFill>
                  <a:srgbClr val="032646"/>
                </a:solidFill>
              </a:rPr>
              <a:t> </a:t>
            </a:r>
            <a:r>
              <a:rPr dirty="0" sz="5400" spc="-335">
                <a:solidFill>
                  <a:srgbClr val="052A4F"/>
                </a:solidFill>
              </a:rPr>
              <a:t>Preparation</a:t>
            </a:r>
            <a:r>
              <a:rPr dirty="0" sz="5400" spc="-15">
                <a:solidFill>
                  <a:srgbClr val="052A4F"/>
                </a:solidFill>
              </a:rPr>
              <a:t> </a:t>
            </a:r>
            <a:r>
              <a:rPr dirty="0" sz="5400" spc="-395">
                <a:solidFill>
                  <a:srgbClr val="01284D"/>
                </a:solidFill>
              </a:rPr>
              <a:t>and</a:t>
            </a:r>
            <a:r>
              <a:rPr dirty="0" sz="5400" spc="-660">
                <a:solidFill>
                  <a:srgbClr val="01284D"/>
                </a:solidFill>
              </a:rPr>
              <a:t> </a:t>
            </a:r>
            <a:r>
              <a:rPr dirty="0" sz="5400" spc="-165">
                <a:solidFill>
                  <a:srgbClr val="052849"/>
                </a:solidFill>
              </a:rPr>
              <a:t>Integration</a:t>
            </a:r>
            <a:endParaRPr sz="5400"/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3050" spc="-30">
                <a:solidFill>
                  <a:srgbClr val="111111"/>
                </a:solidFill>
              </a:rPr>
              <a:t>Creating</a:t>
            </a:r>
            <a:r>
              <a:rPr dirty="0" sz="3050" spc="-20">
                <a:solidFill>
                  <a:srgbClr val="111111"/>
                </a:solidFill>
              </a:rPr>
              <a:t> </a:t>
            </a:r>
            <a:r>
              <a:rPr dirty="0" sz="3050" spc="-245">
                <a:solidFill>
                  <a:srgbClr val="1C1C1C"/>
                </a:solidFill>
              </a:rPr>
              <a:t>a</a:t>
            </a:r>
            <a:r>
              <a:rPr dirty="0" sz="3050" spc="-114">
                <a:solidFill>
                  <a:srgbClr val="1C1C1C"/>
                </a:solidFill>
              </a:rPr>
              <a:t> </a:t>
            </a:r>
            <a:r>
              <a:rPr dirty="0" sz="3050" spc="-50">
                <a:solidFill>
                  <a:srgbClr val="161616"/>
                </a:solidFill>
              </a:rPr>
              <a:t>single</a:t>
            </a:r>
            <a:r>
              <a:rPr dirty="0" sz="3050" spc="-114">
                <a:solidFill>
                  <a:srgbClr val="161616"/>
                </a:solidFill>
              </a:rPr>
              <a:t> </a:t>
            </a:r>
            <a:r>
              <a:rPr dirty="0" sz="3050" spc="-55">
                <a:solidFill>
                  <a:srgbClr val="1D1D1D"/>
                </a:solidFill>
              </a:rPr>
              <a:t>source</a:t>
            </a:r>
            <a:r>
              <a:rPr dirty="0" sz="3050" spc="-60">
                <a:solidFill>
                  <a:srgbClr val="1D1D1D"/>
                </a:solidFill>
              </a:rPr>
              <a:t> </a:t>
            </a:r>
            <a:r>
              <a:rPr dirty="0" sz="3050" spc="-65">
                <a:solidFill>
                  <a:srgbClr val="181818"/>
                </a:solidFill>
              </a:rPr>
              <a:t>of</a:t>
            </a:r>
            <a:r>
              <a:rPr dirty="0" sz="3050" spc="-150">
                <a:solidFill>
                  <a:srgbClr val="181818"/>
                </a:solidFill>
              </a:rPr>
              <a:t> </a:t>
            </a:r>
            <a:r>
              <a:rPr dirty="0" sz="3050" spc="105">
                <a:solidFill>
                  <a:srgbClr val="1A1A1A"/>
                </a:solidFill>
              </a:rPr>
              <a:t>truth</a:t>
            </a:r>
            <a:r>
              <a:rPr dirty="0" sz="3050" spc="-185">
                <a:solidFill>
                  <a:srgbClr val="1A1A1A"/>
                </a:solidFill>
              </a:rPr>
              <a:t> </a:t>
            </a:r>
            <a:r>
              <a:rPr dirty="0" sz="3050" spc="-35">
                <a:solidFill>
                  <a:srgbClr val="151515"/>
                </a:solidFill>
              </a:rPr>
              <a:t>from</a:t>
            </a:r>
            <a:r>
              <a:rPr dirty="0" sz="3050" spc="-210">
                <a:solidFill>
                  <a:srgbClr val="151515"/>
                </a:solidFill>
              </a:rPr>
              <a:t> </a:t>
            </a:r>
            <a:r>
              <a:rPr dirty="0" sz="3050">
                <a:solidFill>
                  <a:srgbClr val="111111"/>
                </a:solidFill>
              </a:rPr>
              <a:t>multi-country</a:t>
            </a:r>
            <a:r>
              <a:rPr dirty="0" sz="3050" spc="-15">
                <a:solidFill>
                  <a:srgbClr val="111111"/>
                </a:solidFill>
              </a:rPr>
              <a:t> </a:t>
            </a:r>
            <a:r>
              <a:rPr dirty="0" sz="3050" spc="-140">
                <a:solidFill>
                  <a:srgbClr val="232323"/>
                </a:solidFill>
              </a:rPr>
              <a:t>raw</a:t>
            </a:r>
            <a:r>
              <a:rPr dirty="0" sz="3050" spc="-85">
                <a:solidFill>
                  <a:srgbClr val="232323"/>
                </a:solidFill>
              </a:rPr>
              <a:t> </a:t>
            </a:r>
            <a:r>
              <a:rPr dirty="0" sz="3050" spc="-10">
                <a:solidFill>
                  <a:srgbClr val="111111"/>
                </a:solidFill>
              </a:rPr>
              <a:t>data.</a:t>
            </a:r>
            <a:endParaRPr sz="3050"/>
          </a:p>
        </p:txBody>
      </p:sp>
      <p:sp>
        <p:nvSpPr>
          <p:cNvPr id="11" name="object 11" descr=""/>
          <p:cNvSpPr txBox="1"/>
          <p:nvPr/>
        </p:nvSpPr>
        <p:spPr>
          <a:xfrm>
            <a:off x="971644" y="2799997"/>
            <a:ext cx="1068387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85455" algn="l"/>
              </a:tabLst>
            </a:pPr>
            <a:r>
              <a:rPr dirty="0" sz="3400" spc="-145">
                <a:solidFill>
                  <a:srgbClr val="2B2B2B"/>
                </a:solidFill>
                <a:latin typeface="Arial MT"/>
                <a:cs typeface="Arial MT"/>
              </a:rPr>
              <a:t>Key</a:t>
            </a:r>
            <a:r>
              <a:rPr dirty="0" sz="3400" spc="-12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3400" spc="70">
                <a:solidFill>
                  <a:srgbClr val="1F1F1F"/>
                </a:solidFill>
                <a:latin typeface="Arial MT"/>
                <a:cs typeface="Arial MT"/>
              </a:rPr>
              <a:t>Activities</a:t>
            </a:r>
            <a:r>
              <a:rPr dirty="0" sz="3400">
                <a:solidFill>
                  <a:srgbClr val="1F1F1F"/>
                </a:solidFill>
                <a:latin typeface="Arial MT"/>
                <a:cs typeface="Arial MT"/>
              </a:rPr>
              <a:t>	</a:t>
            </a:r>
            <a:r>
              <a:rPr dirty="0" sz="3400" spc="-65">
                <a:solidFill>
                  <a:srgbClr val="08213B"/>
                </a:solidFill>
                <a:latin typeface="Arial MT"/>
                <a:cs typeface="Arial MT"/>
              </a:rPr>
              <a:t>The</a:t>
            </a:r>
            <a:r>
              <a:rPr dirty="0" sz="3400" spc="-215">
                <a:solidFill>
                  <a:srgbClr val="08213B"/>
                </a:solidFill>
                <a:latin typeface="Arial MT"/>
                <a:cs typeface="Arial MT"/>
              </a:rPr>
              <a:t> </a:t>
            </a:r>
            <a:r>
              <a:rPr dirty="0" sz="3400" spc="-10">
                <a:solidFill>
                  <a:srgbClr val="0A2D4D"/>
                </a:solidFill>
                <a:latin typeface="Arial MT"/>
                <a:cs typeface="Arial MT"/>
              </a:rPr>
              <a:t>Outcome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17381" y="3633632"/>
            <a:ext cx="6321425" cy="2298700"/>
          </a:xfrm>
          <a:prstGeom prst="rect">
            <a:avLst/>
          </a:prstGeom>
        </p:spPr>
        <p:txBody>
          <a:bodyPr wrap="square" lIns="0" tIns="239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750" spc="-40">
                <a:solidFill>
                  <a:srgbClr val="08213F"/>
                </a:solidFill>
                <a:latin typeface="Arial MT"/>
                <a:cs typeface="Arial MT"/>
              </a:rPr>
              <a:t>Data</a:t>
            </a:r>
            <a:r>
              <a:rPr dirty="0" sz="2750" spc="-180">
                <a:solidFill>
                  <a:srgbClr val="08213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0A2442"/>
                </a:solidFill>
                <a:latin typeface="Arial MT"/>
                <a:cs typeface="Arial MT"/>
              </a:rPr>
              <a:t>Cleaning</a:t>
            </a:r>
            <a:r>
              <a:rPr dirty="0" sz="2750" spc="-100">
                <a:solidFill>
                  <a:srgbClr val="0A2442"/>
                </a:solidFill>
                <a:latin typeface="Arial MT"/>
                <a:cs typeface="Arial MT"/>
              </a:rPr>
              <a:t> </a:t>
            </a:r>
            <a:r>
              <a:rPr dirty="0" sz="2750" spc="-120">
                <a:solidFill>
                  <a:srgbClr val="052649"/>
                </a:solidFill>
                <a:latin typeface="Arial MT"/>
                <a:cs typeface="Arial MT"/>
              </a:rPr>
              <a:t>&amp;</a:t>
            </a:r>
            <a:r>
              <a:rPr dirty="0" sz="2750" spc="-200">
                <a:solidFill>
                  <a:srgbClr val="052649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031F3D"/>
                </a:solidFill>
                <a:latin typeface="Arial MT"/>
                <a:cs typeface="Arial MT"/>
              </a:rPr>
              <a:t>Validation</a:t>
            </a:r>
            <a:endParaRPr sz="2750">
              <a:latin typeface="Arial MT"/>
              <a:cs typeface="Arial MT"/>
            </a:endParaRPr>
          </a:p>
          <a:p>
            <a:pPr marL="382270" marR="416559" indent="-243840">
              <a:lnSpc>
                <a:spcPct val="101400"/>
              </a:lnSpc>
              <a:spcBef>
                <a:spcPts val="1415"/>
              </a:spcBef>
              <a:buChar char="•"/>
              <a:tabLst>
                <a:tab pos="384810" algn="l"/>
              </a:tabLst>
            </a:pPr>
            <a:r>
              <a:rPr dirty="0" sz="2300" spc="-50">
                <a:latin typeface="Arial MT"/>
                <a:cs typeface="Arial MT"/>
              </a:rPr>
              <a:t>Systematically</a:t>
            </a:r>
            <a:r>
              <a:rPr dirty="0" sz="2300" spc="-170">
                <a:latin typeface="Arial MT"/>
                <a:cs typeface="Arial MT"/>
              </a:rPr>
              <a:t> </a:t>
            </a:r>
            <a:r>
              <a:rPr dirty="0" sz="2300" spc="-85">
                <a:latin typeface="Arial MT"/>
                <a:cs typeface="Arial MT"/>
              </a:rPr>
              <a:t>removed</a:t>
            </a:r>
            <a:r>
              <a:rPr dirty="0" sz="2300" spc="-110">
                <a:latin typeface="Arial MT"/>
                <a:cs typeface="Arial MT"/>
              </a:rPr>
              <a:t> </a:t>
            </a:r>
            <a:r>
              <a:rPr dirty="0" sz="2300" spc="-40">
                <a:latin typeface="Arial MT"/>
                <a:cs typeface="Arial MT"/>
              </a:rPr>
              <a:t>duplicate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and</a:t>
            </a:r>
            <a:r>
              <a:rPr dirty="0" sz="2300" spc="-15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invalid </a:t>
            </a:r>
            <a:r>
              <a:rPr dirty="0" sz="2300" spc="-10">
                <a:latin typeface="Arial MT"/>
                <a:cs typeface="Arial MT"/>
              </a:rPr>
              <a:t>	</a:t>
            </a:r>
            <a:r>
              <a:rPr dirty="0" sz="2300" spc="-95">
                <a:latin typeface="Arial MT"/>
                <a:cs typeface="Arial MT"/>
              </a:rPr>
              <a:t>employee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records.</a:t>
            </a:r>
            <a:endParaRPr sz="2300">
              <a:latin typeface="Arial MT"/>
              <a:cs typeface="Arial MT"/>
            </a:endParaRPr>
          </a:p>
          <a:p>
            <a:pPr marL="382270" marR="5080" indent="-231140">
              <a:lnSpc>
                <a:spcPct val="105100"/>
              </a:lnSpc>
              <a:buChar char="•"/>
              <a:tabLst>
                <a:tab pos="385445" algn="l"/>
              </a:tabLst>
            </a:pPr>
            <a:r>
              <a:rPr dirty="0" sz="2300" spc="-65">
                <a:latin typeface="Arial MT"/>
                <a:cs typeface="Arial MT"/>
              </a:rPr>
              <a:t>Standardised </a:t>
            </a:r>
            <a:r>
              <a:rPr dirty="0" sz="2300" spc="-10">
                <a:latin typeface="Arial MT"/>
                <a:cs typeface="Arial MT"/>
              </a:rPr>
              <a:t>critical</a:t>
            </a:r>
            <a:r>
              <a:rPr dirty="0" sz="2300" spc="-16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data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fields</a:t>
            </a:r>
            <a:r>
              <a:rPr dirty="0" sz="2300" spc="-135">
                <a:latin typeface="Arial MT"/>
                <a:cs typeface="Arial MT"/>
              </a:rPr>
              <a:t> </a:t>
            </a:r>
            <a:r>
              <a:rPr dirty="0" sz="2300" spc="-40">
                <a:latin typeface="Arial MT"/>
                <a:cs typeface="Arial MT"/>
              </a:rPr>
              <a:t>including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35">
                <a:latin typeface="Arial MT"/>
                <a:cs typeface="Arial MT"/>
              </a:rPr>
              <a:t>salary, </a:t>
            </a:r>
            <a:r>
              <a:rPr dirty="0" sz="2300" spc="-35">
                <a:latin typeface="Arial MT"/>
                <a:cs typeface="Arial MT"/>
              </a:rPr>
              <a:t>	</a:t>
            </a:r>
            <a:r>
              <a:rPr dirty="0" sz="2300" spc="-55">
                <a:latin typeface="Arial MT"/>
                <a:cs typeface="Arial MT"/>
              </a:rPr>
              <a:t>date,</a:t>
            </a:r>
            <a:r>
              <a:rPr dirty="0" sz="2300" spc="-13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and</a:t>
            </a:r>
            <a:r>
              <a:rPr dirty="0" sz="2300" spc="-1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text</a:t>
            </a:r>
            <a:r>
              <a:rPr dirty="0" sz="2300" spc="-12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formats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35">
                <a:latin typeface="Arial MT"/>
                <a:cs typeface="Arial MT"/>
              </a:rPr>
              <a:t>for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consistency.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16700" y="6480452"/>
            <a:ext cx="6425565" cy="2296795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850" spc="-100">
                <a:solidFill>
                  <a:srgbClr val="082341"/>
                </a:solidFill>
                <a:latin typeface="Arial MT"/>
                <a:cs typeface="Arial MT"/>
              </a:rPr>
              <a:t>Data</a:t>
            </a:r>
            <a:r>
              <a:rPr dirty="0" sz="2850" spc="-190">
                <a:solidFill>
                  <a:srgbClr val="082341"/>
                </a:solidFill>
                <a:latin typeface="Arial MT"/>
                <a:cs typeface="Arial MT"/>
              </a:rPr>
              <a:t> </a:t>
            </a:r>
            <a:r>
              <a:rPr dirty="0" sz="2850">
                <a:solidFill>
                  <a:srgbClr val="0C243D"/>
                </a:solidFill>
                <a:latin typeface="Arial MT"/>
                <a:cs typeface="Arial MT"/>
              </a:rPr>
              <a:t>Integration</a:t>
            </a:r>
            <a:r>
              <a:rPr dirty="0" sz="2850" spc="45">
                <a:solidFill>
                  <a:srgbClr val="0C243D"/>
                </a:solidFill>
                <a:latin typeface="Arial MT"/>
                <a:cs typeface="Arial MT"/>
              </a:rPr>
              <a:t> </a:t>
            </a:r>
            <a:r>
              <a:rPr dirty="0" sz="2850">
                <a:solidFill>
                  <a:srgbClr val="052848"/>
                </a:solidFill>
                <a:latin typeface="Arial MT"/>
                <a:cs typeface="Arial MT"/>
              </a:rPr>
              <a:t>with</a:t>
            </a:r>
            <a:r>
              <a:rPr dirty="0" sz="2850" spc="-260">
                <a:solidFill>
                  <a:srgbClr val="052848"/>
                </a:solidFill>
                <a:latin typeface="Arial MT"/>
                <a:cs typeface="Arial MT"/>
              </a:rPr>
              <a:t> </a:t>
            </a:r>
            <a:r>
              <a:rPr dirty="0" sz="2850" spc="-135">
                <a:solidFill>
                  <a:srgbClr val="08213D"/>
                </a:solidFill>
                <a:latin typeface="Arial MT"/>
                <a:cs typeface="Arial MT"/>
              </a:rPr>
              <a:t>Power</a:t>
            </a:r>
            <a:r>
              <a:rPr dirty="0" sz="2850" spc="-5">
                <a:solidFill>
                  <a:srgbClr val="08213D"/>
                </a:solidFill>
                <a:latin typeface="Arial MT"/>
                <a:cs typeface="Arial MT"/>
              </a:rPr>
              <a:t> </a:t>
            </a:r>
            <a:r>
              <a:rPr dirty="0" sz="2850" spc="-10">
                <a:solidFill>
                  <a:srgbClr val="03244B"/>
                </a:solidFill>
                <a:latin typeface="Arial MT"/>
                <a:cs typeface="Arial MT"/>
              </a:rPr>
              <a:t>Query</a:t>
            </a:r>
            <a:endParaRPr sz="2850">
              <a:latin typeface="Arial MT"/>
              <a:cs typeface="Arial MT"/>
            </a:endParaRPr>
          </a:p>
          <a:p>
            <a:pPr marL="381635" marR="5080" indent="-229870">
              <a:lnSpc>
                <a:spcPct val="103299"/>
              </a:lnSpc>
              <a:spcBef>
                <a:spcPts val="1290"/>
              </a:spcBef>
              <a:buChar char="•"/>
              <a:tabLst>
                <a:tab pos="385445" algn="l"/>
              </a:tabLst>
            </a:pPr>
            <a:r>
              <a:rPr dirty="0" sz="2300" spc="-95">
                <a:latin typeface="Arial MT"/>
                <a:cs typeface="Arial MT"/>
              </a:rPr>
              <a:t>Combined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65">
                <a:latin typeface="Arial MT"/>
                <a:cs typeface="Arial MT"/>
              </a:rPr>
              <a:t>disparate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125">
                <a:latin typeface="Arial MT"/>
                <a:cs typeface="Arial MT"/>
              </a:rPr>
              <a:t>Excel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files</a:t>
            </a:r>
            <a:r>
              <a:rPr dirty="0" sz="2300" spc="-145">
                <a:latin typeface="Arial MT"/>
                <a:cs typeface="Arial MT"/>
              </a:rPr>
              <a:t> </a:t>
            </a:r>
            <a:r>
              <a:rPr dirty="0" sz="2300" spc="-40">
                <a:latin typeface="Arial MT"/>
                <a:cs typeface="Arial MT"/>
              </a:rPr>
              <a:t>from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 spc="-165">
                <a:latin typeface="Arial MT"/>
                <a:cs typeface="Arial MT"/>
              </a:rPr>
              <a:t>New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Zealand </a:t>
            </a:r>
            <a:r>
              <a:rPr dirty="0" sz="2300" spc="-45">
                <a:latin typeface="Arial MT"/>
                <a:cs typeface="Arial MT"/>
              </a:rPr>
              <a:t>	</a:t>
            </a:r>
            <a:r>
              <a:rPr dirty="0" sz="2300" spc="-75">
                <a:latin typeface="Arial MT"/>
                <a:cs typeface="Arial MT"/>
              </a:rPr>
              <a:t>and</a:t>
            </a:r>
            <a:r>
              <a:rPr dirty="0" sz="2300" spc="-220">
                <a:latin typeface="Arial MT"/>
                <a:cs typeface="Arial MT"/>
              </a:rPr>
              <a:t> </a:t>
            </a:r>
            <a:r>
              <a:rPr dirty="0" sz="2300" spc="-90">
                <a:latin typeface="Arial MT"/>
                <a:cs typeface="Arial MT"/>
              </a:rPr>
              <a:t>India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into</a:t>
            </a:r>
            <a:r>
              <a:rPr dirty="0" sz="2300" spc="-220">
                <a:latin typeface="Arial MT"/>
                <a:cs typeface="Arial MT"/>
              </a:rPr>
              <a:t> </a:t>
            </a:r>
            <a:r>
              <a:rPr dirty="0" sz="2300" spc="-160">
                <a:latin typeface="Arial MT"/>
                <a:cs typeface="Arial MT"/>
              </a:rPr>
              <a:t>a</a:t>
            </a:r>
            <a:r>
              <a:rPr dirty="0" sz="2300" spc="-110">
                <a:latin typeface="Arial MT"/>
                <a:cs typeface="Arial MT"/>
              </a:rPr>
              <a:t> </a:t>
            </a:r>
            <a:r>
              <a:rPr dirty="0" sz="2300" spc="-30">
                <a:latin typeface="Arial MT"/>
                <a:cs typeface="Arial MT"/>
              </a:rPr>
              <a:t>unified</a:t>
            </a:r>
            <a:r>
              <a:rPr dirty="0" sz="2300" spc="-1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dataset.</a:t>
            </a:r>
            <a:endParaRPr sz="2300">
              <a:latin typeface="Arial MT"/>
              <a:cs typeface="Arial MT"/>
            </a:endParaRPr>
          </a:p>
          <a:p>
            <a:pPr marL="392430" marR="548005" indent="-240665">
              <a:lnSpc>
                <a:spcPts val="2900"/>
              </a:lnSpc>
              <a:spcBef>
                <a:spcPts val="50"/>
              </a:spcBef>
              <a:buChar char="•"/>
              <a:tabLst>
                <a:tab pos="392430" algn="l"/>
                <a:tab pos="396240" algn="l"/>
              </a:tabLst>
            </a:pP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00">
                <a:latin typeface="Arial MT"/>
                <a:cs typeface="Arial MT"/>
              </a:rPr>
              <a:t>Applied </a:t>
            </a:r>
            <a:r>
              <a:rPr dirty="0" sz="2300" spc="-10">
                <a:latin typeface="Arial MT"/>
                <a:cs typeface="Arial MT"/>
              </a:rPr>
              <a:t>robust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transformation</a:t>
            </a:r>
            <a:r>
              <a:rPr dirty="0" sz="2300" spc="-290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logic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and</a:t>
            </a:r>
            <a:r>
              <a:rPr dirty="0" sz="2300" spc="-204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data </a:t>
            </a:r>
            <a:r>
              <a:rPr dirty="0" sz="2300" spc="-50">
                <a:latin typeface="Arial MT"/>
                <a:cs typeface="Arial MT"/>
              </a:rPr>
              <a:t>validation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rules.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314359" y="3692966"/>
            <a:ext cx="6953884" cy="264541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470"/>
              </a:spcBef>
            </a:pPr>
            <a:r>
              <a:rPr dirty="0" sz="2700" spc="-150">
                <a:solidFill>
                  <a:srgbClr val="011D3D"/>
                </a:solidFill>
                <a:latin typeface="Arial MT"/>
                <a:cs typeface="Arial MT"/>
              </a:rPr>
              <a:t>A</a:t>
            </a:r>
            <a:r>
              <a:rPr dirty="0" sz="2700" spc="-254">
                <a:solidFill>
                  <a:srgbClr val="011D3D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31D38"/>
                </a:solidFill>
                <a:latin typeface="Arial MT"/>
                <a:cs typeface="Arial MT"/>
              </a:rPr>
              <a:t>Governed</a:t>
            </a:r>
            <a:r>
              <a:rPr dirty="0" sz="2700" spc="-65">
                <a:solidFill>
                  <a:srgbClr val="031D3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3213F"/>
                </a:solidFill>
                <a:latin typeface="Arial MT"/>
                <a:cs typeface="Arial MT"/>
              </a:rPr>
              <a:t>Master</a:t>
            </a:r>
            <a:r>
              <a:rPr dirty="0" sz="2700" spc="-90">
                <a:solidFill>
                  <a:srgbClr val="03213F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0A2442"/>
                </a:solidFill>
                <a:latin typeface="Arial MT"/>
                <a:cs typeface="Arial MT"/>
              </a:rPr>
              <a:t>Employee</a:t>
            </a:r>
            <a:r>
              <a:rPr dirty="0" sz="2700" spc="-85">
                <a:solidFill>
                  <a:srgbClr val="0A244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31F3A"/>
                </a:solidFill>
                <a:latin typeface="Arial MT"/>
                <a:cs typeface="Arial MT"/>
              </a:rPr>
              <a:t>Table</a:t>
            </a:r>
            <a:endParaRPr sz="2700">
              <a:latin typeface="Arial MT"/>
              <a:cs typeface="Arial MT"/>
            </a:endParaRPr>
          </a:p>
          <a:p>
            <a:pPr marL="14604" marR="5080" indent="-2540">
              <a:lnSpc>
                <a:spcPct val="99700"/>
              </a:lnSpc>
              <a:spcBef>
                <a:spcPts val="1270"/>
              </a:spcBef>
            </a:pPr>
            <a:r>
              <a:rPr dirty="0" sz="2500" spc="-225">
                <a:latin typeface="Arial MT"/>
                <a:cs typeface="Arial MT"/>
              </a:rPr>
              <a:t>The</a:t>
            </a:r>
            <a:r>
              <a:rPr dirty="0" sz="2500" spc="-254">
                <a:latin typeface="Arial MT"/>
                <a:cs typeface="Arial MT"/>
              </a:rPr>
              <a:t> </a:t>
            </a:r>
            <a:r>
              <a:rPr dirty="0" sz="2500" spc="-95">
                <a:latin typeface="Arial MT"/>
                <a:cs typeface="Arial MT"/>
              </a:rPr>
              <a:t>result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05">
                <a:latin typeface="Arial MT"/>
                <a:cs typeface="Arial MT"/>
              </a:rPr>
              <a:t>is</a:t>
            </a:r>
            <a:r>
              <a:rPr dirty="0" sz="2500" spc="-320">
                <a:latin typeface="Arial MT"/>
                <a:cs typeface="Arial MT"/>
              </a:rPr>
              <a:t> </a:t>
            </a:r>
            <a:r>
              <a:rPr dirty="0" sz="2500" spc="-254">
                <a:latin typeface="Arial MT"/>
                <a:cs typeface="Arial MT"/>
              </a:rPr>
              <a:t>a</a:t>
            </a:r>
            <a:r>
              <a:rPr dirty="0" sz="2500" spc="-215">
                <a:latin typeface="Arial MT"/>
                <a:cs typeface="Arial MT"/>
              </a:rPr>
              <a:t> </a:t>
            </a:r>
            <a:r>
              <a:rPr dirty="0" sz="2500" spc="-150">
                <a:latin typeface="Arial MT"/>
                <a:cs typeface="Arial MT"/>
              </a:rPr>
              <a:t>single,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60">
                <a:latin typeface="Arial MT"/>
                <a:cs typeface="Arial MT"/>
              </a:rPr>
              <a:t>clean,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175">
                <a:latin typeface="Arial MT"/>
                <a:cs typeface="Arial MT"/>
              </a:rPr>
              <a:t>and</a:t>
            </a:r>
            <a:r>
              <a:rPr dirty="0" sz="2500" spc="-229">
                <a:latin typeface="Arial MT"/>
                <a:cs typeface="Arial MT"/>
              </a:rPr>
              <a:t> </a:t>
            </a:r>
            <a:r>
              <a:rPr dirty="0" sz="2500" spc="-135">
                <a:latin typeface="Arial MT"/>
                <a:cs typeface="Arial MT"/>
              </a:rPr>
              <a:t>reliable</a:t>
            </a:r>
            <a:r>
              <a:rPr dirty="0" sz="2500" spc="-200">
                <a:latin typeface="Arial MT"/>
                <a:cs typeface="Arial MT"/>
              </a:rPr>
              <a:t> </a:t>
            </a:r>
            <a:r>
              <a:rPr dirty="0" sz="2500" spc="-160">
                <a:latin typeface="Arial MT"/>
                <a:cs typeface="Arial MT"/>
              </a:rPr>
              <a:t>master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dataset </a:t>
            </a:r>
            <a:r>
              <a:rPr dirty="0" sz="2350">
                <a:latin typeface="Arial MT"/>
                <a:cs typeface="Arial MT"/>
              </a:rPr>
              <a:t>that</a:t>
            </a:r>
            <a:r>
              <a:rPr dirty="0" sz="2350" spc="-90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serves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 spc="-145">
                <a:latin typeface="Arial MT"/>
                <a:cs typeface="Arial MT"/>
              </a:rPr>
              <a:t>as</a:t>
            </a:r>
            <a:r>
              <a:rPr dirty="0" sz="2350" spc="-229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tne</a:t>
            </a:r>
            <a:r>
              <a:rPr dirty="0" sz="2350" spc="-120">
                <a:latin typeface="Arial MT"/>
                <a:cs typeface="Arial MT"/>
              </a:rPr>
              <a:t> </a:t>
            </a:r>
            <a:r>
              <a:rPr dirty="0" sz="2350" spc="-55">
                <a:latin typeface="Arial MT"/>
                <a:cs typeface="Arial MT"/>
              </a:rPr>
              <a:t>foundation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80">
                <a:latin typeface="Arial MT"/>
                <a:cs typeface="Arial MT"/>
              </a:rPr>
              <a:t>for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75">
                <a:latin typeface="Arial MT"/>
                <a:cs typeface="Arial MT"/>
              </a:rPr>
              <a:t>all</a:t>
            </a:r>
            <a:r>
              <a:rPr dirty="0" sz="2350" spc="-140">
                <a:latin typeface="Arial MT"/>
                <a:cs typeface="Arial MT"/>
              </a:rPr>
              <a:t> </a:t>
            </a:r>
            <a:r>
              <a:rPr dirty="0" sz="2350" spc="-80">
                <a:latin typeface="Arial MT"/>
                <a:cs typeface="Arial MT"/>
              </a:rPr>
              <a:t>subsequent</a:t>
            </a:r>
            <a:r>
              <a:rPr dirty="0" sz="2350" spc="95">
                <a:latin typeface="Arial MT"/>
                <a:cs typeface="Arial MT"/>
              </a:rPr>
              <a:t> </a:t>
            </a:r>
            <a:r>
              <a:rPr dirty="0" sz="2350" spc="-85">
                <a:latin typeface="Arial MT"/>
                <a:cs typeface="Arial MT"/>
              </a:rPr>
              <a:t>analysis </a:t>
            </a:r>
            <a:r>
              <a:rPr dirty="0" sz="2400" spc="-170">
                <a:latin typeface="Arial MT"/>
                <a:cs typeface="Arial MT"/>
              </a:rPr>
              <a:t>and</a:t>
            </a:r>
            <a:r>
              <a:rPr dirty="0" sz="2400" spc="-1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reporting.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350">
              <a:latin typeface="Arial MT"/>
              <a:cs typeface="Arial MT"/>
            </a:endParaRPr>
          </a:p>
          <a:p>
            <a:pPr algn="ctr" marL="12065">
              <a:lnSpc>
                <a:spcPct val="100000"/>
              </a:lnSpc>
              <a:tabLst>
                <a:tab pos="4148454" algn="l"/>
              </a:tabLst>
            </a:pPr>
            <a:r>
              <a:rPr dirty="0" sz="2300" spc="-10">
                <a:solidFill>
                  <a:srgbClr val="262626"/>
                </a:solidFill>
                <a:latin typeface="Arial MT"/>
                <a:cs typeface="Arial MT"/>
              </a:rPr>
              <a:t>Before</a:t>
            </a:r>
            <a:r>
              <a:rPr dirty="0" sz="230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dirty="0" sz="2300" spc="-10">
                <a:solidFill>
                  <a:srgbClr val="262626"/>
                </a:solidFill>
                <a:latin typeface="Arial MT"/>
                <a:cs typeface="Arial MT"/>
              </a:rPr>
              <a:t>After</a:t>
            </a:r>
            <a:endParaRPr sz="2300">
              <a:latin typeface="Arial MT"/>
              <a:cs typeface="Arial MT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9593360" y="7186897"/>
          <a:ext cx="6412865" cy="83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5565"/>
                <a:gridCol w="1869439"/>
                <a:gridCol w="2216785"/>
                <a:gridCol w="904239"/>
              </a:tblGrid>
              <a:tr h="390525">
                <a:tc>
                  <a:txBody>
                    <a:bodyPr/>
                    <a:lstStyle/>
                    <a:p>
                      <a:pPr algn="ctr" marR="137795">
                        <a:lnSpc>
                          <a:spcPts val="2150"/>
                        </a:lnSpc>
                      </a:pPr>
                      <a:r>
                        <a:rPr dirty="0" sz="1950" spc="-45">
                          <a:latin typeface="Arial MT"/>
                          <a:cs typeface="Arial MT"/>
                        </a:rPr>
                        <a:t>15/03/2023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76910">
                        <a:lnSpc>
                          <a:spcPts val="2150"/>
                        </a:lnSpc>
                      </a:pPr>
                      <a:r>
                        <a:rPr dirty="0" sz="1950" spc="-10">
                          <a:latin typeface="Arial MT"/>
                          <a:cs typeface="Arial MT"/>
                        </a:rPr>
                        <a:t>$55,000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08915">
                        <a:lnSpc>
                          <a:spcPts val="2120"/>
                        </a:lnSpc>
                      </a:pPr>
                      <a:r>
                        <a:rPr dirty="0" sz="1800" spc="-40">
                          <a:latin typeface="Arial MT"/>
                          <a:cs typeface="Arial MT"/>
                        </a:rPr>
                        <a:t>2023-03-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2120"/>
                        </a:lnSpc>
                      </a:pPr>
                      <a:r>
                        <a:rPr dirty="0" sz="1800" spc="-305">
                          <a:latin typeface="Arial MT"/>
                          <a:cs typeface="Arial MT"/>
                        </a:rPr>
                        <a:t>SSOOD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40055">
                <a:tc>
                  <a:txBody>
                    <a:bodyPr/>
                    <a:lstStyle/>
                    <a:p>
                      <a:pPr algn="ctr" marR="150495">
                        <a:lnSpc>
                          <a:spcPts val="2685"/>
                        </a:lnSpc>
                        <a:spcBef>
                          <a:spcPts val="680"/>
                        </a:spcBef>
                      </a:pPr>
                      <a:r>
                        <a:rPr dirty="0" sz="2300" spc="-695">
                          <a:latin typeface="Arial MT"/>
                          <a:cs typeface="Arial MT"/>
                        </a:rPr>
                        <a:t>Mar—</a:t>
                      </a:r>
                      <a:r>
                        <a:rPr dirty="0" sz="2300" spc="-720">
                          <a:latin typeface="Arial MT"/>
                          <a:cs typeface="Arial MT"/>
                        </a:rPr>
                        <a:t>16—</a:t>
                      </a:r>
                      <a:r>
                        <a:rPr dirty="0" sz="2300" spc="-595">
                          <a:latin typeface="Arial MT"/>
                          <a:cs typeface="Arial MT"/>
                        </a:rPr>
                        <a:t>23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algn="ctr" marR="680085">
                        <a:lnSpc>
                          <a:spcPts val="2685"/>
                        </a:lnSpc>
                        <a:spcBef>
                          <a:spcPts val="680"/>
                        </a:spcBef>
                      </a:pPr>
                      <a:r>
                        <a:rPr dirty="0" sz="2300" spc="-270">
                          <a:latin typeface="Arial MT"/>
                          <a:cs typeface="Arial MT"/>
                        </a:rPr>
                        <a:t>56000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850" spc="-215">
                          <a:latin typeface="Arial MT"/>
                          <a:cs typeface="Arial MT"/>
                        </a:rPr>
                        <a:t>2023—</a:t>
                      </a:r>
                      <a:r>
                        <a:rPr dirty="0" sz="1850" spc="-165">
                          <a:latin typeface="Arial MT"/>
                          <a:cs typeface="Arial MT"/>
                        </a:rPr>
                        <a:t>03-</a:t>
                      </a:r>
                      <a:r>
                        <a:rPr dirty="0" sz="1850" spc="-25">
                          <a:latin typeface="Arial MT"/>
                          <a:cs typeface="Arial MT"/>
                        </a:rPr>
                        <a:t>16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B="0" marT="13716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850" spc="-10">
                          <a:latin typeface="Arial MT"/>
                          <a:cs typeface="Arial MT"/>
                        </a:rPr>
                        <a:t>56000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B="0" marT="137160"/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10414851" y="8256410"/>
            <a:ext cx="82550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229">
                <a:solidFill>
                  <a:srgbClr val="212121"/>
                </a:solidFill>
                <a:latin typeface="Arial MT"/>
                <a:cs typeface="Arial MT"/>
              </a:rPr>
              <a:t>Before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554632" y="8300508"/>
            <a:ext cx="62166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30">
                <a:solidFill>
                  <a:srgbClr val="262626"/>
                </a:solidFill>
                <a:latin typeface="Arial MT"/>
                <a:cs typeface="Arial MT"/>
              </a:rPr>
              <a:t>After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8300" y="4089400"/>
            <a:ext cx="5232400" cy="1701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77700" y="3086100"/>
            <a:ext cx="4533900" cy="558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2524" y="635812"/>
            <a:ext cx="13307060" cy="1428115"/>
          </a:xfrm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pc="100">
                <a:solidFill>
                  <a:srgbClr val="053159"/>
                </a:solidFill>
              </a:rPr>
              <a:t>Building</a:t>
            </a:r>
            <a:r>
              <a:rPr dirty="0" spc="-330">
                <a:solidFill>
                  <a:srgbClr val="053159"/>
                </a:solidFill>
              </a:rPr>
              <a:t> </a:t>
            </a:r>
            <a:r>
              <a:rPr dirty="0" spc="105">
                <a:solidFill>
                  <a:srgbClr val="032A50"/>
                </a:solidFill>
              </a:rPr>
              <a:t>the</a:t>
            </a:r>
            <a:r>
              <a:rPr dirty="0" spc="310">
                <a:solidFill>
                  <a:srgbClr val="032A50"/>
                </a:solidFill>
              </a:rPr>
              <a:t> </a:t>
            </a:r>
            <a:r>
              <a:rPr dirty="0" spc="114">
                <a:solidFill>
                  <a:srgbClr val="012D54"/>
                </a:solidFill>
              </a:rPr>
              <a:t>Analytical</a:t>
            </a:r>
            <a:r>
              <a:rPr dirty="0" spc="-45">
                <a:solidFill>
                  <a:srgbClr val="012D54"/>
                </a:solidFill>
              </a:rPr>
              <a:t> </a:t>
            </a:r>
            <a:r>
              <a:rPr dirty="0">
                <a:solidFill>
                  <a:srgbClr val="002649"/>
                </a:solidFill>
              </a:rPr>
              <a:t>Engine</a:t>
            </a:r>
            <a:r>
              <a:rPr dirty="0" spc="-125">
                <a:solidFill>
                  <a:srgbClr val="002649"/>
                </a:solidFill>
              </a:rPr>
              <a:t> </a:t>
            </a:r>
            <a:r>
              <a:rPr dirty="0" spc="270">
                <a:solidFill>
                  <a:srgbClr val="002A4F"/>
                </a:solidFill>
              </a:rPr>
              <a:t>with</a:t>
            </a:r>
            <a:r>
              <a:rPr dirty="0" spc="-395">
                <a:solidFill>
                  <a:srgbClr val="002A4F"/>
                </a:solidFill>
              </a:rPr>
              <a:t> </a:t>
            </a:r>
            <a:r>
              <a:rPr dirty="0" spc="80">
                <a:solidFill>
                  <a:srgbClr val="032649"/>
                </a:solidFill>
              </a:rPr>
              <a:t>Pivot</a:t>
            </a:r>
            <a:r>
              <a:rPr dirty="0" spc="-35">
                <a:solidFill>
                  <a:srgbClr val="032649"/>
                </a:solidFill>
              </a:rPr>
              <a:t> </a:t>
            </a:r>
            <a:r>
              <a:rPr dirty="0" spc="-10">
                <a:solidFill>
                  <a:srgbClr val="032A50"/>
                </a:solidFill>
              </a:rPr>
              <a:t>Tables</a:t>
            </a:r>
          </a:p>
          <a:p>
            <a:pPr marL="27940">
              <a:lnSpc>
                <a:spcPct val="100000"/>
              </a:lnSpc>
              <a:spcBef>
                <a:spcPts val="690"/>
              </a:spcBef>
            </a:pPr>
            <a:r>
              <a:rPr dirty="0" sz="2950" spc="-60">
                <a:solidFill>
                  <a:srgbClr val="161616"/>
                </a:solidFill>
              </a:rPr>
              <a:t>Deriving</a:t>
            </a:r>
            <a:r>
              <a:rPr dirty="0" sz="2950" spc="-140">
                <a:solidFill>
                  <a:srgbClr val="161616"/>
                </a:solidFill>
              </a:rPr>
              <a:t> </a:t>
            </a:r>
            <a:r>
              <a:rPr dirty="0" sz="2950" spc="-55">
                <a:solidFill>
                  <a:srgbClr val="1C1C1C"/>
                </a:solidFill>
              </a:rPr>
              <a:t>core</a:t>
            </a:r>
            <a:r>
              <a:rPr dirty="0" sz="2950" spc="-125">
                <a:solidFill>
                  <a:srgbClr val="1C1C1C"/>
                </a:solidFill>
              </a:rPr>
              <a:t> </a:t>
            </a:r>
            <a:r>
              <a:rPr dirty="0" sz="2950" spc="-30">
                <a:solidFill>
                  <a:srgbClr val="131313"/>
                </a:solidFill>
              </a:rPr>
              <a:t>descriptive</a:t>
            </a:r>
            <a:r>
              <a:rPr dirty="0" sz="2950" spc="-50">
                <a:solidFill>
                  <a:srgbClr val="131313"/>
                </a:solidFill>
              </a:rPr>
              <a:t> </a:t>
            </a:r>
            <a:r>
              <a:rPr dirty="0" sz="2950" spc="-35">
                <a:solidFill>
                  <a:srgbClr val="181818"/>
                </a:solidFill>
              </a:rPr>
              <a:t>analytics</a:t>
            </a:r>
            <a:r>
              <a:rPr dirty="0" sz="2950" spc="-95">
                <a:solidFill>
                  <a:srgbClr val="181818"/>
                </a:solidFill>
              </a:rPr>
              <a:t> </a:t>
            </a:r>
            <a:r>
              <a:rPr dirty="0" sz="2950" spc="-90">
                <a:solidFill>
                  <a:srgbClr val="1A1A1A"/>
                </a:solidFill>
              </a:rPr>
              <a:t>and</a:t>
            </a:r>
            <a:r>
              <a:rPr dirty="0" sz="2950" spc="-114">
                <a:solidFill>
                  <a:srgbClr val="1A1A1A"/>
                </a:solidFill>
              </a:rPr>
              <a:t> </a:t>
            </a:r>
            <a:r>
              <a:rPr dirty="0" sz="2950" spc="-165">
                <a:solidFill>
                  <a:srgbClr val="1F1F1F"/>
                </a:solidFill>
              </a:rPr>
              <a:t>Key</a:t>
            </a:r>
            <a:r>
              <a:rPr dirty="0" sz="2950" spc="-40">
                <a:solidFill>
                  <a:srgbClr val="1F1F1F"/>
                </a:solidFill>
              </a:rPr>
              <a:t> </a:t>
            </a:r>
            <a:r>
              <a:rPr dirty="0" sz="2950" spc="-85">
                <a:solidFill>
                  <a:srgbClr val="0F0F0F"/>
                </a:solidFill>
              </a:rPr>
              <a:t>Performance</a:t>
            </a:r>
            <a:r>
              <a:rPr dirty="0" sz="2950" spc="-60">
                <a:solidFill>
                  <a:srgbClr val="0F0F0F"/>
                </a:solidFill>
              </a:rPr>
              <a:t> </a:t>
            </a:r>
            <a:r>
              <a:rPr dirty="0" sz="2950" spc="-10">
                <a:solidFill>
                  <a:srgbClr val="161616"/>
                </a:solidFill>
              </a:rPr>
              <a:t>Indicators.</a:t>
            </a:r>
            <a:endParaRPr sz="295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90544" y="2989086"/>
            <a:ext cx="5523865" cy="20447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6985">
              <a:lnSpc>
                <a:spcPct val="110200"/>
              </a:lnSpc>
              <a:spcBef>
                <a:spcPts val="120"/>
              </a:spcBef>
            </a:pP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clean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master</a:t>
            </a:r>
            <a:r>
              <a:rPr dirty="0" sz="2400" spc="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table,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Pivot</a:t>
            </a:r>
            <a:r>
              <a:rPr dirty="0" sz="2400" spc="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Tables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Pivot Charts</a:t>
            </a:r>
            <a:r>
              <a:rPr dirty="0" sz="2400" spc="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were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primary</a:t>
            </a:r>
            <a:r>
              <a:rPr dirty="0" sz="2400" spc="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engine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analysis.</a:t>
            </a:r>
            <a:r>
              <a:rPr dirty="0" sz="2400" spc="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allowed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rapid,</a:t>
            </a:r>
            <a:r>
              <a:rPr dirty="0" sz="2400" spc="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flexible</a:t>
            </a:r>
            <a:r>
              <a:rPr dirty="0" sz="2400" spc="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aggregation</a:t>
            </a:r>
            <a:r>
              <a:rPr dirty="0" sz="2400" spc="1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70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answer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business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questions.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1789" y="5422944"/>
            <a:ext cx="4885690" cy="275145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400" spc="-25">
                <a:solidFill>
                  <a:srgbClr val="05264F"/>
                </a:solidFill>
                <a:latin typeface="Arial MT"/>
                <a:cs typeface="Arial MT"/>
              </a:rPr>
              <a:t>Key</a:t>
            </a:r>
            <a:r>
              <a:rPr dirty="0" sz="2400" spc="-120">
                <a:solidFill>
                  <a:srgbClr val="05264F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0A213F"/>
                </a:solidFill>
                <a:latin typeface="Arial MT"/>
                <a:cs typeface="Arial MT"/>
              </a:rPr>
              <a:t>KPIs</a:t>
            </a:r>
            <a:r>
              <a:rPr dirty="0" sz="2400" spc="-114">
                <a:solidFill>
                  <a:srgbClr val="0A213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82644"/>
                </a:solidFill>
                <a:latin typeface="Arial MT"/>
                <a:cs typeface="Arial MT"/>
              </a:rPr>
              <a:t>Calculated:</a:t>
            </a:r>
            <a:endParaRPr sz="2400">
              <a:latin typeface="Arial MT"/>
              <a:cs typeface="Arial MT"/>
            </a:endParaRPr>
          </a:p>
          <a:p>
            <a:pPr marL="483870" indent="-251460">
              <a:lnSpc>
                <a:spcPct val="100000"/>
              </a:lnSpc>
              <a:spcBef>
                <a:spcPts val="970"/>
              </a:spcBef>
              <a:buChar char="•"/>
              <a:tabLst>
                <a:tab pos="483870" algn="l"/>
              </a:tabLst>
            </a:pPr>
            <a:r>
              <a:rPr dirty="0" sz="2750" spc="-204">
                <a:latin typeface="Arial MT"/>
                <a:cs typeface="Arial MT"/>
              </a:rPr>
              <a:t>Total</a:t>
            </a:r>
            <a:r>
              <a:rPr dirty="0" sz="2750" spc="-30">
                <a:latin typeface="Arial MT"/>
                <a:cs typeface="Arial MT"/>
              </a:rPr>
              <a:t> </a:t>
            </a:r>
            <a:r>
              <a:rPr dirty="0" sz="2750" spc="-114">
                <a:latin typeface="Arial MT"/>
                <a:cs typeface="Arial MT"/>
              </a:rPr>
              <a:t>Headcount</a:t>
            </a:r>
            <a:endParaRPr sz="2750">
              <a:latin typeface="Arial MT"/>
              <a:cs typeface="Arial MT"/>
            </a:endParaRPr>
          </a:p>
          <a:p>
            <a:pPr marL="491490" indent="-259715">
              <a:lnSpc>
                <a:spcPct val="100000"/>
              </a:lnSpc>
              <a:spcBef>
                <a:spcPts val="100"/>
              </a:spcBef>
              <a:buChar char="•"/>
              <a:tabLst>
                <a:tab pos="491490" algn="l"/>
              </a:tabLst>
            </a:pPr>
            <a:r>
              <a:rPr dirty="0" sz="2850" spc="-325">
                <a:latin typeface="Arial MT"/>
                <a:cs typeface="Arial MT"/>
              </a:rPr>
              <a:t>Average</a:t>
            </a:r>
            <a:r>
              <a:rPr dirty="0" sz="2850" spc="20">
                <a:latin typeface="Arial MT"/>
                <a:cs typeface="Arial MT"/>
              </a:rPr>
              <a:t> </a:t>
            </a:r>
            <a:r>
              <a:rPr dirty="0" sz="2850" spc="-515">
                <a:latin typeface="Arial MT"/>
                <a:cs typeface="Arial MT"/>
              </a:rPr>
              <a:t>&amp;</a:t>
            </a:r>
            <a:r>
              <a:rPr dirty="0" sz="2850" spc="-65">
                <a:latin typeface="Arial MT"/>
                <a:cs typeface="Arial MT"/>
              </a:rPr>
              <a:t> </a:t>
            </a:r>
            <a:r>
              <a:rPr dirty="0" sz="2850" spc="-295">
                <a:latin typeface="Arial MT"/>
                <a:cs typeface="Arial MT"/>
              </a:rPr>
              <a:t>Median</a:t>
            </a:r>
            <a:r>
              <a:rPr dirty="0" sz="2850" spc="65">
                <a:latin typeface="Arial MT"/>
                <a:cs typeface="Arial MT"/>
              </a:rPr>
              <a:t> </a:t>
            </a:r>
            <a:r>
              <a:rPr dirty="0" sz="2850" spc="-295">
                <a:latin typeface="Arial MT"/>
                <a:cs typeface="Arial MT"/>
              </a:rPr>
              <a:t>Salary</a:t>
            </a:r>
            <a:endParaRPr sz="2850">
              <a:latin typeface="Arial MT"/>
              <a:cs typeface="Arial MT"/>
            </a:endParaRPr>
          </a:p>
          <a:p>
            <a:pPr marL="477520" indent="-245110">
              <a:lnSpc>
                <a:spcPct val="100000"/>
              </a:lnSpc>
              <a:spcBef>
                <a:spcPts val="130"/>
              </a:spcBef>
              <a:buChar char="•"/>
              <a:tabLst>
                <a:tab pos="477520" algn="l"/>
              </a:tabLst>
            </a:pPr>
            <a:r>
              <a:rPr dirty="0" sz="2700" spc="-135">
                <a:latin typeface="Arial MT"/>
                <a:cs typeface="Arial MT"/>
              </a:rPr>
              <a:t>Department-wise</a:t>
            </a:r>
            <a:r>
              <a:rPr dirty="0" sz="2700" spc="-100">
                <a:latin typeface="Arial MT"/>
                <a:cs typeface="Arial MT"/>
              </a:rPr>
              <a:t> </a:t>
            </a:r>
            <a:r>
              <a:rPr dirty="0" sz="2700" spc="-135">
                <a:latin typeface="Arial MT"/>
                <a:cs typeface="Arial MT"/>
              </a:rPr>
              <a:t>Cost</a:t>
            </a:r>
            <a:r>
              <a:rPr dirty="0" sz="2700" spc="65">
                <a:latin typeface="Arial MT"/>
                <a:cs typeface="Arial MT"/>
              </a:rPr>
              <a:t> </a:t>
            </a:r>
            <a:r>
              <a:rPr dirty="0" sz="2700" spc="-65">
                <a:latin typeface="Arial MT"/>
                <a:cs typeface="Arial MT"/>
              </a:rPr>
              <a:t>Analysis</a:t>
            </a:r>
            <a:endParaRPr sz="2700">
              <a:latin typeface="Arial MT"/>
              <a:cs typeface="Arial MT"/>
            </a:endParaRPr>
          </a:p>
          <a:p>
            <a:pPr marL="487680" marR="5080" indent="-254635">
              <a:lnSpc>
                <a:spcPct val="101299"/>
              </a:lnSpc>
              <a:spcBef>
                <a:spcPts val="370"/>
              </a:spcBef>
              <a:buChar char="•"/>
              <a:tabLst>
                <a:tab pos="497840" algn="l"/>
              </a:tabLst>
            </a:pPr>
            <a:r>
              <a:rPr dirty="0" sz="2550" spc="-85">
                <a:latin typeface="Arial MT"/>
                <a:cs typeface="Arial MT"/>
              </a:rPr>
              <a:t>Country-</a:t>
            </a:r>
            <a:r>
              <a:rPr dirty="0" sz="2550">
                <a:latin typeface="Arial MT"/>
                <a:cs typeface="Arial MT"/>
              </a:rPr>
              <a:t>wise</a:t>
            </a:r>
            <a:r>
              <a:rPr dirty="0" sz="2550" spc="20">
                <a:latin typeface="Arial MT"/>
                <a:cs typeface="Arial MT"/>
              </a:rPr>
              <a:t> </a:t>
            </a:r>
            <a:r>
              <a:rPr dirty="0" sz="2550" spc="-80">
                <a:latin typeface="Arial MT"/>
                <a:cs typeface="Arial MT"/>
              </a:rPr>
              <a:t>Workforce </a:t>
            </a:r>
            <a:r>
              <a:rPr dirty="0" sz="2550" spc="-30">
                <a:latin typeface="Arial MT"/>
                <a:cs typeface="Arial MT"/>
              </a:rPr>
              <a:t>Metrics </a:t>
            </a:r>
            <a:r>
              <a:rPr dirty="0" sz="2550" spc="-30">
                <a:latin typeface="Arial MT"/>
                <a:cs typeface="Arial MT"/>
              </a:rPr>
              <a:t>	</a:t>
            </a:r>
            <a:r>
              <a:rPr dirty="0" sz="2550" spc="-150">
                <a:latin typeface="Arial MT"/>
                <a:cs typeface="Arial MT"/>
              </a:rPr>
              <a:t>(NZ</a:t>
            </a:r>
            <a:r>
              <a:rPr dirty="0" sz="2550" spc="10">
                <a:latin typeface="Arial MT"/>
                <a:cs typeface="Arial MT"/>
              </a:rPr>
              <a:t> </a:t>
            </a:r>
            <a:r>
              <a:rPr dirty="0" sz="2550" spc="-120">
                <a:latin typeface="Arial MT"/>
                <a:cs typeface="Arial MT"/>
              </a:rPr>
              <a:t>vs.</a:t>
            </a:r>
            <a:r>
              <a:rPr dirty="0" sz="2550" spc="-7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India)</a:t>
            </a:r>
            <a:endParaRPr sz="2550">
              <a:latin typeface="Arial MT"/>
              <a:cs typeface="Arial M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566260" y="5081965"/>
          <a:ext cx="7901940" cy="2032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2455"/>
                <a:gridCol w="583565"/>
                <a:gridCol w="1837689"/>
                <a:gridCol w="1339214"/>
                <a:gridCol w="1258570"/>
                <a:gridCol w="942340"/>
              </a:tblGrid>
              <a:tr h="349885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1995"/>
                        </a:lnSpc>
                      </a:pPr>
                      <a:r>
                        <a:rPr dirty="0" sz="1800" spc="-70">
                          <a:latin typeface="Arial MT"/>
                          <a:cs typeface="Arial MT"/>
                        </a:rPr>
                        <a:t>Engineering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995"/>
                        </a:lnSpc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55.000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5405">
                        <a:lnSpc>
                          <a:spcPts val="1964"/>
                        </a:lnSpc>
                      </a:pPr>
                      <a:r>
                        <a:rPr dirty="0" sz="1650" spc="-10">
                          <a:latin typeface="Arial MT"/>
                          <a:cs typeface="Arial MT"/>
                        </a:rPr>
                        <a:t>58,000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964"/>
                        </a:lnSpc>
                      </a:pPr>
                      <a:r>
                        <a:rPr dirty="0" sz="1650" spc="-10">
                          <a:latin typeface="Arial MT"/>
                          <a:cs typeface="Arial MT"/>
                        </a:rPr>
                        <a:t>55,000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1465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800" spc="-20">
                          <a:latin typeface="Arial MT"/>
                          <a:cs typeface="Arial MT"/>
                        </a:rPr>
                        <a:t>Saes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73025"/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60,000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8425"/>
                </a:tc>
                <a:tc>
                  <a:txBody>
                    <a:bodyPr/>
                    <a:lstStyle/>
                    <a:p>
                      <a:pPr algn="ctr" marL="6159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700" spc="-265">
                          <a:latin typeface="Arial MT"/>
                          <a:cs typeface="Arial MT"/>
                        </a:rPr>
                        <a:t>6S,OO0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B="0" marT="85725"/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700" spc="-10">
                          <a:latin typeface="Arial MT"/>
                          <a:cs typeface="Arial MT"/>
                        </a:rPr>
                        <a:t>60,000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B="0" marT="85725"/>
                </a:tc>
              </a:tr>
              <a:tr h="4927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 spc="-85">
                          <a:latin typeface="Arial MT"/>
                          <a:cs typeface="Arial MT"/>
                        </a:rPr>
                        <a:t>(Departments)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 spc="-595">
                          <a:solidFill>
                            <a:srgbClr val="A58A60"/>
                          </a:solidFill>
                          <a:latin typeface="Arial MT"/>
                          <a:cs typeface="Arial MT"/>
                        </a:rPr>
                        <a:t>”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65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45,000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7635"/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650" spc="-10">
                          <a:latin typeface="Arial MT"/>
                          <a:cs typeface="Arial MT"/>
                        </a:rPr>
                        <a:t>48,000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650" spc="-10">
                          <a:latin typeface="Arial MT"/>
                          <a:cs typeface="Arial MT"/>
                        </a:rPr>
                        <a:t>45,000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B="0" marT="121285"/>
                </a:tc>
              </a:tr>
              <a:tr h="424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700" spc="-10">
                          <a:latin typeface="Arial MT"/>
                          <a:cs typeface="Arial MT"/>
                        </a:rPr>
                        <a:t>Marketing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B="0" marT="66675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700" spc="-10">
                          <a:latin typeface="Arial MT"/>
                          <a:cs typeface="Arial MT"/>
                        </a:rPr>
                        <a:t>50,000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B="0" marT="66675"/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700" spc="-10">
                          <a:latin typeface="Arial MT"/>
                          <a:cs typeface="Arial MT"/>
                        </a:rPr>
                        <a:t>53,000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B="0" marT="66675"/>
                </a:tc>
                <a:tc>
                  <a:txBody>
                    <a:bodyPr/>
                    <a:lstStyle/>
                    <a:p>
                      <a:pPr algn="r" marR="298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700" spc="-50">
                          <a:solidFill>
                            <a:srgbClr val="0E0E0E"/>
                          </a:solidFill>
                          <a:latin typeface="Arial MT"/>
                          <a:cs typeface="Arial MT"/>
                        </a:rPr>
                        <a:t>5O,00O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B="0" marT="66675"/>
                </a:tc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1785"/>
                        </a:lnSpc>
                        <a:spcBef>
                          <a:spcPts val="880"/>
                        </a:spcBef>
                      </a:pPr>
                      <a:r>
                        <a:rPr dirty="0" sz="1500" spc="-10">
                          <a:latin typeface="Arial MT"/>
                          <a:cs typeface="Arial MT"/>
                        </a:rPr>
                        <a:t>Finance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111760"/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2085"/>
                        </a:lnSpc>
                        <a:spcBef>
                          <a:spcPts val="580"/>
                        </a:spcBef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52000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73660"/>
                </a:tc>
                <a:tc>
                  <a:txBody>
                    <a:bodyPr/>
                    <a:lstStyle/>
                    <a:p>
                      <a:pPr algn="ctr" marL="65405">
                        <a:lnSpc>
                          <a:spcPts val="1885"/>
                        </a:lnSpc>
                        <a:spcBef>
                          <a:spcPts val="78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55,000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885"/>
                        </a:lnSpc>
                        <a:spcBef>
                          <a:spcPts val="78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52,000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906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15445651" y="5869869"/>
            <a:ext cx="1183640" cy="74549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 indent="3810">
              <a:lnSpc>
                <a:spcPts val="2750"/>
              </a:lnSpc>
              <a:spcBef>
                <a:spcPts val="330"/>
              </a:spcBef>
            </a:pPr>
            <a:r>
              <a:rPr dirty="0" sz="2400" spc="-95">
                <a:latin typeface="Arial MT"/>
                <a:cs typeface="Arial MT"/>
              </a:rPr>
              <a:t>(Average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65">
                <a:latin typeface="Arial MT"/>
                <a:cs typeface="Arial MT"/>
              </a:rPr>
              <a:t>Salary)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0" y="3695700"/>
            <a:ext cx="1778000" cy="42164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743016" y="3725333"/>
            <a:ext cx="0" cy="4216400"/>
          </a:xfrm>
          <a:custGeom>
            <a:avLst/>
            <a:gdLst/>
            <a:ahLst/>
            <a:cxnLst/>
            <a:rect l="l" t="t" r="r" b="b"/>
            <a:pathLst>
              <a:path w="0" h="4216400">
                <a:moveTo>
                  <a:pt x="0" y="4216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828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9736666" y="3725333"/>
            <a:ext cx="1790700" cy="4216400"/>
            <a:chOff x="9736666" y="3725333"/>
            <a:chExt cx="1790700" cy="4216400"/>
          </a:xfrm>
        </p:grpSpPr>
        <p:sp>
          <p:nvSpPr>
            <p:cNvPr id="5" name="object 5" descr=""/>
            <p:cNvSpPr/>
            <p:nvPr/>
          </p:nvSpPr>
          <p:spPr>
            <a:xfrm>
              <a:off x="11521016" y="3725333"/>
              <a:ext cx="0" cy="4216400"/>
            </a:xfrm>
            <a:custGeom>
              <a:avLst/>
              <a:gdLst/>
              <a:ahLst/>
              <a:cxnLst/>
              <a:rect l="l" t="t" r="r" b="b"/>
              <a:pathLst>
                <a:path w="0" h="4216400">
                  <a:moveTo>
                    <a:pt x="0" y="4216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82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36666" y="3731683"/>
              <a:ext cx="1790700" cy="0"/>
            </a:xfrm>
            <a:custGeom>
              <a:avLst/>
              <a:gdLst/>
              <a:ahLst/>
              <a:cxnLst/>
              <a:rect l="l" t="t" r="r" b="b"/>
              <a:pathLst>
                <a:path w="1790700" h="0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ln w="12700">
              <a:solidFill>
                <a:srgbClr val="082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736666" y="7935383"/>
              <a:ext cx="1790700" cy="0"/>
            </a:xfrm>
            <a:custGeom>
              <a:avLst/>
              <a:gdLst/>
              <a:ahLst/>
              <a:cxnLst/>
              <a:rect l="l" t="t" r="r" b="b"/>
              <a:pathLst>
                <a:path w="1790700" h="0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ln w="12700">
              <a:solidFill>
                <a:srgbClr val="0828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9400" y="4940300"/>
            <a:ext cx="215900" cy="14732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0261600" y="3467100"/>
            <a:ext cx="800100" cy="266700"/>
            <a:chOff x="10261600" y="3467100"/>
            <a:chExt cx="800100" cy="26670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61600" y="3467100"/>
              <a:ext cx="800100" cy="2667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1600" y="3467100"/>
              <a:ext cx="800100" cy="266700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0900" y="7823200"/>
            <a:ext cx="114300" cy="1778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45983" y="809977"/>
            <a:ext cx="14570710" cy="1431290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12700" marR="5080" indent="17145">
              <a:lnSpc>
                <a:spcPts val="5400"/>
              </a:lnSpc>
              <a:spcBef>
                <a:spcPts val="465"/>
              </a:spcBef>
            </a:pPr>
            <a:r>
              <a:rPr dirty="0" sz="4700" spc="210">
                <a:solidFill>
                  <a:srgbClr val="032844"/>
                </a:solidFill>
              </a:rPr>
              <a:t>Spotlight:</a:t>
            </a:r>
            <a:r>
              <a:rPr dirty="0" sz="4700" spc="145">
                <a:solidFill>
                  <a:srgbClr val="032844"/>
                </a:solidFill>
              </a:rPr>
              <a:t> </a:t>
            </a:r>
            <a:r>
              <a:rPr dirty="0" sz="4700" spc="85">
                <a:solidFill>
                  <a:srgbClr val="013159"/>
                </a:solidFill>
              </a:rPr>
              <a:t>Analysing</a:t>
            </a:r>
            <a:r>
              <a:rPr dirty="0" sz="4700" spc="-204">
                <a:solidFill>
                  <a:srgbClr val="013159"/>
                </a:solidFill>
              </a:rPr>
              <a:t> </a:t>
            </a:r>
            <a:r>
              <a:rPr dirty="0" sz="4700" spc="120">
                <a:solidFill>
                  <a:srgbClr val="082F52"/>
                </a:solidFill>
              </a:rPr>
              <a:t>Compensation</a:t>
            </a:r>
            <a:r>
              <a:rPr dirty="0" sz="4700" spc="229">
                <a:solidFill>
                  <a:srgbClr val="082F52"/>
                </a:solidFill>
              </a:rPr>
              <a:t> </a:t>
            </a:r>
            <a:r>
              <a:rPr dirty="0" sz="4700">
                <a:solidFill>
                  <a:srgbClr val="032B4F"/>
                </a:solidFill>
              </a:rPr>
              <a:t>Fairness</a:t>
            </a:r>
            <a:r>
              <a:rPr dirty="0" sz="4700" spc="-35">
                <a:solidFill>
                  <a:srgbClr val="032B4F"/>
                </a:solidFill>
              </a:rPr>
              <a:t> </a:t>
            </a:r>
            <a:r>
              <a:rPr dirty="0" sz="4700" spc="75">
                <a:solidFill>
                  <a:srgbClr val="05315B"/>
                </a:solidFill>
              </a:rPr>
              <a:t>and</a:t>
            </a:r>
            <a:r>
              <a:rPr dirty="0" sz="4700" spc="-300">
                <a:solidFill>
                  <a:srgbClr val="05315B"/>
                </a:solidFill>
              </a:rPr>
              <a:t> </a:t>
            </a:r>
            <a:r>
              <a:rPr dirty="0" sz="4700" spc="35">
                <a:solidFill>
                  <a:srgbClr val="07345B"/>
                </a:solidFill>
              </a:rPr>
              <a:t>the </a:t>
            </a:r>
            <a:r>
              <a:rPr dirty="0" sz="4700">
                <a:solidFill>
                  <a:srgbClr val="012F56"/>
                </a:solidFill>
              </a:rPr>
              <a:t>Gender</a:t>
            </a:r>
            <a:r>
              <a:rPr dirty="0" sz="4700" spc="30">
                <a:solidFill>
                  <a:srgbClr val="012F56"/>
                </a:solidFill>
              </a:rPr>
              <a:t> </a:t>
            </a:r>
            <a:r>
              <a:rPr dirty="0" sz="4700" spc="-110">
                <a:solidFill>
                  <a:srgbClr val="002A4B"/>
                </a:solidFill>
              </a:rPr>
              <a:t>Pay</a:t>
            </a:r>
            <a:r>
              <a:rPr dirty="0" sz="4700" spc="-300">
                <a:solidFill>
                  <a:srgbClr val="002A4B"/>
                </a:solidFill>
              </a:rPr>
              <a:t> </a:t>
            </a:r>
            <a:r>
              <a:rPr dirty="0" sz="4700" spc="-25">
                <a:solidFill>
                  <a:srgbClr val="03284D"/>
                </a:solidFill>
              </a:rPr>
              <a:t>Gap</a:t>
            </a:r>
            <a:endParaRPr sz="4700"/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962020" y="2700513"/>
            <a:ext cx="5447030" cy="225552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2900">
                <a:solidFill>
                  <a:srgbClr val="07263F"/>
                </a:solidFill>
                <a:latin typeface="Arial MT"/>
                <a:cs typeface="Arial MT"/>
              </a:rPr>
              <a:t>Problem</a:t>
            </a:r>
            <a:r>
              <a:rPr dirty="0" sz="2900" spc="225">
                <a:solidFill>
                  <a:srgbClr val="07263F"/>
                </a:solidFill>
                <a:latin typeface="Arial MT"/>
                <a:cs typeface="Arial MT"/>
              </a:rPr>
              <a:t> </a:t>
            </a:r>
            <a:r>
              <a:rPr dirty="0" sz="2900" spc="55">
                <a:solidFill>
                  <a:srgbClr val="0A2848"/>
                </a:solidFill>
                <a:latin typeface="Arial MT"/>
                <a:cs typeface="Arial MT"/>
              </a:rPr>
              <a:t>Statement</a:t>
            </a:r>
            <a:endParaRPr sz="2900">
              <a:latin typeface="Arial MT"/>
              <a:cs typeface="Arial MT"/>
            </a:endParaRPr>
          </a:p>
          <a:p>
            <a:pPr marL="17780" marR="5080" indent="10795">
              <a:lnSpc>
                <a:spcPct val="104200"/>
              </a:lnSpc>
              <a:spcBef>
                <a:spcPts val="795"/>
              </a:spcBef>
            </a:pPr>
            <a:r>
              <a:rPr dirty="0" sz="2500" spc="-300">
                <a:latin typeface="Arial MT"/>
                <a:cs typeface="Arial MT"/>
              </a:rPr>
              <a:t>A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key</a:t>
            </a:r>
            <a:r>
              <a:rPr dirty="0" sz="2500" spc="-13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objective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 spc="-55">
                <a:latin typeface="Arial MT"/>
                <a:cs typeface="Arial MT"/>
              </a:rPr>
              <a:t>was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1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provide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0">
                <a:latin typeface="Arial MT"/>
                <a:cs typeface="Arial MT"/>
              </a:rPr>
              <a:t>a</a:t>
            </a:r>
            <a:r>
              <a:rPr dirty="0" sz="2500" spc="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clear, </a:t>
            </a:r>
            <a:r>
              <a:rPr dirty="0" sz="2400">
                <a:latin typeface="Arial MT"/>
                <a:cs typeface="Arial MT"/>
              </a:rPr>
              <a:t>data-driven</a:t>
            </a:r>
            <a:r>
              <a:rPr dirty="0" sz="2400" spc="1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view</a:t>
            </a:r>
            <a:r>
              <a:rPr dirty="0" sz="2400" spc="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into</a:t>
            </a:r>
            <a:r>
              <a:rPr dirty="0" sz="2400" spc="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salary</a:t>
            </a:r>
            <a:r>
              <a:rPr dirty="0" sz="2400" spc="1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distribution </a:t>
            </a:r>
            <a:r>
              <a:rPr dirty="0" sz="2500" spc="-20">
                <a:latin typeface="Arial MT"/>
                <a:cs typeface="Arial MT"/>
              </a:rPr>
              <a:t>between</a:t>
            </a:r>
            <a:r>
              <a:rPr dirty="0" sz="2500" spc="-155">
                <a:latin typeface="Arial MT"/>
                <a:cs typeface="Arial MT"/>
              </a:rPr>
              <a:t> </a:t>
            </a:r>
            <a:r>
              <a:rPr dirty="0" sz="2500" spc="-35">
                <a:latin typeface="Arial MT"/>
                <a:cs typeface="Arial MT"/>
              </a:rPr>
              <a:t>male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and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female</a:t>
            </a:r>
            <a:r>
              <a:rPr dirty="0" sz="2500" spc="-130">
                <a:latin typeface="Arial MT"/>
                <a:cs typeface="Arial MT"/>
              </a:rPr>
              <a:t> </a:t>
            </a:r>
            <a:r>
              <a:rPr dirty="0" sz="2500" spc="-55">
                <a:latin typeface="Arial MT"/>
                <a:cs typeface="Arial MT"/>
              </a:rPr>
              <a:t>employees </a:t>
            </a:r>
            <a:r>
              <a:rPr dirty="0" sz="2500" spc="-25">
                <a:latin typeface="Arial MT"/>
                <a:cs typeface="Arial MT"/>
              </a:rPr>
              <a:t>to </a:t>
            </a:r>
            <a:r>
              <a:rPr dirty="0" sz="2350">
                <a:latin typeface="Arial MT"/>
                <a:cs typeface="Arial MT"/>
              </a:rPr>
              <a:t>support</a:t>
            </a:r>
            <a:r>
              <a:rPr dirty="0" sz="2350" spc="3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pay</a:t>
            </a:r>
            <a:r>
              <a:rPr dirty="0" sz="2350" spc="3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equity</a:t>
            </a:r>
            <a:r>
              <a:rPr dirty="0" sz="2350" spc="16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initiatives.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63108" y="5304790"/>
            <a:ext cx="5979795" cy="26358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900" spc="80">
                <a:solidFill>
                  <a:srgbClr val="01284F"/>
                </a:solidFill>
                <a:latin typeface="Arial MT"/>
                <a:cs typeface="Arial MT"/>
              </a:rPr>
              <a:t>Methodology</a:t>
            </a:r>
            <a:endParaRPr sz="2900">
              <a:latin typeface="Arial MT"/>
              <a:cs typeface="Arial MT"/>
            </a:endParaRPr>
          </a:p>
          <a:p>
            <a:pPr marL="15240" marR="5080" indent="12065">
              <a:lnSpc>
                <a:spcPct val="105800"/>
              </a:lnSpc>
              <a:spcBef>
                <a:spcPts val="750"/>
              </a:spcBef>
              <a:tabLst>
                <a:tab pos="1209040" algn="l"/>
                <a:tab pos="3607435" algn="l"/>
              </a:tabLst>
            </a:pP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dedicated</a:t>
            </a:r>
            <a:r>
              <a:rPr dirty="0" sz="2400" spc="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Pivot</a:t>
            </a:r>
            <a:r>
              <a:rPr dirty="0" sz="2400" spc="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Table</a:t>
            </a:r>
            <a:r>
              <a:rPr dirty="0" sz="2400" spc="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was</a:t>
            </a:r>
            <a:r>
              <a:rPr dirty="0" sz="2400" spc="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constructed</a:t>
            </a:r>
            <a:r>
              <a:rPr dirty="0" sz="2400" spc="90">
                <a:latin typeface="Arial MT"/>
                <a:cs typeface="Arial MT"/>
              </a:rPr>
              <a:t> </a:t>
            </a:r>
            <a:r>
              <a:rPr dirty="0" sz="2400" spc="70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compare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salary</a:t>
            </a:r>
            <a:r>
              <a:rPr dirty="0" sz="2400" spc="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metrics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(Average, </a:t>
            </a:r>
            <a:r>
              <a:rPr dirty="0" sz="2350" spc="-10">
                <a:latin typeface="Arial MT"/>
                <a:cs typeface="Arial MT"/>
              </a:rPr>
              <a:t>Median)</a:t>
            </a:r>
            <a:r>
              <a:rPr dirty="0" sz="2350">
                <a:latin typeface="Arial MT"/>
                <a:cs typeface="Arial MT"/>
              </a:rPr>
              <a:t>	segmented</a:t>
            </a:r>
            <a:r>
              <a:rPr dirty="0" sz="2350" spc="30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by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gender.</a:t>
            </a:r>
            <a:r>
              <a:rPr dirty="0" sz="2350" spc="10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This </a:t>
            </a:r>
            <a:r>
              <a:rPr dirty="0" sz="2500" spc="-20">
                <a:latin typeface="Arial MT"/>
                <a:cs typeface="Arial MT"/>
              </a:rPr>
              <a:t>provides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80">
                <a:latin typeface="Arial MT"/>
                <a:cs typeface="Arial MT"/>
              </a:rPr>
              <a:t>an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unambiguous</a:t>
            </a:r>
            <a:r>
              <a:rPr dirty="0" sz="2500">
                <a:latin typeface="Arial MT"/>
                <a:cs typeface="Arial MT"/>
              </a:rPr>
              <a:t>	</a:t>
            </a:r>
            <a:r>
              <a:rPr dirty="0" sz="2500" spc="-10">
                <a:latin typeface="Arial MT"/>
                <a:cs typeface="Arial MT"/>
              </a:rPr>
              <a:t>starting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point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for </a:t>
            </a:r>
            <a:r>
              <a:rPr dirty="0" sz="2350">
                <a:latin typeface="Arial MT"/>
                <a:cs typeface="Arial MT"/>
              </a:rPr>
              <a:t>deeper</a:t>
            </a:r>
            <a:r>
              <a:rPr dirty="0" sz="2350" spc="21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investigation.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304689" y="3248025"/>
            <a:ext cx="31686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25">
                <a:solidFill>
                  <a:srgbClr val="111111"/>
                </a:solidFill>
                <a:latin typeface="Courier New"/>
                <a:cs typeface="Courier New"/>
              </a:rPr>
              <a:t>$8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348741" y="3824463"/>
            <a:ext cx="25400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25">
                <a:latin typeface="Arial MT"/>
                <a:cs typeface="Arial MT"/>
              </a:rPr>
              <a:t>$7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336041" y="4383263"/>
            <a:ext cx="26860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25">
                <a:latin typeface="Arial MT"/>
                <a:cs typeface="Arial MT"/>
              </a:rPr>
              <a:t>$6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334391" y="4957233"/>
            <a:ext cx="26670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40">
                <a:latin typeface="Arial MT"/>
                <a:cs typeface="Arial MT"/>
              </a:rPr>
              <a:t>S5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328397" y="5975350"/>
            <a:ext cx="277495" cy="9442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latin typeface="Times New Roman"/>
                <a:cs typeface="Times New Roman"/>
              </a:rPr>
              <a:t>ss</a:t>
            </a:r>
            <a:endParaRPr sz="25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2250"/>
              </a:spcBef>
            </a:pPr>
            <a:r>
              <a:rPr dirty="0" sz="1650" spc="-25">
                <a:latin typeface="Arial MT"/>
                <a:cs typeface="Arial MT"/>
              </a:rPr>
              <a:t>$2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361756" y="7198783"/>
            <a:ext cx="24257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40">
                <a:latin typeface="Arial MT"/>
                <a:cs typeface="Arial MT"/>
              </a:rPr>
              <a:t>$1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296815" y="2861027"/>
            <a:ext cx="581025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>
                <a:solidFill>
                  <a:srgbClr val="052144"/>
                </a:solidFill>
                <a:latin typeface="Arial MT"/>
                <a:cs typeface="Arial MT"/>
              </a:rPr>
              <a:t>Average</a:t>
            </a:r>
            <a:r>
              <a:rPr dirty="0" sz="2200" spc="114">
                <a:solidFill>
                  <a:srgbClr val="05214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11A38"/>
                </a:solidFill>
                <a:latin typeface="Arial MT"/>
                <a:cs typeface="Arial MT"/>
              </a:rPr>
              <a:t>Salary</a:t>
            </a:r>
            <a:r>
              <a:rPr dirty="0" sz="2200" spc="105">
                <a:solidFill>
                  <a:srgbClr val="011A3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51F3A"/>
                </a:solidFill>
                <a:latin typeface="Arial MT"/>
                <a:cs typeface="Arial MT"/>
              </a:rPr>
              <a:t>Comparison:</a:t>
            </a:r>
            <a:r>
              <a:rPr dirty="0" sz="2200" spc="130">
                <a:solidFill>
                  <a:srgbClr val="051F3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32349"/>
                </a:solidFill>
                <a:latin typeface="Arial MT"/>
                <a:cs typeface="Arial MT"/>
              </a:rPr>
              <a:t>Male</a:t>
            </a:r>
            <a:r>
              <a:rPr dirty="0" sz="2200" spc="-15">
                <a:solidFill>
                  <a:srgbClr val="032349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082341"/>
                </a:solidFill>
                <a:latin typeface="Arial MT"/>
                <a:cs typeface="Arial MT"/>
              </a:rPr>
              <a:t>vs.</a:t>
            </a:r>
            <a:r>
              <a:rPr dirty="0" sz="2200" spc="-229">
                <a:solidFill>
                  <a:srgbClr val="082341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51F3D"/>
                </a:solidFill>
                <a:latin typeface="Arial MT"/>
                <a:cs typeface="Arial MT"/>
              </a:rPr>
              <a:t>Female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423690" y="7973483"/>
            <a:ext cx="46164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25">
                <a:latin typeface="Arial MT"/>
                <a:cs typeface="Arial MT"/>
              </a:rPr>
              <a:t>Male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066434" y="8240183"/>
            <a:ext cx="73723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20">
                <a:latin typeface="Arial MT"/>
                <a:cs typeface="Arial MT"/>
              </a:rPr>
              <a:t>GendE'F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448028" y="3859741"/>
            <a:ext cx="157924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 MT"/>
                <a:cs typeface="Arial MT"/>
              </a:rPr>
              <a:t>Identified</a:t>
            </a:r>
            <a:r>
              <a:rPr dirty="0" sz="1450" spc="120"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A0A0A"/>
                </a:solidFill>
                <a:latin typeface="Arial MT"/>
                <a:cs typeface="Arial MT"/>
              </a:rPr>
              <a:t>Pay</a:t>
            </a:r>
            <a:r>
              <a:rPr dirty="0" sz="1450" spc="1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Gap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820381" y="4252383"/>
            <a:ext cx="79057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60">
                <a:latin typeface="Calibri"/>
                <a:cs typeface="Calibri"/>
              </a:rPr>
              <a:t>$60,000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876439" y="7973483"/>
            <a:ext cx="68199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50">
                <a:latin typeface="Arial MT"/>
                <a:cs typeface="Arial MT"/>
              </a:rPr>
              <a:t>Female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223433" y="6019800"/>
          <a:ext cx="10076815" cy="2614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/>
                <a:gridCol w="300355"/>
                <a:gridCol w="1578609"/>
                <a:gridCol w="367664"/>
                <a:gridCol w="502919"/>
                <a:gridCol w="434975"/>
                <a:gridCol w="278129"/>
                <a:gridCol w="549275"/>
                <a:gridCol w="511175"/>
                <a:gridCol w="1154429"/>
                <a:gridCol w="468629"/>
                <a:gridCol w="455929"/>
                <a:gridCol w="295275"/>
                <a:gridCol w="426720"/>
                <a:gridCol w="507365"/>
                <a:gridCol w="1905635"/>
              </a:tblGrid>
              <a:tr h="160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384810">
                <a:tc gridSpan="3">
                  <a:txBody>
                    <a:bodyPr/>
                    <a:lstStyle/>
                    <a:p>
                      <a:pPr marL="548640">
                        <a:lnSpc>
                          <a:spcPts val="2365"/>
                        </a:lnSpc>
                      </a:pPr>
                      <a:r>
                        <a:rPr dirty="0" sz="2150" spc="-95">
                          <a:latin typeface="Arial MT"/>
                          <a:cs typeface="Arial MT"/>
                        </a:rPr>
                        <a:t>John</a:t>
                      </a:r>
                      <a:r>
                        <a:rPr dirty="0" sz="215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Doe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100330">
                        <a:lnSpc>
                          <a:spcPts val="2365"/>
                        </a:lnSpc>
                      </a:pPr>
                      <a:r>
                        <a:rPr dirty="0" sz="2150" spc="-20">
                          <a:latin typeface="Arial MT"/>
                          <a:cs typeface="Arial MT"/>
                        </a:rPr>
                        <a:t>High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01320">
                        <a:lnSpc>
                          <a:spcPts val="2415"/>
                        </a:lnSpc>
                      </a:pPr>
                      <a:r>
                        <a:rPr dirty="0" baseline="-3875" sz="3225" spc="-15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80,000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69850">
                        <a:lnSpc>
                          <a:spcPts val="2375"/>
                        </a:lnSpc>
                      </a:pPr>
                      <a:r>
                        <a:rPr dirty="0" sz="2200" spc="45">
                          <a:latin typeface="Arial MT"/>
                          <a:cs typeface="Arial MT"/>
                        </a:rPr>
                        <a:t>Tierl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4045" marR="3175">
                        <a:lnSpc>
                          <a:spcPts val="2375"/>
                        </a:lnSpc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$12,000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355600">
                <a:tc gridSpan="3">
                  <a:txBody>
                    <a:bodyPr/>
                    <a:lstStyle/>
                    <a:p>
                      <a:pPr marL="447675">
                        <a:lnSpc>
                          <a:spcPts val="2210"/>
                        </a:lnSpc>
                      </a:pPr>
                      <a:r>
                        <a:rPr dirty="0" sz="2050" spc="-45">
                          <a:latin typeface="Arial MT"/>
                          <a:cs typeface="Arial MT"/>
                        </a:rPr>
                        <a:t>Jane</a:t>
                      </a:r>
                      <a:r>
                        <a:rPr dirty="0" sz="20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Smith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663575">
                        <a:lnSpc>
                          <a:spcPts val="2210"/>
                        </a:lnSpc>
                      </a:pPr>
                      <a:r>
                        <a:rPr dirty="0" sz="2050" spc="-10">
                          <a:latin typeface="Arial MT"/>
                          <a:cs typeface="Arial MT"/>
                        </a:rPr>
                        <a:t>Medium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4020">
                        <a:lnSpc>
                          <a:spcPts val="2280"/>
                        </a:lnSpc>
                      </a:pPr>
                      <a:r>
                        <a:rPr dirty="0" sz="2150" spc="-10">
                          <a:latin typeface="Arial MT"/>
                          <a:cs typeface="Arial MT"/>
                        </a:rPr>
                        <a:t>575,000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807720">
                        <a:lnSpc>
                          <a:spcPts val="2240"/>
                        </a:lnSpc>
                      </a:pPr>
                      <a:r>
                        <a:rPr dirty="0" sz="2200" spc="-130">
                          <a:latin typeface="Arial MT"/>
                          <a:cs typeface="Arial MT"/>
                        </a:rPr>
                        <a:t>Tier</a:t>
                      </a:r>
                      <a:r>
                        <a:rPr dirty="0" sz="2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50">
                          <a:latin typeface="Arial MT"/>
                          <a:cs typeface="Arial MT"/>
                        </a:rPr>
                        <a:t>2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3745" marR="3175">
                        <a:lnSpc>
                          <a:spcPts val="2290"/>
                        </a:lnSpc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$7,500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393700">
                <a:tc gridSpan="3">
                  <a:txBody>
                    <a:bodyPr/>
                    <a:lstStyle/>
                    <a:p>
                      <a:pPr marL="346075">
                        <a:lnSpc>
                          <a:spcPts val="2430"/>
                        </a:lnSpc>
                      </a:pPr>
                      <a:r>
                        <a:rPr dirty="0" sz="2150" spc="-114">
                          <a:latin typeface="Arial MT"/>
                          <a:cs typeface="Arial MT"/>
                        </a:rPr>
                        <a:t>Bob</a:t>
                      </a:r>
                      <a:r>
                        <a:rPr dirty="0" sz="2150" spc="-2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Johnson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102870">
                        <a:lnSpc>
                          <a:spcPts val="2430"/>
                        </a:lnSpc>
                      </a:pPr>
                      <a:r>
                        <a:rPr dirty="0" sz="2150" spc="-25">
                          <a:latin typeface="Arial MT"/>
                          <a:cs typeface="Arial MT"/>
                        </a:rPr>
                        <a:t>Low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03225">
                        <a:lnSpc>
                          <a:spcPts val="2410"/>
                        </a:lnSpc>
                      </a:pPr>
                      <a:r>
                        <a:rPr dirty="0" sz="2050" spc="-10">
                          <a:latin typeface="Arial MT"/>
                          <a:cs typeface="Arial MT"/>
                        </a:rPr>
                        <a:t>$60,000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66675">
                        <a:lnSpc>
                          <a:spcPts val="2440"/>
                        </a:lnSpc>
                      </a:pPr>
                      <a:r>
                        <a:rPr dirty="0" sz="2200" spc="-95">
                          <a:latin typeface="Arial MT"/>
                          <a:cs typeface="Arial MT"/>
                        </a:rPr>
                        <a:t>Tier</a:t>
                      </a:r>
                      <a:r>
                        <a:rPr dirty="0" sz="220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50">
                          <a:latin typeface="Arial MT"/>
                          <a:cs typeface="Arial MT"/>
                        </a:rPr>
                        <a:t>3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2440"/>
                        </a:lnSpc>
                        <a:tabLst>
                          <a:tab pos="1851025" algn="l"/>
                        </a:tabLst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$3,000</a:t>
                      </a:r>
                      <a:r>
                        <a:rPr dirty="0" sz="2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200" spc="-50">
                          <a:solidFill>
                            <a:srgbClr val="2F7541"/>
                          </a:solidFill>
                          <a:latin typeface="Arial MT"/>
                          <a:cs typeface="Arial MT"/>
                        </a:rPr>
                        <a:t>'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363855">
                <a:tc gridSpan="3">
                  <a:txBody>
                    <a:bodyPr/>
                    <a:lstStyle/>
                    <a:p>
                      <a:pPr marL="328295">
                        <a:lnSpc>
                          <a:spcPts val="2260"/>
                        </a:lnSpc>
                      </a:pPr>
                      <a:r>
                        <a:rPr dirty="0" sz="2050" spc="-65">
                          <a:latin typeface="Arial MT"/>
                          <a:cs typeface="Arial MT"/>
                        </a:rPr>
                        <a:t>Alice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Williams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106680">
                        <a:lnSpc>
                          <a:spcPts val="2260"/>
                        </a:lnSpc>
                      </a:pPr>
                      <a:r>
                        <a:rPr dirty="0" sz="2050" spc="-20">
                          <a:latin typeface="Arial MT"/>
                          <a:cs typeface="Arial MT"/>
                        </a:rPr>
                        <a:t>High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01320">
                        <a:lnSpc>
                          <a:spcPts val="2330"/>
                        </a:lnSpc>
                      </a:pPr>
                      <a:r>
                        <a:rPr dirty="0" sz="2150" spc="-10">
                          <a:latin typeface="Arial MT"/>
                          <a:cs typeface="Arial MT"/>
                        </a:rPr>
                        <a:t>590,000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59690">
                        <a:lnSpc>
                          <a:spcPts val="2240"/>
                        </a:lnSpc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Tiers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4840" marR="3175">
                        <a:lnSpc>
                          <a:spcPts val="2340"/>
                        </a:lnSpc>
                      </a:pPr>
                      <a:r>
                        <a:rPr dirty="0" sz="2200" spc="-25">
                          <a:latin typeface="Arial MT"/>
                          <a:cs typeface="Arial MT"/>
                        </a:rPr>
                        <a:t>513,500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  <a:tr h="363855">
                <a:tc gridSpan="3">
                  <a:txBody>
                    <a:bodyPr/>
                    <a:lstStyle/>
                    <a:p>
                      <a:pPr marL="288925">
                        <a:lnSpc>
                          <a:spcPts val="2345"/>
                        </a:lnSpc>
                      </a:pPr>
                      <a:r>
                        <a:rPr dirty="0" sz="2050" spc="-25">
                          <a:latin typeface="Arial MT"/>
                          <a:cs typeface="Arial MT"/>
                        </a:rPr>
                        <a:t>Charlie</a:t>
                      </a:r>
                      <a:r>
                        <a:rPr dirty="0" sz="205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Brown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663575">
                        <a:lnSpc>
                          <a:spcPts val="2345"/>
                        </a:lnSpc>
                      </a:pPr>
                      <a:r>
                        <a:rPr dirty="0" sz="2050" spc="-10">
                          <a:latin typeface="Arial MT"/>
                          <a:cs typeface="Arial MT"/>
                        </a:rPr>
                        <a:t>Medium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01320">
                        <a:lnSpc>
                          <a:spcPts val="2395"/>
                        </a:lnSpc>
                      </a:pPr>
                      <a:r>
                        <a:rPr dirty="0" baseline="-4065" sz="3075" spc="-15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65,000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807720">
                        <a:lnSpc>
                          <a:spcPts val="2375"/>
                        </a:lnSpc>
                      </a:pPr>
                      <a:r>
                        <a:rPr dirty="0" sz="2200" spc="-130">
                          <a:latin typeface="Arial MT"/>
                          <a:cs typeface="Arial MT"/>
                        </a:rPr>
                        <a:t>Tier</a:t>
                      </a:r>
                      <a:r>
                        <a:rPr dirty="0" sz="2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50">
                          <a:latin typeface="Arial MT"/>
                          <a:cs typeface="Arial MT"/>
                        </a:rPr>
                        <a:t>2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1040" marR="3175">
                        <a:lnSpc>
                          <a:spcPts val="2425"/>
                        </a:lnSpc>
                      </a:pPr>
                      <a:r>
                        <a:rPr dirty="0" baseline="-3787" sz="3300" spc="-15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2200" spc="-10">
                          <a:latin typeface="Arial MT"/>
                          <a:cs typeface="Arial MT"/>
                        </a:rPr>
                        <a:t>6,500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133857"/>
                      </a:solidFill>
                      <a:prstDash val="solid"/>
                    </a:lnL>
                    <a:lnR w="28575">
                      <a:solidFill>
                        <a:srgbClr val="133857"/>
                      </a:solidFill>
                      <a:prstDash val="solid"/>
                    </a:lnR>
                    <a:lnT w="28575">
                      <a:solidFill>
                        <a:srgbClr val="133857"/>
                      </a:solidFill>
                      <a:prstDash val="solid"/>
                    </a:lnT>
                    <a:lnB w="28575">
                      <a:solidFill>
                        <a:srgbClr val="13385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5143500"/>
            <a:ext cx="1841500" cy="279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5740400"/>
            <a:ext cx="165100" cy="1905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63400" y="6985000"/>
            <a:ext cx="12700" cy="6223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65100" y="5740400"/>
            <a:ext cx="152400" cy="190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01900" y="5753100"/>
            <a:ext cx="25400" cy="1778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94100" y="5740400"/>
            <a:ext cx="101600" cy="1905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23700" y="6388100"/>
            <a:ext cx="355600" cy="58420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1785600" y="7620000"/>
            <a:ext cx="317500" cy="800100"/>
            <a:chOff x="11785600" y="7620000"/>
            <a:chExt cx="317500" cy="800100"/>
          </a:xfrm>
        </p:grpSpPr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85600" y="7620000"/>
              <a:ext cx="190500" cy="2032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49100" y="7848600"/>
              <a:ext cx="254000" cy="5715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98910" y="289983"/>
            <a:ext cx="15771494" cy="16065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 marR="5080" indent="6350">
              <a:lnSpc>
                <a:spcPts val="5950"/>
              </a:lnSpc>
              <a:spcBef>
                <a:spcPts val="750"/>
              </a:spcBef>
            </a:pPr>
            <a:r>
              <a:rPr dirty="0" sz="5400" spc="175">
                <a:solidFill>
                  <a:srgbClr val="012848"/>
                </a:solidFill>
              </a:rPr>
              <a:t>Spotlight:</a:t>
            </a:r>
            <a:r>
              <a:rPr dirty="0" sz="5400" spc="225">
                <a:solidFill>
                  <a:srgbClr val="012848"/>
                </a:solidFill>
              </a:rPr>
              <a:t> </a:t>
            </a:r>
            <a:r>
              <a:rPr dirty="0" sz="5400" spc="130">
                <a:solidFill>
                  <a:srgbClr val="033159"/>
                </a:solidFill>
              </a:rPr>
              <a:t>Automating</a:t>
            </a:r>
            <a:r>
              <a:rPr dirty="0" sz="5400" spc="-35">
                <a:solidFill>
                  <a:srgbClr val="033159"/>
                </a:solidFill>
              </a:rPr>
              <a:t> </a:t>
            </a:r>
            <a:r>
              <a:rPr dirty="0" sz="5400">
                <a:solidFill>
                  <a:srgbClr val="032F56"/>
                </a:solidFill>
              </a:rPr>
              <a:t>Complex</a:t>
            </a:r>
            <a:r>
              <a:rPr dirty="0" sz="5400" spc="-5">
                <a:solidFill>
                  <a:srgbClr val="032F56"/>
                </a:solidFill>
              </a:rPr>
              <a:t> </a:t>
            </a:r>
            <a:r>
              <a:rPr dirty="0" sz="5400">
                <a:solidFill>
                  <a:srgbClr val="002648"/>
                </a:solidFill>
              </a:rPr>
              <a:t>Business</a:t>
            </a:r>
            <a:r>
              <a:rPr dirty="0" sz="5400" spc="15">
                <a:solidFill>
                  <a:srgbClr val="002648"/>
                </a:solidFill>
              </a:rPr>
              <a:t> </a:t>
            </a:r>
            <a:r>
              <a:rPr dirty="0" sz="5400">
                <a:solidFill>
                  <a:srgbClr val="032D54"/>
                </a:solidFill>
              </a:rPr>
              <a:t>Logic</a:t>
            </a:r>
            <a:r>
              <a:rPr dirty="0" sz="5400" spc="190">
                <a:solidFill>
                  <a:srgbClr val="032D54"/>
                </a:solidFill>
              </a:rPr>
              <a:t> </a:t>
            </a:r>
            <a:r>
              <a:rPr dirty="0" sz="5400" spc="80">
                <a:solidFill>
                  <a:srgbClr val="012B4F"/>
                </a:solidFill>
              </a:rPr>
              <a:t>for </a:t>
            </a:r>
            <a:r>
              <a:rPr dirty="0" sz="5400">
                <a:solidFill>
                  <a:srgbClr val="032A4D"/>
                </a:solidFill>
              </a:rPr>
              <a:t>Bonus</a:t>
            </a:r>
            <a:r>
              <a:rPr dirty="0" sz="5400" spc="-140">
                <a:solidFill>
                  <a:srgbClr val="032A4D"/>
                </a:solidFill>
              </a:rPr>
              <a:t> </a:t>
            </a:r>
            <a:r>
              <a:rPr dirty="0" sz="5400" spc="105">
                <a:solidFill>
                  <a:srgbClr val="002A4F"/>
                </a:solidFill>
              </a:rPr>
              <a:t>Calculation</a:t>
            </a:r>
            <a:endParaRPr sz="5400"/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250"/>
              </a:spcBef>
            </a:pPr>
            <a:r>
              <a:rPr dirty="0"/>
              <a:t>Business</a:t>
            </a:r>
            <a:r>
              <a:rPr dirty="0" spc="-60"/>
              <a:t> </a:t>
            </a:r>
            <a:r>
              <a:rPr dirty="0" spc="-20"/>
              <a:t>Need</a:t>
            </a:r>
          </a:p>
          <a:p>
            <a:pPr marL="20320" marR="5080" indent="-8255">
              <a:lnSpc>
                <a:spcPct val="101000"/>
              </a:lnSpc>
              <a:spcBef>
                <a:spcPts val="970"/>
              </a:spcBef>
            </a:pPr>
            <a:r>
              <a:rPr dirty="0" sz="2750" spc="-135"/>
              <a:t>The</a:t>
            </a:r>
            <a:r>
              <a:rPr dirty="0" sz="2750" spc="-165"/>
              <a:t> </a:t>
            </a:r>
            <a:r>
              <a:rPr dirty="0" sz="2750" spc="-80"/>
              <a:t>finance</a:t>
            </a:r>
            <a:r>
              <a:rPr dirty="0" sz="2750" spc="-45"/>
              <a:t> </a:t>
            </a:r>
            <a:r>
              <a:rPr dirty="0" sz="2750" spc="-150"/>
              <a:t>and</a:t>
            </a:r>
            <a:r>
              <a:rPr dirty="0" sz="2750" spc="-250"/>
              <a:t> </a:t>
            </a:r>
            <a:r>
              <a:rPr dirty="0" sz="2750" spc="-440"/>
              <a:t>HR</a:t>
            </a:r>
            <a:r>
              <a:rPr dirty="0" sz="2750" spc="-100"/>
              <a:t> </a:t>
            </a:r>
            <a:r>
              <a:rPr dirty="0" sz="2750" spc="-80"/>
              <a:t>teams</a:t>
            </a:r>
            <a:r>
              <a:rPr dirty="0" sz="2750" spc="-195"/>
              <a:t> </a:t>
            </a:r>
            <a:r>
              <a:rPr dirty="0" sz="2750" spc="-85"/>
              <a:t>required</a:t>
            </a:r>
            <a:r>
              <a:rPr dirty="0" sz="2750" spc="-140"/>
              <a:t> </a:t>
            </a:r>
            <a:r>
              <a:rPr dirty="0" sz="2750" spc="-175"/>
              <a:t>a</a:t>
            </a:r>
            <a:r>
              <a:rPr dirty="0" sz="2750" spc="-265"/>
              <a:t> </a:t>
            </a:r>
            <a:r>
              <a:rPr dirty="0" sz="2750" spc="-10"/>
              <a:t>transparent </a:t>
            </a:r>
            <a:r>
              <a:rPr dirty="0" sz="2750" spc="-100"/>
              <a:t>and</a:t>
            </a:r>
            <a:r>
              <a:rPr dirty="0" sz="2750" spc="-355"/>
              <a:t> </a:t>
            </a:r>
            <a:r>
              <a:rPr dirty="0" sz="2750" spc="-80"/>
              <a:t>repeatable</a:t>
            </a:r>
            <a:r>
              <a:rPr dirty="0" sz="2750" spc="-85"/>
              <a:t> </a:t>
            </a:r>
            <a:r>
              <a:rPr dirty="0" sz="2750" spc="-70"/>
              <a:t>method</a:t>
            </a:r>
            <a:r>
              <a:rPr dirty="0" sz="2750" spc="-114"/>
              <a:t> </a:t>
            </a:r>
            <a:r>
              <a:rPr dirty="0" sz="2750" spc="-65"/>
              <a:t>for</a:t>
            </a:r>
            <a:r>
              <a:rPr dirty="0" sz="2750" spc="-165"/>
              <a:t> </a:t>
            </a:r>
            <a:r>
              <a:rPr dirty="0" sz="2750" spc="-60"/>
              <a:t>calculating</a:t>
            </a:r>
            <a:r>
              <a:rPr dirty="0" sz="2750" spc="-75"/>
              <a:t> </a:t>
            </a:r>
            <a:r>
              <a:rPr dirty="0" sz="2750" spc="-70"/>
              <a:t>performance- </a:t>
            </a:r>
            <a:r>
              <a:rPr dirty="0" sz="2750" spc="-125"/>
              <a:t>based</a:t>
            </a:r>
            <a:r>
              <a:rPr dirty="0" sz="2750" spc="-150"/>
              <a:t> </a:t>
            </a:r>
            <a:r>
              <a:rPr dirty="0" sz="2750" spc="-100"/>
              <a:t>bonuses</a:t>
            </a:r>
            <a:r>
              <a:rPr dirty="0" sz="2750" spc="-30"/>
              <a:t> </a:t>
            </a:r>
            <a:r>
              <a:rPr dirty="0" sz="2750" spc="-105"/>
              <a:t>according</a:t>
            </a:r>
            <a:r>
              <a:rPr dirty="0" sz="2750" spc="-85"/>
              <a:t> </a:t>
            </a:r>
            <a:r>
              <a:rPr dirty="0" sz="2750" spc="50"/>
              <a:t>to</a:t>
            </a:r>
            <a:r>
              <a:rPr dirty="0" sz="2750" spc="-220"/>
              <a:t> </a:t>
            </a:r>
            <a:r>
              <a:rPr dirty="0" sz="2750" spc="-80"/>
              <a:t>established</a:t>
            </a:r>
            <a:r>
              <a:rPr dirty="0" sz="2750" spc="5"/>
              <a:t> </a:t>
            </a:r>
            <a:r>
              <a:rPr dirty="0" sz="2750" spc="-10"/>
              <a:t>business rules.</a:t>
            </a:r>
            <a:endParaRPr sz="2750"/>
          </a:p>
        </p:txBody>
      </p:sp>
      <p:sp>
        <p:nvSpPr>
          <p:cNvPr id="15" name="object 15" descr=""/>
          <p:cNvSpPr txBox="1"/>
          <p:nvPr/>
        </p:nvSpPr>
        <p:spPr>
          <a:xfrm>
            <a:off x="985211" y="5112455"/>
            <a:ext cx="30353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80">
                <a:solidFill>
                  <a:srgbClr val="1A1A1A"/>
                </a:solidFill>
                <a:latin typeface="Arial MT"/>
                <a:cs typeface="Arial MT"/>
              </a:rPr>
              <a:t>B2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235640" y="5611988"/>
            <a:ext cx="17399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459">
                <a:solidFill>
                  <a:srgbClr val="131313"/>
                </a:solidFill>
                <a:latin typeface="Arial MT"/>
                <a:cs typeface="Arial MT"/>
              </a:rPr>
              <a:t>A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76111" y="5664905"/>
            <a:ext cx="17907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50">
                <a:solidFill>
                  <a:srgbClr val="2D2D2D"/>
                </a:solidFill>
                <a:latin typeface="Arial MT"/>
                <a:cs typeface="Arial MT"/>
              </a:rPr>
              <a:t>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03287" y="6692676"/>
            <a:ext cx="174625" cy="22663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00"/>
              </a:spcBef>
            </a:pPr>
            <a:r>
              <a:rPr dirty="0" sz="2150" spc="-50">
                <a:latin typeface="Arial MT"/>
                <a:cs typeface="Arial MT"/>
              </a:rPr>
              <a:t>2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050" spc="-50">
                <a:solidFill>
                  <a:srgbClr val="365642"/>
                </a:solidFill>
                <a:latin typeface="Arial MT"/>
                <a:cs typeface="Arial MT"/>
              </a:rPr>
              <a:t>3</a:t>
            </a:r>
            <a:endParaRPr sz="2050">
              <a:latin typeface="Arial MT"/>
              <a:cs typeface="Arial MT"/>
            </a:endParaRPr>
          </a:p>
          <a:p>
            <a:pPr algn="just" marL="13335" marR="5715">
              <a:lnSpc>
                <a:spcPts val="2950"/>
              </a:lnSpc>
              <a:spcBef>
                <a:spcPts val="229"/>
              </a:spcBef>
            </a:pPr>
            <a:r>
              <a:rPr dirty="0" sz="2150" spc="-50" i="1">
                <a:solidFill>
                  <a:srgbClr val="2F2F2F"/>
                </a:solidFill>
                <a:latin typeface="Arial"/>
                <a:cs typeface="Arial"/>
              </a:rPr>
              <a:t>k </a:t>
            </a:r>
            <a:r>
              <a:rPr dirty="0" sz="2050" spc="-395">
                <a:solidFill>
                  <a:srgbClr val="181818"/>
                </a:solidFill>
                <a:latin typeface="Arial MT"/>
                <a:cs typeface="Arial MT"/>
              </a:rPr>
              <a:t>S</a:t>
            </a:r>
            <a:r>
              <a:rPr dirty="0" sz="2050" spc="-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1F1F1F"/>
                </a:solidFill>
                <a:latin typeface="Arial MT"/>
                <a:cs typeface="Arial MT"/>
              </a:rPr>
              <a:t>6</a:t>
            </a:r>
            <a:endParaRPr sz="205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360"/>
              </a:spcBef>
            </a:pPr>
            <a:r>
              <a:rPr dirty="0" sz="1950" spc="-50">
                <a:solidFill>
                  <a:srgbClr val="131313"/>
                </a:solidFill>
                <a:latin typeface="Arial MT"/>
                <a:cs typeface="Arial MT"/>
              </a:rPr>
              <a:t>7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25500" y="9000066"/>
            <a:ext cx="15854044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840710" algn="l"/>
              </a:tabLst>
            </a:pPr>
            <a:r>
              <a:rPr dirty="0" u="sng" sz="2050" spc="35">
                <a:solidFill>
                  <a:srgbClr val="313131"/>
                </a:solidFill>
                <a:uFill>
                  <a:solidFill>
                    <a:srgbClr val="344454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2050" spc="-50">
                <a:solidFill>
                  <a:srgbClr val="313131"/>
                </a:solidFill>
                <a:uFill>
                  <a:solidFill>
                    <a:srgbClr val="344454"/>
                  </a:solidFill>
                </a:uFill>
                <a:latin typeface="Arial MT"/>
                <a:cs typeface="Arial MT"/>
              </a:rPr>
              <a:t>8</a:t>
            </a:r>
            <a:r>
              <a:rPr dirty="0" u="sng" sz="2050">
                <a:solidFill>
                  <a:srgbClr val="313131"/>
                </a:solidFill>
                <a:uFill>
                  <a:solidFill>
                    <a:srgbClr val="344454"/>
                  </a:solidFill>
                </a:uFill>
                <a:latin typeface="Arial MT"/>
                <a:cs typeface="Arial MT"/>
              </a:rPr>
              <a:t>	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169044" y="5620808"/>
            <a:ext cx="19177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420">
                <a:solidFill>
                  <a:srgbClr val="363636"/>
                </a:solidFill>
                <a:latin typeface="Arial MT"/>
                <a:cs typeface="Arial MT"/>
              </a:rPr>
              <a:t>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994378" y="2066289"/>
            <a:ext cx="7639050" cy="249428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3300" spc="-10">
                <a:latin typeface="Arial MT"/>
                <a:cs typeface="Arial MT"/>
              </a:rPr>
              <a:t>Technical</a:t>
            </a:r>
            <a:r>
              <a:rPr dirty="0" sz="3300" spc="-200">
                <a:latin typeface="Arial MT"/>
                <a:cs typeface="Arial MT"/>
              </a:rPr>
              <a:t> </a:t>
            </a:r>
            <a:r>
              <a:rPr dirty="0" sz="3300" spc="40">
                <a:latin typeface="Arial MT"/>
                <a:cs typeface="Arial MT"/>
              </a:rPr>
              <a:t>Solution</a:t>
            </a:r>
            <a:endParaRPr sz="3300">
              <a:latin typeface="Arial MT"/>
              <a:cs typeface="Arial MT"/>
            </a:endParaRPr>
          </a:p>
          <a:p>
            <a:pPr marL="494665" marR="58419" indent="-288290">
              <a:lnSpc>
                <a:spcPct val="100000"/>
              </a:lnSpc>
              <a:spcBef>
                <a:spcPts val="990"/>
              </a:spcBef>
              <a:buChar char="•"/>
              <a:tabLst>
                <a:tab pos="494665" algn="l"/>
                <a:tab pos="505459" algn="l"/>
              </a:tabLst>
            </a:pP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165">
                <a:latin typeface="Arial MT"/>
                <a:cs typeface="Arial MT"/>
              </a:rPr>
              <a:t>Advanced</a:t>
            </a:r>
            <a:r>
              <a:rPr dirty="0" sz="2750" spc="-125">
                <a:latin typeface="Arial MT"/>
                <a:cs typeface="Arial MT"/>
              </a:rPr>
              <a:t> </a:t>
            </a:r>
            <a:r>
              <a:rPr dirty="0" sz="2750" spc="-240">
                <a:latin typeface="Arial MT"/>
                <a:cs typeface="Arial MT"/>
              </a:rPr>
              <a:t>IF</a:t>
            </a:r>
            <a:r>
              <a:rPr dirty="0" sz="2750" spc="-260">
                <a:latin typeface="Arial MT"/>
                <a:cs typeface="Arial MT"/>
              </a:rPr>
              <a:t> </a:t>
            </a:r>
            <a:r>
              <a:rPr dirty="0" sz="2750" spc="-40">
                <a:latin typeface="Arial MT"/>
                <a:cs typeface="Arial MT"/>
              </a:rPr>
              <a:t>logic</a:t>
            </a:r>
            <a:r>
              <a:rPr dirty="0" sz="2750" spc="50">
                <a:latin typeface="Arial MT"/>
                <a:cs typeface="Arial MT"/>
              </a:rPr>
              <a:t> </a:t>
            </a:r>
            <a:r>
              <a:rPr dirty="0" sz="2750" spc="-220">
                <a:latin typeface="Arial MT"/>
                <a:cs typeface="Arial MT"/>
              </a:rPr>
              <a:t>was</a:t>
            </a:r>
            <a:r>
              <a:rPr dirty="0" sz="2750" spc="-140">
                <a:latin typeface="Arial MT"/>
                <a:cs typeface="Arial MT"/>
              </a:rPr>
              <a:t> </a:t>
            </a:r>
            <a:r>
              <a:rPr dirty="0" sz="2750" spc="-65">
                <a:latin typeface="Arial MT"/>
                <a:cs typeface="Arial MT"/>
              </a:rPr>
              <a:t>nested</a:t>
            </a:r>
            <a:r>
              <a:rPr dirty="0" sz="2750" spc="-254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to</a:t>
            </a:r>
            <a:r>
              <a:rPr dirty="0" sz="2750" spc="-229">
                <a:latin typeface="Arial MT"/>
                <a:cs typeface="Arial MT"/>
              </a:rPr>
              <a:t> </a:t>
            </a:r>
            <a:r>
              <a:rPr dirty="0" sz="2750" spc="-90">
                <a:latin typeface="Arial MT"/>
                <a:cs typeface="Arial MT"/>
              </a:rPr>
              <a:t>create</a:t>
            </a:r>
            <a:r>
              <a:rPr dirty="0" sz="2750" spc="-135">
                <a:latin typeface="Arial MT"/>
                <a:cs typeface="Arial MT"/>
              </a:rPr>
              <a:t> </a:t>
            </a:r>
            <a:r>
              <a:rPr dirty="0" sz="2750" spc="-175">
                <a:latin typeface="Arial MT"/>
                <a:cs typeface="Arial MT"/>
              </a:rPr>
              <a:t>a</a:t>
            </a:r>
            <a:r>
              <a:rPr dirty="0" sz="2750" spc="-150">
                <a:latin typeface="Arial MT"/>
                <a:cs typeface="Arial MT"/>
              </a:rPr>
              <a:t> </a:t>
            </a:r>
            <a:r>
              <a:rPr dirty="0" sz="2750" spc="-70">
                <a:latin typeface="Arial MT"/>
                <a:cs typeface="Arial MT"/>
              </a:rPr>
              <a:t>formula- </a:t>
            </a:r>
            <a:r>
              <a:rPr dirty="0" sz="2750" spc="-125">
                <a:latin typeface="Arial MT"/>
                <a:cs typeface="Arial MT"/>
              </a:rPr>
              <a:t>based</a:t>
            </a:r>
            <a:r>
              <a:rPr dirty="0" sz="2750" spc="-120">
                <a:latin typeface="Arial MT"/>
                <a:cs typeface="Arial MT"/>
              </a:rPr>
              <a:t> </a:t>
            </a:r>
            <a:r>
              <a:rPr dirty="0" sz="2750" spc="-95">
                <a:latin typeface="Arial MT"/>
                <a:cs typeface="Arial MT"/>
              </a:rPr>
              <a:t>bonus </a:t>
            </a:r>
            <a:r>
              <a:rPr dirty="0" sz="2750" spc="-70">
                <a:latin typeface="Arial MT"/>
                <a:cs typeface="Arial MT"/>
              </a:rPr>
              <a:t>calculation</a:t>
            </a:r>
            <a:r>
              <a:rPr dirty="0" sz="2750" spc="-6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engine.</a:t>
            </a:r>
            <a:endParaRPr sz="2750">
              <a:latin typeface="Arial MT"/>
              <a:cs typeface="Arial MT"/>
            </a:endParaRPr>
          </a:p>
          <a:p>
            <a:pPr marL="496570" marR="5080" indent="-290195">
              <a:lnSpc>
                <a:spcPct val="101499"/>
              </a:lnSpc>
              <a:buChar char="•"/>
              <a:tabLst>
                <a:tab pos="503555" algn="l"/>
              </a:tabLst>
            </a:pPr>
            <a:r>
              <a:rPr dirty="0" sz="2750" spc="-135">
                <a:latin typeface="Arial MT"/>
                <a:cs typeface="Arial MT"/>
              </a:rPr>
              <a:t>The</a:t>
            </a:r>
            <a:r>
              <a:rPr dirty="0" sz="2750" spc="-24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structure</a:t>
            </a:r>
            <a:r>
              <a:rPr dirty="0" sz="2750" spc="-175">
                <a:latin typeface="Arial MT"/>
                <a:cs typeface="Arial MT"/>
              </a:rPr>
              <a:t> </a:t>
            </a:r>
            <a:r>
              <a:rPr dirty="0" sz="2750" spc="-35">
                <a:latin typeface="Arial MT"/>
                <a:cs typeface="Arial MT"/>
              </a:rPr>
              <a:t>is</a:t>
            </a:r>
            <a:r>
              <a:rPr dirty="0" sz="2750" spc="-254">
                <a:latin typeface="Arial MT"/>
                <a:cs typeface="Arial MT"/>
              </a:rPr>
              <a:t> </a:t>
            </a:r>
            <a:r>
              <a:rPr dirty="0" sz="2750" spc="-55">
                <a:latin typeface="Arial MT"/>
                <a:cs typeface="Arial MT"/>
              </a:rPr>
              <a:t>fully</a:t>
            </a:r>
            <a:r>
              <a:rPr dirty="0" sz="2750" spc="-135">
                <a:latin typeface="Arial MT"/>
                <a:cs typeface="Arial MT"/>
              </a:rPr>
              <a:t> </a:t>
            </a:r>
            <a:r>
              <a:rPr dirty="0" sz="2750" spc="-50">
                <a:latin typeface="Arial MT"/>
                <a:cs typeface="Arial MT"/>
              </a:rPr>
              <a:t>transparent</a:t>
            </a:r>
            <a:r>
              <a:rPr dirty="0" sz="2750" spc="95">
                <a:latin typeface="Arial MT"/>
                <a:cs typeface="Arial MT"/>
              </a:rPr>
              <a:t> </a:t>
            </a:r>
            <a:r>
              <a:rPr dirty="0" sz="2750" spc="-100">
                <a:latin typeface="Arial MT"/>
                <a:cs typeface="Arial MT"/>
              </a:rPr>
              <a:t>and</a:t>
            </a:r>
            <a:r>
              <a:rPr dirty="0" sz="2750" spc="-280">
                <a:latin typeface="Arial MT"/>
                <a:cs typeface="Arial MT"/>
              </a:rPr>
              <a:t> </a:t>
            </a:r>
            <a:r>
              <a:rPr dirty="0" sz="2750" spc="-95">
                <a:latin typeface="Arial MT"/>
                <a:cs typeface="Arial MT"/>
              </a:rPr>
              <a:t>audit-</a:t>
            </a:r>
            <a:r>
              <a:rPr dirty="0" sz="2750" spc="-65">
                <a:latin typeface="Arial MT"/>
                <a:cs typeface="Arial MT"/>
              </a:rPr>
              <a:t>ready, </a:t>
            </a:r>
            <a:r>
              <a:rPr dirty="0" sz="2750" spc="-65">
                <a:latin typeface="Arial MT"/>
                <a:cs typeface="Arial MT"/>
              </a:rPr>
              <a:t>	</a:t>
            </a:r>
            <a:r>
              <a:rPr dirty="0" sz="2750" spc="-10">
                <a:latin typeface="Arial MT"/>
                <a:cs typeface="Arial MT"/>
              </a:rPr>
              <a:t>with</a:t>
            </a:r>
            <a:r>
              <a:rPr dirty="0" sz="2750" spc="-240">
                <a:latin typeface="Arial MT"/>
                <a:cs typeface="Arial MT"/>
              </a:rPr>
              <a:t> </a:t>
            </a:r>
            <a:r>
              <a:rPr dirty="0" sz="2750" spc="-114">
                <a:latin typeface="Arial MT"/>
                <a:cs typeface="Arial MT"/>
              </a:rPr>
              <a:t>each</a:t>
            </a:r>
            <a:r>
              <a:rPr dirty="0" sz="2750" spc="-175">
                <a:latin typeface="Arial MT"/>
                <a:cs typeface="Arial MT"/>
              </a:rPr>
              <a:t> </a:t>
            </a:r>
            <a:r>
              <a:rPr dirty="0" sz="2750" spc="-65">
                <a:latin typeface="Arial MT"/>
                <a:cs typeface="Arial MT"/>
              </a:rPr>
              <a:t>step</a:t>
            </a:r>
            <a:r>
              <a:rPr dirty="0" sz="2750" spc="-145">
                <a:latin typeface="Arial MT"/>
                <a:cs typeface="Arial MT"/>
              </a:rPr>
              <a:t> </a:t>
            </a:r>
            <a:r>
              <a:rPr dirty="0" sz="2750" spc="-80">
                <a:latin typeface="Arial MT"/>
                <a:cs typeface="Arial MT"/>
              </a:rPr>
              <a:t>of</a:t>
            </a:r>
            <a:r>
              <a:rPr dirty="0" sz="2750" spc="-1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-215">
                <a:latin typeface="Arial MT"/>
                <a:cs typeface="Arial MT"/>
              </a:rPr>
              <a:t> </a:t>
            </a:r>
            <a:r>
              <a:rPr dirty="0" sz="2750" spc="-65">
                <a:latin typeface="Arial MT"/>
                <a:cs typeface="Arial MT"/>
              </a:rPr>
              <a:t>calculation</a:t>
            </a:r>
            <a:r>
              <a:rPr dirty="0" sz="2750" spc="-80">
                <a:latin typeface="Arial MT"/>
                <a:cs typeface="Arial MT"/>
              </a:rPr>
              <a:t> </a:t>
            </a:r>
            <a:r>
              <a:rPr dirty="0" sz="2750" spc="-65">
                <a:latin typeface="Arial MT"/>
                <a:cs typeface="Arial MT"/>
              </a:rPr>
              <a:t>clearly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-85">
                <a:latin typeface="Arial MT"/>
                <a:cs typeface="Arial MT"/>
              </a:rPr>
              <a:t>laid</a:t>
            </a:r>
            <a:r>
              <a:rPr dirty="0" sz="2750" spc="-25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out.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201870" y="5638447"/>
            <a:ext cx="16446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409">
                <a:solidFill>
                  <a:srgbClr val="4F775D"/>
                </a:solidFill>
                <a:latin typeface="Arial MT"/>
                <a:cs typeface="Arial MT"/>
              </a:rPr>
              <a:t>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312114" y="7109177"/>
            <a:ext cx="16256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95">
                <a:solidFill>
                  <a:srgbClr val="A88956"/>
                </a:solidFill>
                <a:latin typeface="Arial MT"/>
                <a:cs typeface="Arial MT"/>
              </a:rPr>
              <a:t>4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710925" y="5620808"/>
            <a:ext cx="16637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360">
                <a:solidFill>
                  <a:srgbClr val="161616"/>
                </a:solidFill>
                <a:latin typeface="Arial MT"/>
                <a:cs typeface="Arial MT"/>
              </a:rPr>
              <a:t>F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971384" y="5611988"/>
            <a:ext cx="20129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375">
                <a:solidFill>
                  <a:srgbClr val="131313"/>
                </a:solidFill>
                <a:latin typeface="Arial MT"/>
                <a:cs typeface="Arial MT"/>
              </a:rPr>
              <a:t>H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180384" y="6697133"/>
            <a:ext cx="3979545" cy="1371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8575">
              <a:lnSpc>
                <a:spcPts val="3440"/>
              </a:lnSpc>
              <a:spcBef>
                <a:spcPts val="114"/>
              </a:spcBef>
            </a:pPr>
            <a:r>
              <a:rPr dirty="0" sz="2900" spc="-110">
                <a:latin typeface="Arial MT"/>
                <a:cs typeface="Arial MT"/>
              </a:rPr>
              <a:t>=IF(B2=“High",</a:t>
            </a:r>
            <a:r>
              <a:rPr dirty="0" sz="2900" spc="-130">
                <a:latin typeface="Arial MT"/>
                <a:cs typeface="Arial MT"/>
              </a:rPr>
              <a:t> </a:t>
            </a:r>
            <a:r>
              <a:rPr dirty="0" sz="2900" spc="-65">
                <a:latin typeface="Arial MT"/>
                <a:cs typeface="Arial MT"/>
              </a:rPr>
              <a:t>C2*15%,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ts val="3670"/>
              </a:lnSpc>
            </a:pPr>
            <a:r>
              <a:rPr dirty="0" sz="3100" spc="-155">
                <a:latin typeface="Arial MT"/>
                <a:cs typeface="Arial MT"/>
              </a:rPr>
              <a:t>IF(B2-</a:t>
            </a:r>
            <a:r>
              <a:rPr dirty="0" sz="3100" spc="-165">
                <a:latin typeface="Arial MT"/>
                <a:cs typeface="Arial MT"/>
              </a:rPr>
              <a:t>“Medium”,</a:t>
            </a:r>
            <a:r>
              <a:rPr dirty="0" sz="3100" spc="-180">
                <a:latin typeface="Arial MT"/>
                <a:cs typeface="Arial MT"/>
              </a:rPr>
              <a:t> </a:t>
            </a:r>
            <a:r>
              <a:rPr dirty="0" sz="3100" spc="-330">
                <a:latin typeface="Arial MT"/>
                <a:cs typeface="Arial MT"/>
              </a:rPr>
              <a:t>C2*10%,</a:t>
            </a:r>
            <a:endParaRPr sz="3100">
              <a:latin typeface="Arial MT"/>
              <a:cs typeface="Arial MT"/>
            </a:endParaRPr>
          </a:p>
          <a:p>
            <a:pPr marL="18415">
              <a:lnSpc>
                <a:spcPts val="3470"/>
              </a:lnSpc>
            </a:pPr>
            <a:r>
              <a:rPr dirty="0" sz="2900" spc="-280">
                <a:latin typeface="Arial MT"/>
                <a:cs typeface="Arial MT"/>
              </a:rPr>
              <a:t>C2*5y"o))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6464300"/>
            <a:ext cx="2362200" cy="2146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4100" y="6375400"/>
            <a:ext cx="114300" cy="2222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5300" y="6565900"/>
            <a:ext cx="4064000" cy="1397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23800" y="6464300"/>
            <a:ext cx="3543300" cy="13081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155700" y="9340850"/>
            <a:ext cx="15138400" cy="0"/>
          </a:xfrm>
          <a:custGeom>
            <a:avLst/>
            <a:gdLst/>
            <a:ahLst/>
            <a:cxnLst/>
            <a:rect l="l" t="t" r="r" b="b"/>
            <a:pathLst>
              <a:path w="15138400" h="0">
                <a:moveTo>
                  <a:pt x="0" y="0"/>
                </a:moveTo>
                <a:lnTo>
                  <a:pt x="15138400" y="0"/>
                </a:lnTo>
              </a:path>
            </a:pathLst>
          </a:custGeom>
          <a:ln w="12700">
            <a:solidFill>
              <a:srgbClr val="9C8C6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00" y="5346700"/>
            <a:ext cx="12700" cy="381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" y="6896100"/>
            <a:ext cx="12700" cy="12827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3900" y="8851900"/>
            <a:ext cx="12700" cy="1143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3300" y="6057900"/>
            <a:ext cx="12700" cy="2413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3300" y="8216900"/>
            <a:ext cx="12700" cy="1778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78600" y="7391400"/>
            <a:ext cx="101600" cy="1397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89900" y="8521700"/>
            <a:ext cx="63500" cy="1270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04300" y="8521700"/>
            <a:ext cx="76200" cy="1270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938000" y="7607300"/>
            <a:ext cx="114300" cy="1143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738600" y="6019800"/>
            <a:ext cx="12700" cy="2159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738600" y="6477000"/>
            <a:ext cx="12700" cy="3429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938000" y="6781800"/>
            <a:ext cx="114300" cy="2032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23900" y="8394700"/>
            <a:ext cx="12700" cy="1651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03300" y="5715000"/>
            <a:ext cx="63500" cy="2921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738600" y="6896100"/>
            <a:ext cx="12700" cy="26670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4850" spc="90">
                <a:solidFill>
                  <a:srgbClr val="012D49"/>
                </a:solidFill>
              </a:rPr>
              <a:t>Uncovering</a:t>
            </a:r>
            <a:r>
              <a:rPr dirty="0" sz="4850" spc="-85">
                <a:solidFill>
                  <a:srgbClr val="012D49"/>
                </a:solidFill>
              </a:rPr>
              <a:t> </a:t>
            </a:r>
            <a:r>
              <a:rPr dirty="0" sz="4850">
                <a:solidFill>
                  <a:srgbClr val="032F50"/>
                </a:solidFill>
              </a:rPr>
              <a:t>Deeper</a:t>
            </a:r>
            <a:r>
              <a:rPr dirty="0" sz="4850" spc="-50">
                <a:solidFill>
                  <a:srgbClr val="032F50"/>
                </a:solidFill>
              </a:rPr>
              <a:t> </a:t>
            </a:r>
            <a:r>
              <a:rPr dirty="0" sz="4850" spc="165">
                <a:solidFill>
                  <a:srgbClr val="012846"/>
                </a:solidFill>
              </a:rPr>
              <a:t>Insights</a:t>
            </a:r>
            <a:r>
              <a:rPr dirty="0" sz="4850" spc="-85">
                <a:solidFill>
                  <a:srgbClr val="012846"/>
                </a:solidFill>
              </a:rPr>
              <a:t> </a:t>
            </a:r>
            <a:r>
              <a:rPr dirty="0" sz="4850" spc="295">
                <a:solidFill>
                  <a:srgbClr val="012D4D"/>
                </a:solidFill>
              </a:rPr>
              <a:t>with</a:t>
            </a:r>
            <a:r>
              <a:rPr dirty="0" sz="4850" spc="-390">
                <a:solidFill>
                  <a:srgbClr val="012D4D"/>
                </a:solidFill>
              </a:rPr>
              <a:t> </a:t>
            </a:r>
            <a:r>
              <a:rPr dirty="0" sz="4850" spc="200">
                <a:solidFill>
                  <a:srgbClr val="053354"/>
                </a:solidFill>
              </a:rPr>
              <a:t>Statistical</a:t>
            </a:r>
            <a:r>
              <a:rPr dirty="0" sz="4850" spc="20">
                <a:solidFill>
                  <a:srgbClr val="053354"/>
                </a:solidFill>
              </a:rPr>
              <a:t> </a:t>
            </a:r>
            <a:r>
              <a:rPr dirty="0" sz="4850" spc="-10">
                <a:solidFill>
                  <a:srgbClr val="032A46"/>
                </a:solidFill>
              </a:rPr>
              <a:t>Analysis</a:t>
            </a:r>
            <a:endParaRPr sz="4850"/>
          </a:p>
          <a:p>
            <a:pPr marL="20320">
              <a:lnSpc>
                <a:spcPct val="100000"/>
              </a:lnSpc>
              <a:spcBef>
                <a:spcPts val="880"/>
              </a:spcBef>
            </a:pPr>
            <a:r>
              <a:rPr dirty="0" sz="2950" spc="-55">
                <a:solidFill>
                  <a:srgbClr val="000000"/>
                </a:solidFill>
              </a:rPr>
              <a:t>Moving</a:t>
            </a:r>
            <a:r>
              <a:rPr dirty="0" sz="2950" spc="-155">
                <a:solidFill>
                  <a:srgbClr val="000000"/>
                </a:solidFill>
              </a:rPr>
              <a:t> </a:t>
            </a:r>
            <a:r>
              <a:rPr dirty="0" sz="2950" spc="-35">
                <a:solidFill>
                  <a:srgbClr val="000000"/>
                </a:solidFill>
              </a:rPr>
              <a:t>beyond</a:t>
            </a:r>
            <a:r>
              <a:rPr dirty="0" sz="2950" spc="-75">
                <a:solidFill>
                  <a:srgbClr val="000000"/>
                </a:solidFill>
              </a:rPr>
              <a:t> </a:t>
            </a:r>
            <a:r>
              <a:rPr dirty="0" sz="2950" spc="-225">
                <a:solidFill>
                  <a:srgbClr val="000000"/>
                </a:solidFill>
              </a:rPr>
              <a:t>KPIs</a:t>
            </a:r>
            <a:r>
              <a:rPr dirty="0" sz="2950" spc="-114">
                <a:solidFill>
                  <a:srgbClr val="000000"/>
                </a:solidFill>
              </a:rPr>
              <a:t> </a:t>
            </a:r>
            <a:r>
              <a:rPr dirty="0" sz="2950" spc="130">
                <a:solidFill>
                  <a:srgbClr val="000000"/>
                </a:solidFill>
              </a:rPr>
              <a:t>to</a:t>
            </a:r>
            <a:r>
              <a:rPr dirty="0" sz="2950" spc="-300">
                <a:solidFill>
                  <a:srgbClr val="000000"/>
                </a:solidFill>
              </a:rPr>
              <a:t> </a:t>
            </a:r>
            <a:r>
              <a:rPr dirty="0" sz="2950" spc="-25">
                <a:solidFill>
                  <a:srgbClr val="000000"/>
                </a:solidFill>
              </a:rPr>
              <a:t>understand</a:t>
            </a:r>
            <a:r>
              <a:rPr dirty="0" sz="2950" spc="-35">
                <a:solidFill>
                  <a:srgbClr val="000000"/>
                </a:solidFill>
              </a:rPr>
              <a:t> </a:t>
            </a:r>
            <a:r>
              <a:rPr dirty="0" sz="2950">
                <a:solidFill>
                  <a:srgbClr val="000000"/>
                </a:solidFill>
              </a:rPr>
              <a:t>distributions,</a:t>
            </a:r>
            <a:r>
              <a:rPr dirty="0" sz="2950" spc="-335">
                <a:solidFill>
                  <a:srgbClr val="000000"/>
                </a:solidFill>
              </a:rPr>
              <a:t> </a:t>
            </a:r>
            <a:r>
              <a:rPr dirty="0" sz="2950" spc="-25">
                <a:solidFill>
                  <a:srgbClr val="000000"/>
                </a:solidFill>
              </a:rPr>
              <a:t>correlations,</a:t>
            </a:r>
            <a:r>
              <a:rPr dirty="0" sz="2950" spc="90">
                <a:solidFill>
                  <a:srgbClr val="000000"/>
                </a:solidFill>
              </a:rPr>
              <a:t> </a:t>
            </a:r>
            <a:r>
              <a:rPr dirty="0" sz="2950" spc="-45">
                <a:solidFill>
                  <a:srgbClr val="000000"/>
                </a:solidFill>
              </a:rPr>
              <a:t>and</a:t>
            </a:r>
            <a:r>
              <a:rPr dirty="0" sz="2950" spc="-300">
                <a:solidFill>
                  <a:srgbClr val="000000"/>
                </a:solidFill>
              </a:rPr>
              <a:t> </a:t>
            </a:r>
            <a:r>
              <a:rPr dirty="0" sz="2950" spc="-10">
                <a:solidFill>
                  <a:srgbClr val="000000"/>
                </a:solidFill>
              </a:rPr>
              <a:t>trends.</a:t>
            </a:r>
            <a:endParaRPr sz="2950"/>
          </a:p>
        </p:txBody>
      </p:sp>
      <p:sp>
        <p:nvSpPr>
          <p:cNvPr id="54" name="object 5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114"/>
              <a:t>  </a:t>
            </a:r>
            <a:r>
              <a:rPr dirty="0" spc="-10"/>
              <a:t>NotebookLM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1003946" y="2395492"/>
            <a:ext cx="4067810" cy="1165225"/>
          </a:xfrm>
          <a:prstGeom prst="rect">
            <a:avLst/>
          </a:prstGeom>
        </p:spPr>
        <p:txBody>
          <a:bodyPr wrap="square" lIns="0" tIns="201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2700" spc="-245">
                <a:solidFill>
                  <a:srgbClr val="082A42"/>
                </a:solidFill>
                <a:latin typeface="Arial MT"/>
                <a:cs typeface="Arial MT"/>
              </a:rPr>
              <a:t>1.</a:t>
            </a:r>
            <a:r>
              <a:rPr dirty="0" sz="2700" spc="-45">
                <a:solidFill>
                  <a:srgbClr val="082A42"/>
                </a:solidFill>
                <a:latin typeface="Arial MT"/>
                <a:cs typeface="Arial MT"/>
              </a:rPr>
              <a:t> </a:t>
            </a:r>
            <a:r>
              <a:rPr dirty="0" sz="2700" spc="-80">
                <a:solidFill>
                  <a:srgbClr val="08233B"/>
                </a:solidFill>
                <a:latin typeface="Arial MT"/>
                <a:cs typeface="Arial MT"/>
              </a:rPr>
              <a:t>Salary</a:t>
            </a:r>
            <a:r>
              <a:rPr dirty="0" sz="2700" spc="-140">
                <a:solidFill>
                  <a:srgbClr val="08233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5233F"/>
                </a:solidFill>
                <a:latin typeface="Arial MT"/>
                <a:cs typeface="Arial MT"/>
              </a:rPr>
              <a:t>Distribution</a:t>
            </a:r>
            <a:endParaRPr sz="2700">
              <a:latin typeface="Arial MT"/>
              <a:cs typeface="Arial MT"/>
            </a:endParaRPr>
          </a:p>
          <a:p>
            <a:pPr marL="26670">
              <a:lnSpc>
                <a:spcPct val="100000"/>
              </a:lnSpc>
              <a:spcBef>
                <a:spcPts val="1360"/>
              </a:spcBef>
            </a:pPr>
            <a:r>
              <a:rPr dirty="0" sz="2400" spc="-10">
                <a:latin typeface="Arial MT"/>
                <a:cs typeface="Arial MT"/>
              </a:rPr>
              <a:t>Method: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 spc="-90">
                <a:latin typeface="Arial MT"/>
                <a:cs typeface="Arial MT"/>
              </a:rPr>
              <a:t>Histogram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200">
                <a:latin typeface="Arial MT"/>
                <a:cs typeface="Arial MT"/>
              </a:rPr>
              <a:t>&amp;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85">
                <a:latin typeface="Arial MT"/>
                <a:cs typeface="Arial MT"/>
              </a:rPr>
              <a:t>Box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65">
                <a:latin typeface="Arial MT"/>
                <a:cs typeface="Arial MT"/>
              </a:rPr>
              <a:t>Plots.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17583" y="3901369"/>
            <a:ext cx="4479290" cy="144843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7145" marR="5080" indent="-5080">
              <a:lnSpc>
                <a:spcPct val="97300"/>
              </a:lnSpc>
              <a:spcBef>
                <a:spcPts val="204"/>
              </a:spcBef>
            </a:pPr>
            <a:r>
              <a:rPr dirty="0" sz="2400" spc="-55">
                <a:latin typeface="Arial MT"/>
                <a:cs typeface="Arial MT"/>
              </a:rPr>
              <a:t>Purpose: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20">
                <a:latin typeface="Arial MT"/>
                <a:cs typeface="Arial MT"/>
              </a:rPr>
              <a:t>To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14">
                <a:latin typeface="Arial MT"/>
                <a:cs typeface="Arial MT"/>
              </a:rPr>
              <a:t>visualise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0">
                <a:latin typeface="Arial MT"/>
                <a:cs typeface="Arial MT"/>
              </a:rPr>
              <a:t>spread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 spc="-110">
                <a:latin typeface="Arial MT"/>
                <a:cs typeface="Arial MT"/>
              </a:rPr>
              <a:t>salaries,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identify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outliers,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350" spc="-45">
                <a:latin typeface="Arial MT"/>
                <a:cs typeface="Arial MT"/>
              </a:rPr>
              <a:t>understand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the</a:t>
            </a:r>
            <a:r>
              <a:rPr dirty="0" sz="2350" spc="-15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overall </a:t>
            </a:r>
            <a:r>
              <a:rPr dirty="0" sz="2350" spc="-60">
                <a:latin typeface="Arial MT"/>
                <a:cs typeface="Arial MT"/>
              </a:rPr>
              <a:t>compensation</a:t>
            </a:r>
            <a:r>
              <a:rPr dirty="0" sz="2350" spc="2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structure.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970899" y="5847644"/>
            <a:ext cx="280543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85">
                <a:solidFill>
                  <a:srgbClr val="05233D"/>
                </a:solidFill>
                <a:latin typeface="Arial MT"/>
                <a:cs typeface="Arial MT"/>
              </a:rPr>
              <a:t>Salary</a:t>
            </a:r>
            <a:r>
              <a:rPr dirty="0" sz="1800" spc="-60">
                <a:solidFill>
                  <a:srgbClr val="05233D"/>
                </a:solidFill>
                <a:latin typeface="Arial MT"/>
                <a:cs typeface="Arial MT"/>
              </a:rPr>
              <a:t> </a:t>
            </a:r>
            <a:r>
              <a:rPr dirty="0" sz="1800" spc="-30">
                <a:solidFill>
                  <a:srgbClr val="0E263F"/>
                </a:solidFill>
                <a:latin typeface="Arial MT"/>
                <a:cs typeface="Arial MT"/>
              </a:rPr>
              <a:t>Distribution</a:t>
            </a:r>
            <a:r>
              <a:rPr dirty="0" sz="1800" spc="-45">
                <a:solidFill>
                  <a:srgbClr val="0E263F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051A2A"/>
                </a:solidFill>
                <a:latin typeface="Arial MT"/>
                <a:cs typeface="Arial MT"/>
              </a:rPr>
              <a:t>Histogram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06927" y="8595430"/>
            <a:ext cx="36703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30">
                <a:latin typeface="Arial MT"/>
                <a:cs typeface="Arial MT"/>
              </a:rPr>
              <a:t>$40k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380072" y="8595430"/>
            <a:ext cx="36957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60">
                <a:latin typeface="Arial MT"/>
                <a:cs typeface="Arial MT"/>
              </a:rPr>
              <a:t>S60k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156327" y="8595430"/>
            <a:ext cx="36703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30">
                <a:latin typeface="Arial MT"/>
                <a:cs typeface="Arial MT"/>
              </a:rPr>
              <a:t>$80k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906198" y="8595430"/>
            <a:ext cx="3556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2095" algn="l"/>
              </a:tabLst>
            </a:pPr>
            <a:r>
              <a:rPr dirty="0" sz="1300" spc="-50">
                <a:solidFill>
                  <a:srgbClr val="131313"/>
                </a:solidFill>
                <a:latin typeface="Arial MT"/>
                <a:cs typeface="Arial MT"/>
              </a:rPr>
              <a:t>g</a:t>
            </a:r>
            <a:r>
              <a:rPr dirty="0" sz="1300">
                <a:solidFill>
                  <a:srgbClr val="131313"/>
                </a:solidFill>
                <a:latin typeface="Arial MT"/>
                <a:cs typeface="Arial MT"/>
              </a:rPr>
              <a:t>	</a:t>
            </a:r>
            <a:r>
              <a:rPr dirty="0" sz="1300" spc="-50">
                <a:solidFill>
                  <a:srgbClr val="131313"/>
                </a:solidFill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702781" y="8595430"/>
            <a:ext cx="43053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25">
                <a:latin typeface="Arial MT"/>
                <a:cs typeface="Arial MT"/>
              </a:rPr>
              <a:t>G120k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237556" y="8411280"/>
            <a:ext cx="52069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solidFill>
                  <a:srgbClr val="032F54"/>
                </a:solidFill>
                <a:latin typeface="Arial MT"/>
                <a:cs typeface="Arial MT"/>
              </a:rPr>
              <a:t>'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363225" y="2430963"/>
            <a:ext cx="4915535" cy="314769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305"/>
              </a:spcBef>
            </a:pPr>
            <a:r>
              <a:rPr dirty="0" sz="2700" spc="-55">
                <a:solidFill>
                  <a:srgbClr val="032441"/>
                </a:solidFill>
                <a:latin typeface="Arial MT"/>
                <a:cs typeface="Arial MT"/>
              </a:rPr>
              <a:t>2.</a:t>
            </a:r>
            <a:r>
              <a:rPr dirty="0" sz="2700" spc="-350">
                <a:solidFill>
                  <a:srgbClr val="032441"/>
                </a:solidFill>
                <a:latin typeface="Arial MT"/>
                <a:cs typeface="Arial MT"/>
              </a:rPr>
              <a:t> </a:t>
            </a:r>
            <a:r>
              <a:rPr dirty="0" sz="2700" spc="-35">
                <a:solidFill>
                  <a:srgbClr val="0A2338"/>
                </a:solidFill>
                <a:latin typeface="Arial MT"/>
                <a:cs typeface="Arial MT"/>
              </a:rPr>
              <a:t>Performance</a:t>
            </a:r>
            <a:r>
              <a:rPr dirty="0" sz="2700" spc="-85">
                <a:solidFill>
                  <a:srgbClr val="0A2338"/>
                </a:solidFill>
                <a:latin typeface="Arial MT"/>
                <a:cs typeface="Arial MT"/>
              </a:rPr>
              <a:t> </a:t>
            </a:r>
            <a:r>
              <a:rPr dirty="0" sz="2700" spc="-180">
                <a:solidFill>
                  <a:srgbClr val="012441"/>
                </a:solidFill>
                <a:latin typeface="Arial MT"/>
                <a:cs typeface="Arial MT"/>
              </a:rPr>
              <a:t>&amp;</a:t>
            </a:r>
            <a:r>
              <a:rPr dirty="0" sz="2700" spc="-270">
                <a:solidFill>
                  <a:srgbClr val="012441"/>
                </a:solidFill>
                <a:latin typeface="Arial MT"/>
                <a:cs typeface="Arial MT"/>
              </a:rPr>
              <a:t> </a:t>
            </a:r>
            <a:r>
              <a:rPr dirty="0" sz="2700" spc="-195">
                <a:solidFill>
                  <a:srgbClr val="052138"/>
                </a:solidFill>
                <a:latin typeface="Arial MT"/>
                <a:cs typeface="Arial MT"/>
              </a:rPr>
              <a:t>Pay</a:t>
            </a:r>
            <a:r>
              <a:rPr dirty="0" sz="2700" spc="-185">
                <a:solidFill>
                  <a:srgbClr val="05213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8233F"/>
                </a:solidFill>
                <a:latin typeface="Arial MT"/>
                <a:cs typeface="Arial MT"/>
              </a:rPr>
              <a:t>Correlation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2985"/>
              </a:lnSpc>
              <a:spcBef>
                <a:spcPts val="1210"/>
              </a:spcBef>
            </a:pPr>
            <a:r>
              <a:rPr dirty="0" sz="2600" spc="-135">
                <a:latin typeface="Arial MT"/>
                <a:cs typeface="Arial MT"/>
              </a:rPr>
              <a:t>Method: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85">
                <a:latin typeface="Arial MT"/>
                <a:cs typeface="Arial MT"/>
              </a:rPr>
              <a:t>Scatter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80">
                <a:latin typeface="Arial MT"/>
                <a:cs typeface="Arial MT"/>
              </a:rPr>
              <a:t>Plot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335">
                <a:latin typeface="Arial MT"/>
                <a:cs typeface="Arial MT"/>
              </a:rPr>
              <a:t>&amp;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484">
                <a:latin typeface="Arial MT"/>
                <a:cs typeface="Arial MT"/>
              </a:rPr>
              <a:t>CORREL</a:t>
            </a:r>
            <a:endParaRPr sz="2600">
              <a:latin typeface="Arial MT"/>
              <a:cs typeface="Arial MT"/>
            </a:endParaRPr>
          </a:p>
          <a:p>
            <a:pPr marL="21590">
              <a:lnSpc>
                <a:spcPts val="2865"/>
              </a:lnSpc>
            </a:pPr>
            <a:r>
              <a:rPr dirty="0" sz="2500" spc="-10">
                <a:latin typeface="Arial MT"/>
                <a:cs typeface="Arial MT"/>
              </a:rPr>
              <a:t>function.</a:t>
            </a:r>
            <a:endParaRPr sz="2500">
              <a:latin typeface="Arial MT"/>
              <a:cs typeface="Arial MT"/>
            </a:endParaRPr>
          </a:p>
          <a:p>
            <a:pPr marL="17145" marR="219075" indent="-4445">
              <a:lnSpc>
                <a:spcPct val="96400"/>
              </a:lnSpc>
              <a:spcBef>
                <a:spcPts val="1910"/>
              </a:spcBef>
            </a:pPr>
            <a:r>
              <a:rPr dirty="0" sz="2500" spc="-110">
                <a:latin typeface="Arial MT"/>
                <a:cs typeface="Arial MT"/>
              </a:rPr>
              <a:t>Purpose: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80">
                <a:latin typeface="Arial MT"/>
                <a:cs typeface="Arial MT"/>
              </a:rPr>
              <a:t>To</a:t>
            </a:r>
            <a:r>
              <a:rPr dirty="0" sz="2500" spc="-80">
                <a:latin typeface="Arial MT"/>
                <a:cs typeface="Arial MT"/>
              </a:rPr>
              <a:t> statistically</a:t>
            </a:r>
            <a:r>
              <a:rPr dirty="0" sz="2500" spc="15">
                <a:latin typeface="Arial MT"/>
                <a:cs typeface="Arial MT"/>
              </a:rPr>
              <a:t> </a:t>
            </a:r>
            <a:r>
              <a:rPr dirty="0" sz="2500" spc="-140">
                <a:latin typeface="Arial MT"/>
                <a:cs typeface="Arial MT"/>
              </a:rPr>
              <a:t>evaluate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60">
                <a:latin typeface="Arial MT"/>
                <a:cs typeface="Arial MT"/>
              </a:rPr>
              <a:t>the </a:t>
            </a:r>
            <a:r>
              <a:rPr dirty="0" sz="2400" spc="-100">
                <a:latin typeface="Arial MT"/>
                <a:cs typeface="Arial MT"/>
              </a:rPr>
              <a:t>alignment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between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employee </a:t>
            </a:r>
            <a:r>
              <a:rPr dirty="0" sz="2400" spc="-70">
                <a:latin typeface="Arial MT"/>
                <a:cs typeface="Arial MT"/>
              </a:rPr>
              <a:t>performance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ratings </a:t>
            </a:r>
            <a:r>
              <a:rPr dirty="0" sz="2400" spc="-145">
                <a:latin typeface="Arial MT"/>
                <a:cs typeface="Arial MT"/>
              </a:rPr>
              <a:t>and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their </a:t>
            </a:r>
            <a:r>
              <a:rPr dirty="0" sz="2350" spc="-50">
                <a:latin typeface="Arial MT"/>
                <a:cs typeface="Arial MT"/>
              </a:rPr>
              <a:t>corresponding</a:t>
            </a:r>
            <a:r>
              <a:rPr dirty="0" sz="2350" spc="-10">
                <a:latin typeface="Arial MT"/>
                <a:cs typeface="Arial MT"/>
              </a:rPr>
              <a:t> salaries.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759798" y="6103761"/>
            <a:ext cx="36449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0">
                <a:solidFill>
                  <a:srgbClr val="181818"/>
                </a:solidFill>
                <a:latin typeface="Times New Roman"/>
                <a:cs typeface="Times New Roman"/>
              </a:rPr>
              <a:t>$100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835067" y="6911622"/>
            <a:ext cx="2908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45">
                <a:latin typeface="Times New Roman"/>
                <a:cs typeface="Times New Roman"/>
              </a:rPr>
              <a:t>$60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835998" y="8161160"/>
            <a:ext cx="29019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1C1C1C"/>
                </a:solidFill>
                <a:latin typeface="Times New Roman"/>
                <a:cs typeface="Times New Roman"/>
              </a:rPr>
              <a:t>$00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148562" y="8462080"/>
            <a:ext cx="768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315">
                <a:solidFill>
                  <a:srgbClr val="0F0F0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755388" y="5856463"/>
            <a:ext cx="1955164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20">
                <a:solidFill>
                  <a:srgbClr val="0A243F"/>
                </a:solidFill>
                <a:latin typeface="Arial MT"/>
                <a:cs typeface="Arial MT"/>
              </a:rPr>
              <a:t>Performance</a:t>
            </a:r>
            <a:r>
              <a:rPr dirty="0" sz="1700" spc="5">
                <a:solidFill>
                  <a:srgbClr val="0A243F"/>
                </a:solidFill>
                <a:latin typeface="Arial MT"/>
                <a:cs typeface="Arial MT"/>
              </a:rPr>
              <a:t> </a:t>
            </a:r>
            <a:r>
              <a:rPr dirty="0" sz="1700" spc="-35">
                <a:solidFill>
                  <a:srgbClr val="161616"/>
                </a:solidFill>
                <a:latin typeface="Arial MT"/>
                <a:cs typeface="Arial MT"/>
              </a:rPr>
              <a:t>vs.</a:t>
            </a:r>
            <a:r>
              <a:rPr dirty="0" sz="1700" spc="-2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700" spc="-25">
                <a:solidFill>
                  <a:srgbClr val="082136"/>
                </a:solidFill>
                <a:latin typeface="Arial MT"/>
                <a:cs typeface="Arial MT"/>
              </a:rPr>
              <a:t>Pay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720291" y="8001000"/>
            <a:ext cx="108839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5">
                <a:solidFill>
                  <a:srgbClr val="2A2A2A"/>
                </a:solidFill>
                <a:latin typeface="Arial MT"/>
                <a:cs typeface="Arial MT"/>
              </a:rPr>
              <a:t>C0R9EL</a:t>
            </a:r>
            <a:r>
              <a:rPr dirty="0" sz="1250" spc="-2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647075"/>
                </a:solidFill>
                <a:latin typeface="Arial MT"/>
                <a:cs typeface="Arial MT"/>
              </a:rPr>
              <a:t>=</a:t>
            </a:r>
            <a:r>
              <a:rPr dirty="0" sz="1250" spc="-85">
                <a:solidFill>
                  <a:srgbClr val="647075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232323"/>
                </a:solidFill>
                <a:latin typeface="Arial MT"/>
                <a:cs typeface="Arial MT"/>
              </a:rPr>
              <a:t>0.45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8166551" y="8680450"/>
            <a:ext cx="173863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0">
                <a:solidFill>
                  <a:srgbClr val="1C1C1C"/>
                </a:solidFill>
                <a:latin typeface="Arial MT"/>
                <a:cs typeface="Arial MT"/>
              </a:rPr>
              <a:t>Performance</a:t>
            </a:r>
            <a:r>
              <a:rPr dirty="0" sz="1250" spc="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250" spc="-65">
                <a:solidFill>
                  <a:srgbClr val="131313"/>
                </a:solidFill>
                <a:latin typeface="Arial MT"/>
                <a:cs typeface="Arial MT"/>
              </a:rPr>
              <a:t>I2eting</a:t>
            </a:r>
            <a:r>
              <a:rPr dirty="0" sz="12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250" spc="-35">
                <a:solidFill>
                  <a:srgbClr val="161616"/>
                </a:solidFill>
                <a:latin typeface="Arial MT"/>
                <a:cs typeface="Arial MT"/>
              </a:rPr>
              <a:t>(J-5)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9916571" y="8462080"/>
            <a:ext cx="1098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838846" y="8462080"/>
            <a:ext cx="11303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solidFill>
                  <a:srgbClr val="444444"/>
                </a:solidFill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837581" y="2413247"/>
            <a:ext cx="2981960" cy="115125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95"/>
              </a:spcBef>
            </a:pPr>
            <a:r>
              <a:rPr dirty="0" sz="2750" spc="-55">
                <a:solidFill>
                  <a:srgbClr val="052441"/>
                </a:solidFill>
                <a:latin typeface="Arial MT"/>
                <a:cs typeface="Arial MT"/>
              </a:rPr>
              <a:t>3.</a:t>
            </a:r>
            <a:r>
              <a:rPr dirty="0" sz="2750" spc="-265">
                <a:solidFill>
                  <a:srgbClr val="052441"/>
                </a:solidFill>
                <a:latin typeface="Arial MT"/>
                <a:cs typeface="Arial MT"/>
              </a:rPr>
              <a:t> </a:t>
            </a:r>
            <a:r>
              <a:rPr dirty="0" sz="2750" spc="-80">
                <a:solidFill>
                  <a:srgbClr val="052B49"/>
                </a:solidFill>
                <a:latin typeface="Arial MT"/>
                <a:cs typeface="Arial MT"/>
              </a:rPr>
              <a:t>Workforce</a:t>
            </a:r>
            <a:r>
              <a:rPr dirty="0" sz="2750" spc="-45">
                <a:solidFill>
                  <a:srgbClr val="052B49"/>
                </a:solidFill>
                <a:latin typeface="Arial MT"/>
                <a:cs typeface="Arial MT"/>
              </a:rPr>
              <a:t> </a:t>
            </a:r>
            <a:r>
              <a:rPr dirty="0" sz="2750" spc="-85">
                <a:solidFill>
                  <a:srgbClr val="031F38"/>
                </a:solidFill>
                <a:latin typeface="Arial MT"/>
                <a:cs typeface="Arial MT"/>
              </a:rPr>
              <a:t>Trends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550" spc="-105">
                <a:latin typeface="Arial MT"/>
                <a:cs typeface="Arial MT"/>
              </a:rPr>
              <a:t>Method:</a:t>
            </a:r>
            <a:r>
              <a:rPr dirty="0" sz="2550" spc="-195">
                <a:latin typeface="Arial MT"/>
                <a:cs typeface="Arial MT"/>
              </a:rPr>
              <a:t> </a:t>
            </a:r>
            <a:r>
              <a:rPr dirty="0" sz="2550" spc="-165">
                <a:latin typeface="Arial MT"/>
                <a:cs typeface="Arial MT"/>
              </a:rPr>
              <a:t>Line</a:t>
            </a:r>
            <a:r>
              <a:rPr dirty="0" sz="2550" spc="-80">
                <a:latin typeface="Arial MT"/>
                <a:cs typeface="Arial MT"/>
              </a:rPr>
              <a:t> </a:t>
            </a:r>
            <a:r>
              <a:rPr dirty="0" sz="2550" spc="-20">
                <a:latin typeface="Arial MT"/>
                <a:cs typeface="Arial MT"/>
              </a:rPr>
              <a:t>Charts.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1837303" y="3886200"/>
            <a:ext cx="4260215" cy="11112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5875" marR="5080" indent="-3810">
              <a:lnSpc>
                <a:spcPct val="92500"/>
              </a:lnSpc>
              <a:spcBef>
                <a:spcPts val="325"/>
              </a:spcBef>
            </a:pPr>
            <a:r>
              <a:rPr dirty="0" sz="2500" spc="-120">
                <a:latin typeface="Arial MT"/>
                <a:cs typeface="Arial MT"/>
              </a:rPr>
              <a:t>Purpose: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80">
                <a:latin typeface="Arial MT"/>
                <a:cs typeface="Arial MT"/>
              </a:rPr>
              <a:t>To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165">
                <a:latin typeface="Arial MT"/>
                <a:cs typeface="Arial MT"/>
              </a:rPr>
              <a:t>analyse</a:t>
            </a:r>
            <a:r>
              <a:rPr dirty="0" sz="2500" spc="40">
                <a:latin typeface="Arial MT"/>
                <a:cs typeface="Arial MT"/>
              </a:rPr>
              <a:t> </a:t>
            </a:r>
            <a:r>
              <a:rPr dirty="0" sz="2500" spc="-65">
                <a:latin typeface="Arial MT"/>
                <a:cs typeface="Arial MT"/>
              </a:rPr>
              <a:t>employee </a:t>
            </a:r>
            <a:r>
              <a:rPr dirty="0" sz="2500" spc="-120">
                <a:latin typeface="Arial MT"/>
                <a:cs typeface="Arial MT"/>
              </a:rPr>
              <a:t>headcount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75">
                <a:latin typeface="Arial MT"/>
                <a:cs typeface="Arial MT"/>
              </a:rPr>
              <a:t>and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35">
                <a:latin typeface="Arial MT"/>
                <a:cs typeface="Arial MT"/>
              </a:rPr>
              <a:t>salary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120">
                <a:latin typeface="Arial MT"/>
                <a:cs typeface="Arial MT"/>
              </a:rPr>
              <a:t>trends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over </a:t>
            </a:r>
            <a:r>
              <a:rPr dirty="0" sz="2500" spc="-10">
                <a:latin typeface="Arial MT"/>
                <a:cs typeface="Arial MT"/>
              </a:rPr>
              <a:t>time.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1890120" y="6732058"/>
            <a:ext cx="179070" cy="946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50" spc="-520">
                <a:solidFill>
                  <a:srgbClr val="161616"/>
                </a:solidFill>
                <a:latin typeface="Times New Roman"/>
                <a:cs typeface="Times New Roman"/>
              </a:rPr>
              <a:t>i</a:t>
            </a:r>
            <a:endParaRPr sz="60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2084852" y="6112580"/>
            <a:ext cx="28575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5">
                <a:latin typeface="Arial MT"/>
                <a:cs typeface="Arial MT"/>
              </a:rPr>
              <a:t>100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2154852" y="6530622"/>
            <a:ext cx="217804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5">
                <a:solidFill>
                  <a:srgbClr val="282828"/>
                </a:solidFill>
                <a:latin typeface="Times New Roman"/>
                <a:cs typeface="Times New Roman"/>
              </a:rPr>
              <a:t>80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2158262" y="6975122"/>
            <a:ext cx="2139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5">
                <a:solidFill>
                  <a:srgbClr val="1F1F1F"/>
                </a:solidFill>
                <a:latin typeface="Times New Roman"/>
                <a:cs typeface="Times New Roman"/>
              </a:rPr>
              <a:t>60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2147245" y="7415741"/>
            <a:ext cx="23876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25">
                <a:solidFill>
                  <a:srgbClr val="131313"/>
                </a:solidFill>
                <a:latin typeface="Courier New"/>
                <a:cs typeface="Courier New"/>
              </a:rPr>
              <a:t>40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2174335" y="7877880"/>
            <a:ext cx="1987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5"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2248912" y="8318500"/>
            <a:ext cx="1079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0">
                <a:solidFill>
                  <a:srgbClr val="313131"/>
                </a:solidFill>
                <a:latin typeface="Arial MT"/>
                <a:cs typeface="Arial MT"/>
              </a:rPr>
              <a:t>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2768668" y="5821186"/>
            <a:ext cx="265176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220">
                <a:solidFill>
                  <a:srgbClr val="1C1C1C"/>
                </a:solidFill>
                <a:latin typeface="Arial MT"/>
                <a:cs typeface="Arial MT"/>
              </a:rPr>
              <a:t>Employee</a:t>
            </a:r>
            <a:r>
              <a:rPr dirty="0" sz="2000" spc="-6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00" spc="-195">
                <a:solidFill>
                  <a:srgbClr val="0F2844"/>
                </a:solidFill>
                <a:latin typeface="Arial MT"/>
                <a:cs typeface="Arial MT"/>
              </a:rPr>
              <a:t>Headcount</a:t>
            </a:r>
            <a:r>
              <a:rPr dirty="0" sz="2000" spc="35">
                <a:solidFill>
                  <a:srgbClr val="0F2844"/>
                </a:solidFill>
                <a:latin typeface="Arial MT"/>
                <a:cs typeface="Arial MT"/>
              </a:rPr>
              <a:t> </a:t>
            </a:r>
            <a:r>
              <a:rPr dirty="0" sz="2000" spc="-135">
                <a:solidFill>
                  <a:srgbClr val="05233D"/>
                </a:solidFill>
                <a:latin typeface="Arial MT"/>
                <a:cs typeface="Arial MT"/>
              </a:rPr>
              <a:t>Trend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4813381" y="7277100"/>
            <a:ext cx="135509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2A2A2A"/>
                </a:solidFill>
                <a:latin typeface="Calibri"/>
                <a:cs typeface="Calibri"/>
              </a:rPr>
              <a:t>Continuous</a:t>
            </a:r>
            <a:r>
              <a:rPr dirty="0" sz="1250" spc="31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11111"/>
                </a:solidFill>
                <a:latin typeface="Calibri"/>
                <a:cs typeface="Calibri"/>
              </a:rPr>
              <a:t>Growth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2478613" y="8444441"/>
            <a:ext cx="3677285" cy="425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9060">
              <a:lnSpc>
                <a:spcPts val="1570"/>
              </a:lnSpc>
              <a:spcBef>
                <a:spcPts val="105"/>
              </a:spcBef>
              <a:tabLst>
                <a:tab pos="568960" algn="l"/>
                <a:tab pos="1051560" algn="l"/>
                <a:tab pos="1532890" algn="l"/>
                <a:tab pos="2028189" algn="l"/>
                <a:tab pos="2498090" algn="l"/>
                <a:tab pos="2981960" algn="l"/>
                <a:tab pos="3451860" algn="l"/>
              </a:tabLst>
            </a:pPr>
            <a:r>
              <a:rPr dirty="0" sz="1450" spc="-25">
                <a:latin typeface="Arial MT"/>
                <a:cs typeface="Arial MT"/>
              </a:rPr>
              <a:t>01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02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solidFill>
                  <a:srgbClr val="333333"/>
                </a:solidFill>
                <a:latin typeface="Arial MT"/>
                <a:cs typeface="Arial MT"/>
              </a:rPr>
              <a:t>03</a:t>
            </a:r>
            <a:r>
              <a:rPr dirty="0" sz="1450">
                <a:solidFill>
                  <a:srgbClr val="333333"/>
                </a:solidFill>
                <a:latin typeface="Arial MT"/>
                <a:cs typeface="Arial MT"/>
              </a:rPr>
              <a:t>	</a:t>
            </a:r>
            <a:r>
              <a:rPr dirty="0" sz="1450" spc="-25">
                <a:solidFill>
                  <a:srgbClr val="0C0C0C"/>
                </a:solidFill>
                <a:latin typeface="Arial MT"/>
                <a:cs typeface="Arial MT"/>
              </a:rPr>
              <a:t>O4</a:t>
            </a:r>
            <a:r>
              <a:rPr dirty="0" sz="1450">
                <a:solidFill>
                  <a:srgbClr val="0C0C0C"/>
                </a:solidFill>
                <a:latin typeface="Arial MT"/>
                <a:cs typeface="Arial MT"/>
              </a:rPr>
              <a:t>	</a:t>
            </a:r>
            <a:r>
              <a:rPr dirty="0" sz="1450" spc="-25">
                <a:solidFill>
                  <a:srgbClr val="212121"/>
                </a:solidFill>
                <a:latin typeface="Arial MT"/>
                <a:cs typeface="Arial MT"/>
              </a:rPr>
              <a:t>O\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dirty="0" sz="1450" spc="-25">
                <a:latin typeface="Arial MT"/>
                <a:cs typeface="Arial MT"/>
              </a:rPr>
              <a:t>O2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5">
                <a:solidFill>
                  <a:srgbClr val="313131"/>
                </a:solidFill>
                <a:latin typeface="Arial MT"/>
                <a:cs typeface="Arial MT"/>
              </a:rPr>
              <a:t>03</a:t>
            </a:r>
            <a:r>
              <a:rPr dirty="0" sz="1450">
                <a:solidFill>
                  <a:srgbClr val="313131"/>
                </a:solidFill>
                <a:latin typeface="Arial MT"/>
                <a:cs typeface="Arial MT"/>
              </a:rPr>
              <a:t>	</a:t>
            </a:r>
            <a:r>
              <a:rPr dirty="0" sz="1450" spc="-114">
                <a:latin typeface="Arial MT"/>
                <a:cs typeface="Arial MT"/>
              </a:rPr>
              <a:t>Q4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570"/>
              </a:lnSpc>
              <a:tabLst>
                <a:tab pos="1942464" algn="l"/>
              </a:tabLst>
            </a:pPr>
            <a:r>
              <a:rPr dirty="0" sz="1450" spc="-20">
                <a:latin typeface="Arial MT"/>
                <a:cs typeface="Arial MT"/>
              </a:rPr>
              <a:t>2023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20">
                <a:latin typeface="Arial MT"/>
                <a:cs typeface="Arial MT"/>
              </a:rPr>
              <a:t>2023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8100" y="5613400"/>
            <a:ext cx="1358900" cy="2451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0" y="5473700"/>
            <a:ext cx="1536700" cy="1549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2500" y="5842000"/>
            <a:ext cx="355600" cy="1155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4800" y="5715000"/>
            <a:ext cx="368300" cy="12827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77100" y="5638800"/>
            <a:ext cx="368300" cy="1358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83300" y="3238500"/>
            <a:ext cx="812800" cy="1524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19800" y="5651500"/>
            <a:ext cx="990600" cy="134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23200" y="2349500"/>
            <a:ext cx="1739900" cy="1778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00600" y="7086600"/>
            <a:ext cx="2806700" cy="1524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702800" y="3124200"/>
            <a:ext cx="4356100" cy="3429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13700" y="4343400"/>
            <a:ext cx="101600" cy="4064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642600" y="4203700"/>
            <a:ext cx="431800" cy="3937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88600" y="5676900"/>
            <a:ext cx="368300" cy="5207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855200" y="3835400"/>
            <a:ext cx="3098800" cy="2032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05300" y="3454400"/>
            <a:ext cx="4457700" cy="4572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114800" y="5422900"/>
            <a:ext cx="419100" cy="1016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911600" y="6337300"/>
            <a:ext cx="622300" cy="1016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165600" y="6642100"/>
            <a:ext cx="368300" cy="1016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29100" y="6946900"/>
            <a:ext cx="304800" cy="1016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067800" y="5486400"/>
            <a:ext cx="292100" cy="4064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93500" y="4495800"/>
            <a:ext cx="2298700" cy="11430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937000" y="6019800"/>
            <a:ext cx="596900" cy="152400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5559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90"/>
              </a:spcBef>
            </a:pPr>
            <a:r>
              <a:rPr dirty="0" spc="-120">
                <a:solidFill>
                  <a:srgbClr val="072A4F"/>
                </a:solidFill>
              </a:rPr>
              <a:t>The</a:t>
            </a:r>
            <a:r>
              <a:rPr dirty="0" spc="-475">
                <a:solidFill>
                  <a:srgbClr val="072A4F"/>
                </a:solidFill>
              </a:rPr>
              <a:t> </a:t>
            </a:r>
            <a:r>
              <a:rPr dirty="0" spc="-20">
                <a:solidFill>
                  <a:srgbClr val="053159"/>
                </a:solidFill>
              </a:rPr>
              <a:t>Result:</a:t>
            </a:r>
            <a:r>
              <a:rPr dirty="0" spc="-35">
                <a:solidFill>
                  <a:srgbClr val="053159"/>
                </a:solidFill>
              </a:rPr>
              <a:t> </a:t>
            </a:r>
            <a:r>
              <a:rPr dirty="0" spc="-155">
                <a:solidFill>
                  <a:srgbClr val="032A4F"/>
                </a:solidFill>
              </a:rPr>
              <a:t>An</a:t>
            </a:r>
            <a:r>
              <a:rPr dirty="0" spc="-685">
                <a:solidFill>
                  <a:srgbClr val="032A4F"/>
                </a:solidFill>
              </a:rPr>
              <a:t> </a:t>
            </a:r>
            <a:r>
              <a:rPr dirty="0"/>
              <a:t>Interactive</a:t>
            </a:r>
            <a:r>
              <a:rPr dirty="0" spc="-290"/>
              <a:t> </a:t>
            </a:r>
            <a:r>
              <a:rPr dirty="0" spc="-525">
                <a:solidFill>
                  <a:srgbClr val="032A52"/>
                </a:solidFill>
              </a:rPr>
              <a:t>HR</a:t>
            </a:r>
            <a:r>
              <a:rPr dirty="0" spc="-260">
                <a:solidFill>
                  <a:srgbClr val="032A52"/>
                </a:solidFill>
              </a:rPr>
              <a:t> </a:t>
            </a:r>
            <a:r>
              <a:rPr dirty="0" spc="-70">
                <a:solidFill>
                  <a:srgbClr val="032D54"/>
                </a:solidFill>
              </a:rPr>
              <a:t>&amp;</a:t>
            </a:r>
            <a:r>
              <a:rPr dirty="0" spc="-735">
                <a:solidFill>
                  <a:srgbClr val="032D54"/>
                </a:solidFill>
              </a:rPr>
              <a:t> </a:t>
            </a:r>
            <a:r>
              <a:rPr dirty="0" spc="-75">
                <a:solidFill>
                  <a:srgbClr val="0A345B"/>
                </a:solidFill>
              </a:rPr>
              <a:t>Payroll</a:t>
            </a:r>
            <a:r>
              <a:rPr dirty="0" spc="-455">
                <a:solidFill>
                  <a:srgbClr val="0A345B"/>
                </a:solidFill>
              </a:rPr>
              <a:t> </a:t>
            </a:r>
            <a:r>
              <a:rPr dirty="0" spc="-55">
                <a:solidFill>
                  <a:srgbClr val="05284B"/>
                </a:solidFill>
              </a:rPr>
              <a:t>Executive</a:t>
            </a:r>
            <a:r>
              <a:rPr dirty="0" spc="-240">
                <a:solidFill>
                  <a:srgbClr val="05284B"/>
                </a:solidFill>
              </a:rPr>
              <a:t> </a:t>
            </a:r>
            <a:r>
              <a:rPr dirty="0" spc="-10">
                <a:solidFill>
                  <a:srgbClr val="082B4F"/>
                </a:solidFill>
              </a:rPr>
              <a:t>Dashboard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759380" y="2086327"/>
            <a:ext cx="2472690" cy="65659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 indent="2540">
              <a:lnSpc>
                <a:spcPts val="2300"/>
              </a:lnSpc>
              <a:spcBef>
                <a:spcPts val="480"/>
              </a:spcBef>
            </a:pPr>
            <a:r>
              <a:rPr dirty="0" sz="2200" spc="-95">
                <a:latin typeface="Arial MT"/>
                <a:cs typeface="Arial MT"/>
              </a:rPr>
              <a:t>At-</a:t>
            </a:r>
            <a:r>
              <a:rPr dirty="0" sz="2200" spc="-100">
                <a:latin typeface="Arial MT"/>
                <a:cs typeface="Arial MT"/>
              </a:rPr>
              <a:t>a-</a:t>
            </a:r>
            <a:r>
              <a:rPr dirty="0" sz="2200" spc="-105">
                <a:latin typeface="Arial MT"/>
                <a:cs typeface="Arial MT"/>
              </a:rPr>
              <a:t>glance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4">
                <a:latin typeface="Arial MT"/>
                <a:cs typeface="Arial MT"/>
              </a:rPr>
              <a:t>KPI</a:t>
            </a:r>
            <a:r>
              <a:rPr dirty="0" sz="2200" spc="-160">
                <a:latin typeface="Arial MT"/>
                <a:cs typeface="Arial MT"/>
              </a:rPr>
              <a:t> </a:t>
            </a:r>
            <a:r>
              <a:rPr dirty="0" sz="2200" spc="-120">
                <a:latin typeface="Arial MT"/>
                <a:cs typeface="Arial MT"/>
              </a:rPr>
              <a:t>Cards </a:t>
            </a:r>
            <a:r>
              <a:rPr dirty="0" sz="2200" spc="-95">
                <a:latin typeface="Arial MT"/>
                <a:cs typeface="Arial MT"/>
              </a:rPr>
              <a:t>for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45">
                <a:latin typeface="Arial MT"/>
                <a:cs typeface="Arial MT"/>
              </a:rPr>
              <a:t>critical</a:t>
            </a:r>
            <a:r>
              <a:rPr dirty="0" sz="2200" spc="-1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metrics.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940066" y="2086327"/>
            <a:ext cx="62738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5465" algn="l"/>
              </a:tabLst>
            </a:pPr>
            <a:r>
              <a:rPr dirty="0" sz="2200" spc="-50">
                <a:solidFill>
                  <a:srgbClr val="052A4B"/>
                </a:solidFill>
                <a:latin typeface="Arial MT"/>
                <a:cs typeface="Arial MT"/>
              </a:rPr>
              <a:t>.</a:t>
            </a:r>
            <a:r>
              <a:rPr dirty="0" sz="2200">
                <a:solidFill>
                  <a:srgbClr val="052A4B"/>
                </a:solidFill>
                <a:latin typeface="Arial MT"/>
                <a:cs typeface="Arial MT"/>
              </a:rPr>
              <a:t>	</a:t>
            </a:r>
            <a:r>
              <a:rPr dirty="0" sz="2200" spc="-50">
                <a:solidFill>
                  <a:srgbClr val="052F56"/>
                </a:solidFill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66767" y="2086327"/>
            <a:ext cx="11176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10">
                <a:solidFill>
                  <a:srgbClr val="0C2136"/>
                </a:solidFill>
                <a:latin typeface="Arial MT"/>
                <a:cs typeface="Arial MT"/>
              </a:rPr>
              <a:t>,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210879" y="2378427"/>
            <a:ext cx="57912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66725" algn="l"/>
              </a:tabLst>
            </a:pPr>
            <a:r>
              <a:rPr dirty="0" sz="2200" spc="-50">
                <a:solidFill>
                  <a:srgbClr val="132F4B"/>
                </a:solidFill>
                <a:latin typeface="Arial MT"/>
                <a:cs typeface="Arial MT"/>
              </a:rPr>
              <a:t>*</a:t>
            </a:r>
            <a:r>
              <a:rPr dirty="0" sz="2200">
                <a:solidFill>
                  <a:srgbClr val="132F4B"/>
                </a:solidFill>
                <a:latin typeface="Arial MT"/>
                <a:cs typeface="Arial MT"/>
              </a:rPr>
              <a:t>	</a:t>
            </a:r>
            <a:r>
              <a:rPr dirty="0" sz="2200" spc="-50">
                <a:solidFill>
                  <a:srgbClr val="031C31"/>
                </a:solidFill>
                <a:latin typeface="Arial MT"/>
                <a:cs typeface="Arial MT"/>
              </a:rPr>
              <a:t>“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50975" y="5303308"/>
            <a:ext cx="1833245" cy="155448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 marR="5080" indent="1270">
              <a:lnSpc>
                <a:spcPct val="88400"/>
              </a:lnSpc>
              <a:spcBef>
                <a:spcPts val="409"/>
              </a:spcBef>
            </a:pPr>
            <a:r>
              <a:rPr dirty="0" sz="2300" spc="-225">
                <a:latin typeface="Arial MT"/>
                <a:cs typeface="Arial MT"/>
              </a:rPr>
              <a:t>Dynamic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charts </a:t>
            </a:r>
            <a:r>
              <a:rPr dirty="0" sz="2150" spc="-10">
                <a:latin typeface="Arial MT"/>
                <a:cs typeface="Arial MT"/>
              </a:rPr>
              <a:t>visualising </a:t>
            </a:r>
            <a:r>
              <a:rPr dirty="0" sz="2200" spc="-90">
                <a:latin typeface="Arial MT"/>
                <a:cs typeface="Arial MT"/>
              </a:rPr>
              <a:t>department</a:t>
            </a:r>
            <a:r>
              <a:rPr dirty="0" sz="2200" spc="15">
                <a:latin typeface="Arial MT"/>
                <a:cs typeface="Arial MT"/>
              </a:rPr>
              <a:t> </a:t>
            </a:r>
            <a:r>
              <a:rPr dirty="0" sz="2200" spc="-130">
                <a:latin typeface="Arial MT"/>
                <a:cs typeface="Arial MT"/>
              </a:rPr>
              <a:t>and </a:t>
            </a:r>
            <a:r>
              <a:rPr dirty="0" sz="2200" spc="-80">
                <a:latin typeface="Arial MT"/>
                <a:cs typeface="Arial MT"/>
              </a:rPr>
              <a:t>country-</a:t>
            </a:r>
            <a:r>
              <a:rPr dirty="0" sz="2200" spc="-10">
                <a:latin typeface="Arial MT"/>
                <a:cs typeface="Arial MT"/>
              </a:rPr>
              <a:t>level </a:t>
            </a:r>
            <a:r>
              <a:rPr dirty="0" sz="2200" spc="-45">
                <a:latin typeface="Arial MT"/>
                <a:cs typeface="Arial MT"/>
              </a:rPr>
              <a:t>performance.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996778" y="3175000"/>
            <a:ext cx="123063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latin typeface="Arial MT"/>
                <a:cs typeface="Arial MT"/>
              </a:rPr>
              <a:t>Total</a:t>
            </a:r>
            <a:r>
              <a:rPr dirty="0" sz="1250" spc="-145">
                <a:latin typeface="Arial MT"/>
                <a:cs typeface="Arial MT"/>
              </a:rPr>
              <a:t> </a:t>
            </a:r>
            <a:r>
              <a:rPr dirty="0" sz="1250" spc="-30">
                <a:latin typeface="Arial MT"/>
                <a:cs typeface="Arial MT"/>
              </a:rPr>
              <a:t>HeadcoMnt: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683034" y="3175000"/>
            <a:ext cx="134937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95">
                <a:latin typeface="Arial MT"/>
                <a:cs typeface="Arial MT"/>
              </a:rPr>
              <a:t>YTD</a:t>
            </a:r>
            <a:r>
              <a:rPr dirty="0" sz="1250" spc="-140">
                <a:latin typeface="Arial MT"/>
                <a:cs typeface="Arial MT"/>
              </a:rPr>
              <a:t> </a:t>
            </a:r>
            <a:r>
              <a:rPr dirty="0" sz="1250" spc="-30">
                <a:latin typeface="Arial MT"/>
                <a:cs typeface="Arial MT"/>
              </a:rPr>
              <a:t>Bonus</a:t>
            </a:r>
            <a:r>
              <a:rPr dirty="0" sz="1250" spc="-11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Payout: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899041" y="4279900"/>
            <a:ext cx="1996439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0">
                <a:solidFill>
                  <a:srgbClr val="7E7E7E"/>
                </a:solidFill>
                <a:latin typeface="Arial MT"/>
                <a:cs typeface="Arial MT"/>
              </a:rPr>
              <a:t>Employee</a:t>
            </a:r>
            <a:r>
              <a:rPr dirty="0" sz="1250" spc="-3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898989"/>
                </a:solidFill>
                <a:latin typeface="Arial MT"/>
                <a:cs typeface="Arial MT"/>
              </a:rPr>
              <a:t>Information</a:t>
            </a:r>
            <a:r>
              <a:rPr dirty="0" sz="1250" spc="-70">
                <a:solidFill>
                  <a:srgbClr val="898989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898989"/>
                </a:solidFill>
                <a:latin typeface="Arial MT"/>
                <a:cs typeface="Arial MT"/>
              </a:rPr>
              <a:t>kinder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141118" y="5651500"/>
            <a:ext cx="39116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95">
                <a:solidFill>
                  <a:srgbClr val="464646"/>
                </a:solidFill>
                <a:latin typeface="Arial MT"/>
                <a:cs typeface="Arial MT"/>
              </a:rPr>
              <a:t>MTOQO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727713" y="5125861"/>
            <a:ext cx="476884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60">
                <a:solidFill>
                  <a:srgbClr val="0F0F0F"/>
                </a:solidFill>
                <a:latin typeface="Arial MT"/>
                <a:cs typeface="Arial MT"/>
              </a:rPr>
              <a:t>•SaIes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27539" y="5125861"/>
            <a:ext cx="85725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95">
                <a:solidFill>
                  <a:srgbClr val="B5994D"/>
                </a:solidFill>
                <a:latin typeface="Arial MT"/>
                <a:cs typeface="Arial MT"/>
              </a:rPr>
              <a:t>e</a:t>
            </a:r>
            <a:r>
              <a:rPr dirty="0" sz="1350" spc="-95">
                <a:solidFill>
                  <a:srgbClr val="B5994D"/>
                </a:solidFill>
                <a:latin typeface="Arial MT"/>
                <a:cs typeface="Arial MT"/>
              </a:rPr>
              <a:t> </a:t>
            </a:r>
            <a:r>
              <a:rPr dirty="0" sz="1350" spc="-140">
                <a:solidFill>
                  <a:srgbClr val="0F0F0F"/>
                </a:solidFill>
                <a:latin typeface="Arial MT"/>
                <a:cs typeface="Arial MT"/>
              </a:rPr>
              <a:t>Engineering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318139" y="5125861"/>
            <a:ext cx="74485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95">
                <a:solidFill>
                  <a:srgbClr val="959595"/>
                </a:solidFill>
                <a:latin typeface="Arial MT"/>
                <a:cs typeface="Arial MT"/>
              </a:rPr>
              <a:t>e</a:t>
            </a:r>
            <a:r>
              <a:rPr dirty="0" sz="1350" spc="-9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350" spc="-125">
                <a:latin typeface="Arial MT"/>
                <a:cs typeface="Arial MT"/>
              </a:rPr>
              <a:t>Marketing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0055493" y="3452283"/>
            <a:ext cx="49403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165">
                <a:solidFill>
                  <a:srgbClr val="1F1F1F"/>
                </a:solidFill>
                <a:latin typeface="Calibri"/>
                <a:cs typeface="Calibri"/>
              </a:rPr>
              <a:t>.296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545215" y="3547533"/>
            <a:ext cx="35687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25">
                <a:solidFill>
                  <a:srgbClr val="212121"/>
                </a:solidFill>
                <a:latin typeface="Calibri"/>
                <a:cs typeface="Calibri"/>
              </a:rPr>
              <a:t>250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2296378" y="3547533"/>
            <a:ext cx="72453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>
                <a:solidFill>
                  <a:srgbClr val="BCAF83"/>
                </a:solidFill>
                <a:latin typeface="Calibri"/>
                <a:cs typeface="Calibri"/>
              </a:rPr>
              <a:t>$85 </a:t>
            </a:r>
            <a:r>
              <a:rPr dirty="0" sz="1650" spc="-25">
                <a:solidFill>
                  <a:srgbClr val="B1A179"/>
                </a:solidFill>
                <a:latin typeface="Calibri"/>
                <a:cs typeface="Calibri"/>
              </a:rPr>
              <a:t>000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367451" y="6197600"/>
            <a:ext cx="426084" cy="45720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0650" indent="-107950">
              <a:lnSpc>
                <a:spcPct val="100000"/>
              </a:lnSpc>
              <a:spcBef>
                <a:spcPts val="300"/>
              </a:spcBef>
              <a:buClr>
                <a:srgbClr val="596070"/>
              </a:buClr>
              <a:buChar char="•"/>
              <a:tabLst>
                <a:tab pos="120650" algn="l"/>
              </a:tabLst>
            </a:pPr>
            <a:r>
              <a:rPr dirty="0" sz="1250" spc="-80">
                <a:solidFill>
                  <a:srgbClr val="1D1D1D"/>
                </a:solidFill>
                <a:latin typeface="Arial MT"/>
                <a:cs typeface="Arial MT"/>
              </a:rPr>
              <a:t>India</a:t>
            </a:r>
            <a:endParaRPr sz="1250">
              <a:latin typeface="Arial MT"/>
              <a:cs typeface="Arial MT"/>
            </a:endParaRPr>
          </a:p>
          <a:p>
            <a:pPr marL="122555" indent="-97155">
              <a:lnSpc>
                <a:spcPct val="100000"/>
              </a:lnSpc>
              <a:spcBef>
                <a:spcPts val="200"/>
              </a:spcBef>
              <a:buClr>
                <a:srgbClr val="EFD489"/>
              </a:buClr>
              <a:buChar char="•"/>
              <a:tabLst>
                <a:tab pos="122555" algn="l"/>
              </a:tabLst>
            </a:pPr>
            <a:r>
              <a:rPr dirty="0" sz="1250" spc="-25">
                <a:solidFill>
                  <a:srgbClr val="161616"/>
                </a:solidFill>
                <a:latin typeface="Arial MT"/>
                <a:cs typeface="Arial MT"/>
              </a:rPr>
              <a:t>Etc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3303211" y="3866797"/>
            <a:ext cx="57150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BAAC80"/>
                </a:solidFill>
                <a:latin typeface="Arial MT"/>
                <a:cs typeface="Arial MT"/>
              </a:rPr>
              <a:t>+</a:t>
            </a:r>
            <a:r>
              <a:rPr dirty="0" sz="900" spc="229">
                <a:solidFill>
                  <a:srgbClr val="BAAC8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AFAFAF"/>
                </a:solidFill>
                <a:latin typeface="Arial MT"/>
                <a:cs typeface="Arial MT"/>
              </a:rPr>
              <a:t>TI</a:t>
            </a:r>
            <a:r>
              <a:rPr dirty="0" sz="900">
                <a:solidFill>
                  <a:srgbClr val="FFFDE8"/>
                </a:solidFill>
                <a:latin typeface="Arial MT"/>
                <a:cs typeface="Arial MT"/>
              </a:rPr>
              <a:t>ier</a:t>
            </a:r>
            <a:r>
              <a:rPr dirty="0" sz="900" spc="135">
                <a:solidFill>
                  <a:srgbClr val="FFFDE8"/>
                </a:solidFill>
                <a:latin typeface="Arial MT"/>
                <a:cs typeface="Arial MT"/>
              </a:rPr>
              <a:t>  </a:t>
            </a:r>
            <a:r>
              <a:rPr dirty="0" sz="900" spc="-25">
                <a:solidFill>
                  <a:srgbClr val="ACACAC"/>
                </a:solidFill>
                <a:latin typeface="Arial MT"/>
                <a:cs typeface="Arial MT"/>
              </a:rPr>
              <a:t>in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508667" y="4193822"/>
            <a:ext cx="4191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20">
                <a:solidFill>
                  <a:srgbClr val="313131"/>
                </a:solidFill>
                <a:latin typeface="Times New Roman"/>
                <a:cs typeface="Times New Roman"/>
              </a:rPr>
              <a:t>$.2R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2384967" y="4193822"/>
            <a:ext cx="52768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solidFill>
                  <a:srgbClr val="C8B87E"/>
                </a:solidFill>
                <a:latin typeface="Times New Roman"/>
                <a:cs typeface="Times New Roman"/>
              </a:rPr>
              <a:t>$4.5M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3366089" y="4193822"/>
            <a:ext cx="4305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70">
                <a:solidFill>
                  <a:srgbClr val="C6BC97"/>
                </a:solidFill>
                <a:latin typeface="Times New Roman"/>
                <a:cs typeface="Times New Roman"/>
              </a:rPr>
              <a:t>0.2°A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1416581" y="5147380"/>
            <a:ext cx="7620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Arial MT"/>
                <a:cs typeface="Arial MT"/>
              </a:rPr>
              <a:t>Headcount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2636500" y="5147380"/>
            <a:ext cx="35750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5">
                <a:latin typeface="Arial MT"/>
                <a:cs typeface="Arial MT"/>
              </a:rPr>
              <a:t>\,250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3428662" y="5147380"/>
            <a:ext cx="27749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5">
                <a:solidFill>
                  <a:srgbClr val="161616"/>
                </a:solidFill>
                <a:latin typeface="Arial MT"/>
                <a:cs typeface="Arial MT"/>
              </a:rPr>
              <a:t>750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1430233" y="5511800"/>
            <a:ext cx="74104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80">
                <a:latin typeface="Arial MT"/>
                <a:cs typeface="Arial MT"/>
              </a:rPr>
              <a:t>Avg.</a:t>
            </a:r>
            <a:r>
              <a:rPr dirty="0" sz="1250" spc="-130">
                <a:latin typeface="Arial MT"/>
                <a:cs typeface="Arial MT"/>
              </a:rPr>
              <a:t> </a:t>
            </a:r>
            <a:r>
              <a:rPr dirty="0" sz="1250" spc="-55">
                <a:latin typeface="Arial MT"/>
                <a:cs typeface="Arial MT"/>
              </a:rPr>
              <a:t>Salary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2516542" y="5511800"/>
            <a:ext cx="57086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5">
                <a:latin typeface="Arial MT"/>
                <a:cs typeface="Arial MT"/>
              </a:rPr>
              <a:t>$85,000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3277608" y="5511800"/>
            <a:ext cx="57658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0">
                <a:latin typeface="Arial MT"/>
                <a:cs typeface="Arial MT"/>
              </a:rPr>
              <a:t>585,000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430258" y="5862461"/>
            <a:ext cx="73977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25">
                <a:solidFill>
                  <a:srgbClr val="1D1D1D"/>
                </a:solidFill>
                <a:latin typeface="Arial MT"/>
                <a:cs typeface="Arial MT"/>
              </a:rPr>
              <a:t>Avg.</a:t>
            </a:r>
            <a:r>
              <a:rPr dirty="0" sz="1350" spc="-16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350" spc="-100">
                <a:solidFill>
                  <a:srgbClr val="131313"/>
                </a:solidFill>
                <a:latin typeface="Arial MT"/>
                <a:cs typeface="Arial MT"/>
              </a:rPr>
              <a:t>Salary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2579192" y="5862461"/>
            <a:ext cx="43624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313131"/>
                </a:solidFill>
                <a:latin typeface="Arial MT"/>
                <a:cs typeface="Arial MT"/>
              </a:rPr>
              <a:t>10.0a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3341198" y="5862461"/>
            <a:ext cx="42545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80">
                <a:solidFill>
                  <a:srgbClr val="0F0F0F"/>
                </a:solidFill>
                <a:latin typeface="Arial MT"/>
                <a:cs typeface="Arial MT"/>
              </a:rPr>
              <a:t>1e.Ok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419018" y="6244519"/>
            <a:ext cx="60769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>
                <a:solidFill>
                  <a:srgbClr val="2D2D2D"/>
                </a:solidFill>
                <a:latin typeface="Arial MT"/>
                <a:cs typeface="Arial MT"/>
              </a:rPr>
              <a:t>Bonus</a:t>
            </a:r>
            <a:r>
              <a:rPr dirty="0" sz="1150" spc="65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150" spc="-140">
                <a:solidFill>
                  <a:srgbClr val="525252"/>
                </a:solidFill>
                <a:latin typeface="Arial MT"/>
                <a:cs typeface="Arial MT"/>
              </a:rPr>
              <a:t>96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2594773" y="6244519"/>
            <a:ext cx="42100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25">
                <a:solidFill>
                  <a:srgbClr val="0C0C0C"/>
                </a:solidFill>
                <a:latin typeface="Arial MT"/>
                <a:cs typeface="Arial MT"/>
              </a:rPr>
              <a:t>18.5%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3343255" y="6244519"/>
            <a:ext cx="43815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10">
                <a:latin typeface="Arial MT"/>
                <a:cs typeface="Arial MT"/>
              </a:rPr>
              <a:t>24.5%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1421551" y="6604000"/>
            <a:ext cx="8572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5">
                <a:latin typeface="Arial MT"/>
                <a:cs typeface="Arial MT"/>
              </a:rPr>
              <a:t>Growth</a:t>
            </a:r>
            <a:r>
              <a:rPr dirty="0" sz="1250" spc="-110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Rate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2642612" y="6604000"/>
            <a:ext cx="35179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111111"/>
                </a:solidFill>
                <a:latin typeface="Arial MT"/>
                <a:cs typeface="Arial MT"/>
              </a:rPr>
              <a:t>5.7B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3378129" y="6604000"/>
            <a:ext cx="3632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14">
                <a:latin typeface="Arial MT"/>
                <a:cs typeface="Arial MT"/>
              </a:rPr>
              <a:t>O.5%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8152478" y="8106127"/>
            <a:ext cx="2555875" cy="94869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 marL="12700" marR="5080">
              <a:lnSpc>
                <a:spcPts val="2300"/>
              </a:lnSpc>
              <a:spcBef>
                <a:spcPts val="480"/>
              </a:spcBef>
            </a:pPr>
            <a:r>
              <a:rPr dirty="0" sz="2200" spc="-90">
                <a:latin typeface="Arial MT"/>
                <a:cs typeface="Arial MT"/>
              </a:rPr>
              <a:t>Integrated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75">
                <a:latin typeface="Arial MT"/>
                <a:cs typeface="Arial MT"/>
              </a:rPr>
              <a:t>Information </a:t>
            </a:r>
            <a:r>
              <a:rPr dirty="0" sz="2200" spc="-155">
                <a:latin typeface="Arial MT"/>
                <a:cs typeface="Arial MT"/>
              </a:rPr>
              <a:t>Finder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-60">
                <a:latin typeface="Arial MT"/>
                <a:cs typeface="Arial MT"/>
              </a:rPr>
              <a:t>for</a:t>
            </a:r>
            <a:r>
              <a:rPr dirty="0" sz="2200" spc="-1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quick </a:t>
            </a:r>
            <a:r>
              <a:rPr dirty="0" sz="2200" spc="-155">
                <a:latin typeface="Arial MT"/>
                <a:cs typeface="Arial MT"/>
              </a:rPr>
              <a:t>employee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lookups.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1421551" y="6965950"/>
            <a:ext cx="85725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5">
                <a:solidFill>
                  <a:srgbClr val="181818"/>
                </a:solidFill>
                <a:latin typeface="Arial MT"/>
                <a:cs typeface="Arial MT"/>
              </a:rPr>
              <a:t>Growth</a:t>
            </a:r>
            <a:r>
              <a:rPr dirty="0" sz="1250" spc="-11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242424"/>
                </a:solidFill>
                <a:latin typeface="Arial MT"/>
                <a:cs typeface="Arial MT"/>
              </a:rPr>
              <a:t>Rete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2629912" y="6965950"/>
            <a:ext cx="36576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0">
                <a:latin typeface="Arial MT"/>
                <a:cs typeface="Arial MT"/>
              </a:rPr>
              <a:t>0.2%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3391832" y="6965950"/>
            <a:ext cx="34671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latin typeface="Arial MT"/>
                <a:cs typeface="Arial MT"/>
              </a:rPr>
              <a:t>3.2k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3986447" y="8097308"/>
            <a:ext cx="2730500" cy="66675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 marR="5080" indent="5715">
              <a:lnSpc>
                <a:spcPts val="2300"/>
              </a:lnSpc>
              <a:spcBef>
                <a:spcPts val="550"/>
              </a:spcBef>
            </a:pPr>
            <a:r>
              <a:rPr dirty="0" sz="2300" spc="-195">
                <a:latin typeface="Arial MT"/>
                <a:cs typeface="Arial MT"/>
              </a:rPr>
              <a:t>Geographic</a:t>
            </a:r>
            <a:r>
              <a:rPr dirty="0" sz="2300" spc="70">
                <a:latin typeface="Arial MT"/>
                <a:cs typeface="Arial MT"/>
              </a:rPr>
              <a:t> </a:t>
            </a:r>
            <a:r>
              <a:rPr dirty="0" sz="2300" spc="-135">
                <a:latin typeface="Arial MT"/>
                <a:cs typeface="Arial MT"/>
              </a:rPr>
              <a:t>comparison </a:t>
            </a:r>
            <a:r>
              <a:rPr dirty="0" sz="2300" spc="-170">
                <a:latin typeface="Arial MT"/>
                <a:cs typeface="Arial MT"/>
              </a:rPr>
              <a:t>scorecard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 spc="-225">
                <a:latin typeface="Arial MT"/>
                <a:cs typeface="Arial MT"/>
              </a:rPr>
              <a:t>(NZ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 spc="-185">
                <a:latin typeface="Arial MT"/>
                <a:cs typeface="Arial MT"/>
              </a:rPr>
              <a:t>vs.</a:t>
            </a:r>
            <a:r>
              <a:rPr dirty="0" sz="2300" spc="-330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India).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333316" y="2937932"/>
            <a:ext cx="0" cy="5245100"/>
          </a:xfrm>
          <a:custGeom>
            <a:avLst/>
            <a:gdLst/>
            <a:ahLst/>
            <a:cxnLst/>
            <a:rect l="l" t="t" r="r" b="b"/>
            <a:pathLst>
              <a:path w="0" h="5245100">
                <a:moveTo>
                  <a:pt x="0" y="5245100"/>
                </a:moveTo>
                <a:lnTo>
                  <a:pt x="0" y="0"/>
                </a:lnTo>
              </a:path>
            </a:pathLst>
          </a:custGeom>
          <a:ln w="12700">
            <a:solidFill>
              <a:srgbClr val="3444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326966" y="2937932"/>
            <a:ext cx="7924800" cy="5245100"/>
            <a:chOff x="8326966" y="2937932"/>
            <a:chExt cx="7924800" cy="5245100"/>
          </a:xfrm>
        </p:grpSpPr>
        <p:sp>
          <p:nvSpPr>
            <p:cNvPr id="4" name="object 4" descr=""/>
            <p:cNvSpPr/>
            <p:nvPr/>
          </p:nvSpPr>
          <p:spPr>
            <a:xfrm>
              <a:off x="16245420" y="2937932"/>
              <a:ext cx="0" cy="5245100"/>
            </a:xfrm>
            <a:custGeom>
              <a:avLst/>
              <a:gdLst/>
              <a:ahLst/>
              <a:cxnLst/>
              <a:rect l="l" t="t" r="r" b="b"/>
              <a:pathLst>
                <a:path w="0" h="5245100">
                  <a:moveTo>
                    <a:pt x="0" y="5245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44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26966" y="2944282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12700">
              <a:solidFill>
                <a:srgbClr val="344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26966" y="8176682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12700">
              <a:solidFill>
                <a:srgbClr val="344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686799" y="7833783"/>
              <a:ext cx="7243445" cy="0"/>
            </a:xfrm>
            <a:custGeom>
              <a:avLst/>
              <a:gdLst/>
              <a:ahLst/>
              <a:cxnLst/>
              <a:rect l="l" t="t" r="r" b="b"/>
              <a:pathLst>
                <a:path w="7243444" h="0">
                  <a:moveTo>
                    <a:pt x="0" y="0"/>
                  </a:moveTo>
                  <a:lnTo>
                    <a:pt x="7243233" y="0"/>
                  </a:lnTo>
                </a:path>
              </a:pathLst>
            </a:custGeom>
            <a:ln w="29633">
              <a:solidFill>
                <a:srgbClr val="3B4B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623299" y="6906683"/>
              <a:ext cx="7345045" cy="0"/>
            </a:xfrm>
            <a:custGeom>
              <a:avLst/>
              <a:gdLst/>
              <a:ahLst/>
              <a:cxnLst/>
              <a:rect l="l" t="t" r="r" b="b"/>
              <a:pathLst>
                <a:path w="7345044" h="0">
                  <a:moveTo>
                    <a:pt x="0" y="0"/>
                  </a:moveTo>
                  <a:lnTo>
                    <a:pt x="7344833" y="0"/>
                  </a:lnTo>
                </a:path>
              </a:pathLst>
            </a:custGeom>
            <a:ln w="29633">
              <a:solidFill>
                <a:srgbClr val="3B4B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9299" y="5562600"/>
              <a:ext cx="5016500" cy="3683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02710" y="645583"/>
            <a:ext cx="12178665" cy="8509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400" spc="-615">
                <a:solidFill>
                  <a:srgbClr val="032B4F"/>
                </a:solidFill>
              </a:rPr>
              <a:t>A</a:t>
            </a:r>
            <a:r>
              <a:rPr dirty="0" sz="5400" spc="-110">
                <a:solidFill>
                  <a:srgbClr val="032B4F"/>
                </a:solidFill>
              </a:rPr>
              <a:t> </a:t>
            </a:r>
            <a:r>
              <a:rPr dirty="0" sz="5400" spc="-170">
                <a:solidFill>
                  <a:srgbClr val="0A314F"/>
                </a:solidFill>
              </a:rPr>
              <a:t>Global</a:t>
            </a:r>
            <a:r>
              <a:rPr dirty="0" sz="5400" spc="-204">
                <a:solidFill>
                  <a:srgbClr val="0A314F"/>
                </a:solidFill>
              </a:rPr>
              <a:t> </a:t>
            </a:r>
            <a:r>
              <a:rPr dirty="0" sz="5400" spc="-170">
                <a:solidFill>
                  <a:srgbClr val="073156"/>
                </a:solidFill>
              </a:rPr>
              <a:t>View:</a:t>
            </a:r>
            <a:r>
              <a:rPr dirty="0" sz="5400" spc="-204">
                <a:solidFill>
                  <a:srgbClr val="073156"/>
                </a:solidFill>
              </a:rPr>
              <a:t> </a:t>
            </a:r>
            <a:r>
              <a:rPr dirty="0" sz="5400" spc="-135">
                <a:solidFill>
                  <a:srgbClr val="012B4D"/>
                </a:solidFill>
              </a:rPr>
              <a:t>The</a:t>
            </a:r>
            <a:r>
              <a:rPr dirty="0" sz="5400" spc="-345">
                <a:solidFill>
                  <a:srgbClr val="012B4D"/>
                </a:solidFill>
              </a:rPr>
              <a:t> </a:t>
            </a:r>
            <a:r>
              <a:rPr dirty="0" sz="5400">
                <a:solidFill>
                  <a:srgbClr val="032B49"/>
                </a:solidFill>
              </a:rPr>
              <a:t>New</a:t>
            </a:r>
            <a:r>
              <a:rPr dirty="0" sz="5400" spc="-290">
                <a:solidFill>
                  <a:srgbClr val="032B49"/>
                </a:solidFill>
              </a:rPr>
              <a:t> </a:t>
            </a:r>
            <a:r>
              <a:rPr dirty="0" sz="5400" spc="-85">
                <a:solidFill>
                  <a:srgbClr val="032F54"/>
                </a:solidFill>
              </a:rPr>
              <a:t>Zealand</a:t>
            </a:r>
            <a:r>
              <a:rPr dirty="0" sz="5400" spc="-210">
                <a:solidFill>
                  <a:srgbClr val="032F54"/>
                </a:solidFill>
              </a:rPr>
              <a:t> </a:t>
            </a:r>
            <a:r>
              <a:rPr dirty="0" sz="5400">
                <a:solidFill>
                  <a:srgbClr val="03345B"/>
                </a:solidFill>
              </a:rPr>
              <a:t>vs.</a:t>
            </a:r>
            <a:r>
              <a:rPr dirty="0" sz="5400" spc="-720">
                <a:solidFill>
                  <a:srgbClr val="03345B"/>
                </a:solidFill>
              </a:rPr>
              <a:t> </a:t>
            </a:r>
            <a:r>
              <a:rPr dirty="0" sz="5400" spc="-10">
                <a:solidFill>
                  <a:srgbClr val="053152"/>
                </a:solidFill>
              </a:rPr>
              <a:t>India</a:t>
            </a:r>
            <a:endParaRPr sz="5400"/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74074" y="1355372"/>
            <a:ext cx="6188710" cy="8299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>
                <a:solidFill>
                  <a:srgbClr val="073456"/>
                </a:solidFill>
                <a:latin typeface="Arial MT"/>
                <a:cs typeface="Arial MT"/>
              </a:rPr>
              <a:t>Executive</a:t>
            </a:r>
            <a:r>
              <a:rPr dirty="0" sz="5250" spc="95">
                <a:solidFill>
                  <a:srgbClr val="073456"/>
                </a:solidFill>
                <a:latin typeface="Arial MT"/>
                <a:cs typeface="Arial MT"/>
              </a:rPr>
              <a:t> </a:t>
            </a:r>
            <a:r>
              <a:rPr dirty="0" sz="5250" spc="-10">
                <a:solidFill>
                  <a:srgbClr val="032D4D"/>
                </a:solidFill>
                <a:latin typeface="Arial MT"/>
                <a:cs typeface="Arial MT"/>
              </a:rPr>
              <a:t>Scorecard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81765" y="2466813"/>
            <a:ext cx="6338570" cy="1995805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575"/>
              </a:spcBef>
            </a:pPr>
            <a:r>
              <a:rPr dirty="0" sz="2950" spc="80">
                <a:solidFill>
                  <a:srgbClr val="0A2D4F"/>
                </a:solidFill>
                <a:latin typeface="Arial MT"/>
                <a:cs typeface="Arial MT"/>
              </a:rPr>
              <a:t>Objective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2400" spc="-20">
                <a:latin typeface="Arial MT"/>
                <a:cs typeface="Arial MT"/>
              </a:rPr>
              <a:t>To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provide</a:t>
            </a:r>
            <a:r>
              <a:rPr dirty="0" sz="2400" spc="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leadership</a:t>
            </a:r>
            <a:r>
              <a:rPr dirty="0" sz="2400" spc="2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direct,</a:t>
            </a:r>
            <a:endParaRPr sz="2400">
              <a:latin typeface="Arial MT"/>
              <a:cs typeface="Arial MT"/>
            </a:endParaRPr>
          </a:p>
          <a:p>
            <a:pPr marL="20955" marR="5080" indent="1270">
              <a:lnSpc>
                <a:spcPct val="111100"/>
              </a:lnSpc>
            </a:pPr>
            <a:r>
              <a:rPr dirty="0" sz="2400">
                <a:latin typeface="Arial MT"/>
                <a:cs typeface="Arial MT"/>
              </a:rPr>
              <a:t>side-by-side</a:t>
            </a:r>
            <a:r>
              <a:rPr dirty="0" sz="2400" spc="3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comparison</a:t>
            </a:r>
            <a:r>
              <a:rPr dirty="0" sz="2400" spc="3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2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workforce</a:t>
            </a:r>
            <a:r>
              <a:rPr dirty="0" sz="2400" spc="20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metrics </a:t>
            </a:r>
            <a:r>
              <a:rPr dirty="0" sz="2400">
                <a:latin typeface="Arial MT"/>
                <a:cs typeface="Arial MT"/>
              </a:rPr>
              <a:t>across</a:t>
            </a:r>
            <a:r>
              <a:rPr dirty="0" sz="2400" spc="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70">
                <a:latin typeface="Arial MT"/>
                <a:cs typeface="Arial MT"/>
              </a:rPr>
              <a:t>two</a:t>
            </a:r>
            <a:r>
              <a:rPr dirty="0" sz="2400">
                <a:latin typeface="Arial MT"/>
                <a:cs typeface="Arial MT"/>
              </a:rPr>
              <a:t> key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operating</a:t>
            </a:r>
            <a:r>
              <a:rPr dirty="0" sz="2400" spc="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countries.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70590" y="4625408"/>
            <a:ext cx="6166485" cy="2065020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950" spc="45">
                <a:solidFill>
                  <a:srgbClr val="052441"/>
                </a:solidFill>
                <a:latin typeface="Arial MT"/>
                <a:cs typeface="Arial MT"/>
              </a:rPr>
              <a:t>Features</a:t>
            </a:r>
            <a:endParaRPr sz="2950">
              <a:latin typeface="Arial MT"/>
              <a:cs typeface="Arial MT"/>
            </a:endParaRPr>
          </a:p>
          <a:p>
            <a:pPr marL="715010" marR="5080" indent="-471170">
              <a:lnSpc>
                <a:spcPct val="102600"/>
              </a:lnSpc>
              <a:spcBef>
                <a:spcPts val="1325"/>
              </a:spcBef>
              <a:tabLst>
                <a:tab pos="495300" algn="l"/>
              </a:tabLst>
            </a:pPr>
            <a:r>
              <a:rPr dirty="0" sz="2600" spc="-50">
                <a:solidFill>
                  <a:srgbClr val="0F0F0F"/>
                </a:solidFill>
                <a:latin typeface="Arial MT"/>
                <a:cs typeface="Arial MT"/>
              </a:rPr>
              <a:t>,</a:t>
            </a:r>
            <a:r>
              <a:rPr dirty="0" sz="2600">
                <a:solidFill>
                  <a:srgbClr val="0F0F0F"/>
                </a:solidFill>
                <a:latin typeface="Arial MT"/>
                <a:cs typeface="Arial MT"/>
              </a:rPr>
              <a:t>	</a:t>
            </a:r>
            <a:r>
              <a:rPr dirty="0" sz="2600">
                <a:latin typeface="Arial MT"/>
                <a:cs typeface="Arial MT"/>
              </a:rPr>
              <a:t>•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150">
                <a:latin typeface="Arial MT"/>
                <a:cs typeface="Arial MT"/>
              </a:rPr>
              <a:t>Summarises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114">
                <a:latin typeface="Arial MT"/>
                <a:cs typeface="Arial MT"/>
              </a:rPr>
              <a:t>key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215">
                <a:latin typeface="Arial MT"/>
                <a:cs typeface="Arial MT"/>
              </a:rPr>
              <a:t>KPIs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including </a:t>
            </a:r>
            <a:r>
              <a:rPr dirty="0" sz="2600" spc="-90">
                <a:latin typeface="Arial MT"/>
                <a:cs typeface="Arial MT"/>
              </a:rPr>
              <a:t>Headcount,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55">
                <a:latin typeface="Arial MT"/>
                <a:cs typeface="Arial MT"/>
              </a:rPr>
              <a:t>Average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30">
                <a:latin typeface="Arial MT"/>
                <a:cs typeface="Arial MT"/>
              </a:rPr>
              <a:t>Salary,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30">
                <a:latin typeface="Arial MT"/>
                <a:cs typeface="Arial MT"/>
              </a:rPr>
              <a:t>and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45">
                <a:latin typeface="Arial MT"/>
                <a:cs typeface="Arial MT"/>
              </a:rPr>
              <a:t>Gender Ratio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140">
                <a:latin typeface="Arial MT"/>
                <a:cs typeface="Arial MT"/>
              </a:rPr>
              <a:t> </a:t>
            </a:r>
            <a:r>
              <a:rPr dirty="0" sz="2600" spc="-110">
                <a:latin typeface="Arial MT"/>
                <a:cs typeface="Arial MT"/>
              </a:rPr>
              <a:t>each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country.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72268" y="6887985"/>
            <a:ext cx="5958840" cy="1651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5645" marR="5080" indent="-703580">
              <a:lnSpc>
                <a:spcPct val="111100"/>
              </a:lnSpc>
              <a:spcBef>
                <a:spcPts val="95"/>
              </a:spcBef>
              <a:tabLst>
                <a:tab pos="495300" algn="l"/>
              </a:tabLst>
            </a:pPr>
            <a:r>
              <a:rPr dirty="0" sz="2400" spc="95">
                <a:solidFill>
                  <a:srgbClr val="212121"/>
                </a:solidFill>
                <a:latin typeface="Arial MT"/>
                <a:cs typeface="Arial MT"/>
              </a:rPr>
              <a:t>@</a:t>
            </a:r>
            <a:r>
              <a:rPr dirty="0" sz="240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dirty="0" sz="2400" spc="50">
                <a:latin typeface="Arial MT"/>
                <a:cs typeface="Arial MT"/>
              </a:rPr>
              <a:t>•</a:t>
            </a:r>
            <a:r>
              <a:rPr dirty="0" sz="2400" spc="2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Utilises</a:t>
            </a:r>
            <a:r>
              <a:rPr dirty="0" sz="2400" spc="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conditional</a:t>
            </a:r>
            <a:r>
              <a:rPr dirty="0" sz="2400" spc="2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formatting</a:t>
            </a:r>
            <a:r>
              <a:rPr dirty="0" sz="2400" spc="2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(e.g., </a:t>
            </a:r>
            <a:r>
              <a:rPr dirty="0" sz="2400">
                <a:latin typeface="Arial MT"/>
                <a:cs typeface="Arial MT"/>
              </a:rPr>
              <a:t>colour</a:t>
            </a:r>
            <a:r>
              <a:rPr dirty="0" sz="2400" spc="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scales,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icons)</a:t>
            </a:r>
            <a:r>
              <a:rPr dirty="0" sz="2400" spc="1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instantly </a:t>
            </a:r>
            <a:r>
              <a:rPr dirty="0" sz="2400">
                <a:latin typeface="Arial MT"/>
                <a:cs typeface="Arial MT"/>
              </a:rPr>
              <a:t>highlight</a:t>
            </a:r>
            <a:r>
              <a:rPr dirty="0" sz="2400" spc="3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performance</a:t>
            </a:r>
            <a:r>
              <a:rPr dirty="0" sz="2400" spc="25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differences</a:t>
            </a:r>
            <a:r>
              <a:rPr dirty="0" sz="2400" spc="204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areas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requiring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attention.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839880" y="5222169"/>
            <a:ext cx="148907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latin typeface="Arial MT"/>
                <a:cs typeface="Arial MT"/>
              </a:rPr>
              <a:t>Headcount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852353" y="6187369"/>
            <a:ext cx="150685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20">
                <a:latin typeface="Arial MT"/>
                <a:cs typeface="Arial MT"/>
              </a:rPr>
              <a:t>Avg.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Salary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513986" y="5107869"/>
            <a:ext cx="75438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30">
                <a:latin typeface="Arial MT"/>
                <a:cs typeface="Arial MT"/>
              </a:rPr>
              <a:t>1,250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40381" y="3344333"/>
            <a:ext cx="6236970" cy="13506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14"/>
              </a:spcBef>
            </a:pPr>
            <a:r>
              <a:rPr dirty="0" sz="2900">
                <a:solidFill>
                  <a:srgbClr val="052644"/>
                </a:solidFill>
                <a:latin typeface="Arial MT"/>
                <a:cs typeface="Arial MT"/>
              </a:rPr>
              <a:t>Geographic</a:t>
            </a:r>
            <a:r>
              <a:rPr dirty="0" sz="2900" spc="285">
                <a:solidFill>
                  <a:srgbClr val="052644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82A4B"/>
                </a:solidFill>
                <a:latin typeface="Arial MT"/>
                <a:cs typeface="Arial MT"/>
              </a:rPr>
              <a:t>Scorecard:</a:t>
            </a:r>
            <a:r>
              <a:rPr dirty="0" sz="2900" spc="-30">
                <a:solidFill>
                  <a:srgbClr val="082A4B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52D52"/>
                </a:solidFill>
                <a:latin typeface="Arial MT"/>
                <a:cs typeface="Arial MT"/>
              </a:rPr>
              <a:t>NZ</a:t>
            </a:r>
            <a:r>
              <a:rPr dirty="0" sz="2900" spc="10">
                <a:solidFill>
                  <a:srgbClr val="052D52"/>
                </a:solidFill>
                <a:latin typeface="Arial MT"/>
                <a:cs typeface="Arial MT"/>
              </a:rPr>
              <a:t> </a:t>
            </a:r>
            <a:r>
              <a:rPr dirty="0" sz="2900" spc="70">
                <a:solidFill>
                  <a:srgbClr val="03233F"/>
                </a:solidFill>
                <a:latin typeface="Arial MT"/>
                <a:cs typeface="Arial MT"/>
              </a:rPr>
              <a:t>vs.</a:t>
            </a:r>
            <a:r>
              <a:rPr dirty="0" sz="2900" spc="-265">
                <a:solidFill>
                  <a:srgbClr val="03233F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1213D"/>
                </a:solidFill>
                <a:latin typeface="Arial MT"/>
                <a:cs typeface="Arial MT"/>
              </a:rPr>
              <a:t>India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tabLst>
                <a:tab pos="2500630" algn="l"/>
                <a:tab pos="5530850" algn="l"/>
              </a:tabLst>
            </a:pPr>
            <a:r>
              <a:rPr dirty="0" sz="2550" spc="-10">
                <a:solidFill>
                  <a:srgbClr val="072D52"/>
                </a:solidFill>
                <a:latin typeface="Arial MT"/>
                <a:cs typeface="Arial MT"/>
              </a:rPr>
              <a:t>Metric</a:t>
            </a:r>
            <a:r>
              <a:rPr dirty="0" sz="2550">
                <a:solidFill>
                  <a:srgbClr val="072D52"/>
                </a:solidFill>
                <a:latin typeface="Arial MT"/>
                <a:cs typeface="Arial MT"/>
              </a:rPr>
              <a:t>	</a:t>
            </a:r>
            <a:r>
              <a:rPr dirty="0" sz="2550" spc="-75">
                <a:solidFill>
                  <a:srgbClr val="012346"/>
                </a:solidFill>
                <a:latin typeface="Arial MT"/>
                <a:cs typeface="Arial MT"/>
              </a:rPr>
              <a:t>New</a:t>
            </a:r>
            <a:r>
              <a:rPr dirty="0" sz="2550" spc="-90">
                <a:solidFill>
                  <a:srgbClr val="01234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082644"/>
                </a:solidFill>
                <a:latin typeface="Arial MT"/>
                <a:cs typeface="Arial MT"/>
              </a:rPr>
              <a:t>Zealand</a:t>
            </a:r>
            <a:r>
              <a:rPr dirty="0" sz="2550">
                <a:solidFill>
                  <a:srgbClr val="082644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1D1D1D"/>
                </a:solidFill>
                <a:latin typeface="Arial MT"/>
                <a:cs typeface="Arial MT"/>
              </a:rPr>
              <a:t>India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698398" y="6187369"/>
            <a:ext cx="113982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latin typeface="Arial MT"/>
                <a:cs typeface="Arial MT"/>
              </a:rPr>
              <a:t>$85,000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212682" y="5107869"/>
            <a:ext cx="52768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25">
                <a:latin typeface="Arial MT"/>
                <a:cs typeface="Arial MT"/>
              </a:rPr>
              <a:t>750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162202" y="6187369"/>
            <a:ext cx="111760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solidFill>
                  <a:srgbClr val="080808"/>
                </a:solidFill>
                <a:latin typeface="Arial MT"/>
                <a:cs typeface="Arial MT"/>
              </a:rPr>
              <a:t>$78,000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835472" y="7152569"/>
            <a:ext cx="178752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Gender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Ratio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721989" y="7152569"/>
            <a:ext cx="141541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821055" algn="l"/>
              </a:tabLst>
            </a:pPr>
            <a:r>
              <a:rPr dirty="0" sz="2400" spc="-25">
                <a:latin typeface="Arial MT"/>
                <a:cs typeface="Arial MT"/>
              </a:rPr>
              <a:t>55%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70">
                <a:latin typeface="Arial MT"/>
                <a:cs typeface="Arial MT"/>
              </a:rPr>
              <a:t>45%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174292" y="7152569"/>
            <a:ext cx="143954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505">
                <a:latin typeface="Arial MT"/>
                <a:cs typeface="Arial MT"/>
              </a:rPr>
              <a:t>60@o</a:t>
            </a:r>
            <a:r>
              <a:rPr dirty="0" sz="2400" spc="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60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40%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365500"/>
            <a:ext cx="1803400" cy="1816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4700" y="3390900"/>
            <a:ext cx="1854200" cy="1866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3700" y="3505200"/>
            <a:ext cx="1384300" cy="1181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87100" y="3467100"/>
            <a:ext cx="1752600" cy="1739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376400" y="3568700"/>
            <a:ext cx="1625600" cy="1511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5427" y="695677"/>
            <a:ext cx="15683230" cy="7454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100">
                <a:solidFill>
                  <a:srgbClr val="032A4B"/>
                </a:solidFill>
              </a:rPr>
              <a:t>Delivering</a:t>
            </a:r>
            <a:r>
              <a:rPr dirty="0" sz="4700" spc="-95">
                <a:solidFill>
                  <a:srgbClr val="032A4B"/>
                </a:solidFill>
              </a:rPr>
              <a:t> </a:t>
            </a:r>
            <a:r>
              <a:rPr dirty="0" sz="4700">
                <a:solidFill>
                  <a:srgbClr val="052849"/>
                </a:solidFill>
              </a:rPr>
              <a:t>Tangible</a:t>
            </a:r>
            <a:r>
              <a:rPr dirty="0" sz="4700" spc="100">
                <a:solidFill>
                  <a:srgbClr val="052849"/>
                </a:solidFill>
              </a:rPr>
              <a:t> </a:t>
            </a:r>
            <a:r>
              <a:rPr dirty="0" sz="4700">
                <a:solidFill>
                  <a:srgbClr val="032344"/>
                </a:solidFill>
              </a:rPr>
              <a:t>Business</a:t>
            </a:r>
            <a:r>
              <a:rPr dirty="0" sz="4700" spc="90">
                <a:solidFill>
                  <a:srgbClr val="032344"/>
                </a:solidFill>
              </a:rPr>
              <a:t> </a:t>
            </a:r>
            <a:r>
              <a:rPr dirty="0" sz="4700" spc="-10">
                <a:solidFill>
                  <a:srgbClr val="012441"/>
                </a:solidFill>
              </a:rPr>
              <a:t>Value</a:t>
            </a:r>
            <a:r>
              <a:rPr dirty="0" sz="4700" spc="-110">
                <a:solidFill>
                  <a:srgbClr val="012441"/>
                </a:solidFill>
              </a:rPr>
              <a:t> </a:t>
            </a:r>
            <a:r>
              <a:rPr dirty="0" sz="4700" spc="100">
                <a:solidFill>
                  <a:srgbClr val="002646"/>
                </a:solidFill>
              </a:rPr>
              <a:t>and</a:t>
            </a:r>
            <a:r>
              <a:rPr dirty="0" sz="4700" spc="-310">
                <a:solidFill>
                  <a:srgbClr val="002646"/>
                </a:solidFill>
              </a:rPr>
              <a:t> </a:t>
            </a:r>
            <a:r>
              <a:rPr dirty="0" sz="4700" spc="85">
                <a:solidFill>
                  <a:srgbClr val="052B4D"/>
                </a:solidFill>
              </a:rPr>
              <a:t>Decision</a:t>
            </a:r>
            <a:r>
              <a:rPr dirty="0" sz="4700" spc="25">
                <a:solidFill>
                  <a:srgbClr val="052B4D"/>
                </a:solidFill>
              </a:rPr>
              <a:t> </a:t>
            </a:r>
            <a:r>
              <a:rPr dirty="0" sz="4700" spc="100">
                <a:solidFill>
                  <a:srgbClr val="032844"/>
                </a:solidFill>
              </a:rPr>
              <a:t>Support</a:t>
            </a:r>
            <a:endParaRPr sz="4700"/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731218" y="1559983"/>
            <a:ext cx="13976350" cy="8794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3440"/>
              </a:lnSpc>
              <a:spcBef>
                <a:spcPts val="114"/>
              </a:spcBef>
            </a:pPr>
            <a:r>
              <a:rPr dirty="0" sz="2900" spc="-114">
                <a:latin typeface="Arial MT"/>
                <a:cs typeface="Arial MT"/>
              </a:rPr>
              <a:t>This</a:t>
            </a:r>
            <a:r>
              <a:rPr dirty="0" sz="2900" spc="-215">
                <a:latin typeface="Arial MT"/>
                <a:cs typeface="Arial MT"/>
              </a:rPr>
              <a:t> </a:t>
            </a:r>
            <a:r>
              <a:rPr dirty="0" sz="2900" spc="-55">
                <a:latin typeface="Arial MT"/>
                <a:cs typeface="Arial MT"/>
              </a:rPr>
              <a:t>analytics</a:t>
            </a:r>
            <a:r>
              <a:rPr dirty="0" sz="2900" spc="40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solution</a:t>
            </a:r>
            <a:r>
              <a:rPr dirty="0" sz="2900" spc="-70">
                <a:latin typeface="Arial MT"/>
                <a:cs typeface="Arial MT"/>
              </a:rPr>
              <a:t> </a:t>
            </a:r>
            <a:r>
              <a:rPr dirty="0" sz="2900" spc="-140">
                <a:latin typeface="Arial MT"/>
                <a:cs typeface="Arial MT"/>
              </a:rPr>
              <a:t>empowers</a:t>
            </a:r>
            <a:r>
              <a:rPr dirty="0" sz="2900" spc="-215">
                <a:latin typeface="Arial MT"/>
                <a:cs typeface="Arial MT"/>
              </a:rPr>
              <a:t> </a:t>
            </a:r>
            <a:r>
              <a:rPr dirty="0" sz="2900" spc="-445">
                <a:latin typeface="Arial MT"/>
                <a:cs typeface="Arial MT"/>
              </a:rPr>
              <a:t>HR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 spc="-170">
                <a:latin typeface="Arial MT"/>
                <a:cs typeface="Arial MT"/>
              </a:rPr>
              <a:t>and</a:t>
            </a:r>
            <a:r>
              <a:rPr dirty="0" sz="2900" spc="-220">
                <a:latin typeface="Arial MT"/>
                <a:cs typeface="Arial MT"/>
              </a:rPr>
              <a:t> </a:t>
            </a:r>
            <a:r>
              <a:rPr dirty="0" sz="2900" spc="-160">
                <a:latin typeface="Arial MT"/>
                <a:cs typeface="Arial MT"/>
              </a:rPr>
              <a:t>Finance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125">
                <a:latin typeface="Arial MT"/>
                <a:cs typeface="Arial MT"/>
              </a:rPr>
              <a:t>leaders</a:t>
            </a:r>
            <a:r>
              <a:rPr dirty="0" sz="2900" spc="-180">
                <a:latin typeface="Arial MT"/>
                <a:cs typeface="Arial MT"/>
              </a:rPr>
              <a:t> </a:t>
            </a:r>
            <a:r>
              <a:rPr dirty="0" sz="2900" spc="90">
                <a:latin typeface="Arial MT"/>
                <a:cs typeface="Arial MT"/>
              </a:rPr>
              <a:t>to</a:t>
            </a:r>
            <a:r>
              <a:rPr dirty="0" sz="2900" spc="-27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move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from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85">
                <a:latin typeface="Arial MT"/>
                <a:cs typeface="Arial MT"/>
              </a:rPr>
              <a:t>reactive</a:t>
            </a:r>
            <a:r>
              <a:rPr dirty="0" sz="2900" spc="-100">
                <a:latin typeface="Arial MT"/>
                <a:cs typeface="Arial MT"/>
              </a:rPr>
              <a:t> </a:t>
            </a:r>
            <a:r>
              <a:rPr dirty="0" sz="2900" spc="-55">
                <a:latin typeface="Arial MT"/>
                <a:cs typeface="Arial MT"/>
              </a:rPr>
              <a:t>reporting</a:t>
            </a:r>
            <a:r>
              <a:rPr dirty="0" sz="2900" spc="-12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to</a:t>
            </a:r>
            <a:endParaRPr sz="2900">
              <a:latin typeface="Arial MT"/>
              <a:cs typeface="Arial MT"/>
            </a:endParaRPr>
          </a:p>
          <a:p>
            <a:pPr algn="ctr">
              <a:lnSpc>
                <a:spcPts val="3260"/>
              </a:lnSpc>
            </a:pPr>
            <a:r>
              <a:rPr dirty="0" sz="2750">
                <a:latin typeface="Arial MT"/>
                <a:cs typeface="Arial MT"/>
              </a:rPr>
              <a:t>proactive,</a:t>
            </a:r>
            <a:r>
              <a:rPr dirty="0" sz="2750" spc="1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data-</a:t>
            </a:r>
            <a:r>
              <a:rPr dirty="0" sz="2750">
                <a:latin typeface="Arial MT"/>
                <a:cs typeface="Arial MT"/>
              </a:rPr>
              <a:t>driven</a:t>
            </a:r>
            <a:r>
              <a:rPr dirty="0" sz="2750" spc="-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strategic</a:t>
            </a:r>
            <a:r>
              <a:rPr dirty="0" sz="2750" spc="2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planning.</a:t>
            </a:r>
            <a:endParaRPr sz="2750">
              <a:latin typeface="Arial MT"/>
              <a:cs typeface="Arial M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72769" y="5943001"/>
          <a:ext cx="15616555" cy="2832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9745"/>
                <a:gridCol w="3210560"/>
                <a:gridCol w="3230879"/>
                <a:gridCol w="3241675"/>
                <a:gridCol w="2817494"/>
              </a:tblGrid>
              <a:tr h="1082675">
                <a:tc>
                  <a:txBody>
                    <a:bodyPr/>
                    <a:lstStyle/>
                    <a:p>
                      <a:pPr marL="604520" marR="869950" indent="53975">
                        <a:lnSpc>
                          <a:spcPts val="3650"/>
                        </a:lnSpc>
                        <a:spcBef>
                          <a:spcPts val="35"/>
                        </a:spcBef>
                      </a:pPr>
                      <a:r>
                        <a:rPr dirty="0" sz="3250" spc="50">
                          <a:solidFill>
                            <a:srgbClr val="012142"/>
                          </a:solidFill>
                          <a:latin typeface="Arial MT"/>
                          <a:cs typeface="Arial MT"/>
                        </a:rPr>
                        <a:t>Monitor </a:t>
                      </a:r>
                      <a:r>
                        <a:rPr dirty="0" sz="3250" spc="-40">
                          <a:solidFill>
                            <a:srgbClr val="051F38"/>
                          </a:solidFill>
                          <a:latin typeface="Arial MT"/>
                          <a:cs typeface="Arial MT"/>
                        </a:rPr>
                        <a:t>Fairness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634365" marR="690880" indent="144145">
                        <a:lnSpc>
                          <a:spcPts val="3650"/>
                        </a:lnSpc>
                        <a:spcBef>
                          <a:spcPts val="35"/>
                        </a:spcBef>
                      </a:pPr>
                      <a:r>
                        <a:rPr dirty="0" sz="3250" spc="-10">
                          <a:solidFill>
                            <a:srgbClr val="072846"/>
                          </a:solidFill>
                          <a:latin typeface="Arial MT"/>
                          <a:cs typeface="Arial MT"/>
                        </a:rPr>
                        <a:t>Evaluate </a:t>
                      </a:r>
                      <a:r>
                        <a:rPr dirty="0" sz="3250" spc="-10">
                          <a:solidFill>
                            <a:srgbClr val="031F3A"/>
                          </a:solidFill>
                          <a:latin typeface="Arial MT"/>
                          <a:cs typeface="Arial MT"/>
                        </a:rPr>
                        <a:t>Alignment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782955" marR="811530" indent="240029">
                        <a:lnSpc>
                          <a:spcPts val="3650"/>
                        </a:lnSpc>
                        <a:spcBef>
                          <a:spcPts val="35"/>
                        </a:spcBef>
                      </a:pPr>
                      <a:r>
                        <a:rPr dirty="0" sz="3250" spc="-30">
                          <a:solidFill>
                            <a:srgbClr val="03233F"/>
                          </a:solidFill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3250" spc="-225">
                          <a:solidFill>
                            <a:srgbClr val="0323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50" spc="-50">
                          <a:solidFill>
                            <a:srgbClr val="032646"/>
                          </a:solidFill>
                          <a:latin typeface="Arial MT"/>
                          <a:cs typeface="Arial MT"/>
                        </a:rPr>
                        <a:t>&amp; </a:t>
                      </a:r>
                      <a:r>
                        <a:rPr dirty="0" sz="3250" spc="-10">
                          <a:solidFill>
                            <a:srgbClr val="052138"/>
                          </a:solidFill>
                          <a:latin typeface="Arial MT"/>
                          <a:cs typeface="Arial MT"/>
                        </a:rPr>
                        <a:t>Simulate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396240" marR="464820" indent="153670">
                        <a:lnSpc>
                          <a:spcPts val="3650"/>
                        </a:lnSpc>
                        <a:spcBef>
                          <a:spcPts val="35"/>
                        </a:spcBef>
                      </a:pPr>
                      <a:r>
                        <a:rPr dirty="0" sz="3250" spc="-10">
                          <a:solidFill>
                            <a:srgbClr val="011D3B"/>
                          </a:solidFill>
                          <a:latin typeface="Arial MT"/>
                          <a:cs typeface="Arial MT"/>
                        </a:rPr>
                        <a:t>Benchmark </a:t>
                      </a:r>
                      <a:r>
                        <a:rPr dirty="0" sz="3250" spc="-10">
                          <a:solidFill>
                            <a:srgbClr val="01182F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774700" marR="444500" indent="328930">
                        <a:lnSpc>
                          <a:spcPts val="3650"/>
                        </a:lnSpc>
                        <a:spcBef>
                          <a:spcPts val="35"/>
                        </a:spcBef>
                      </a:pPr>
                      <a:r>
                        <a:rPr dirty="0" sz="3250" spc="-10">
                          <a:solidFill>
                            <a:srgbClr val="031F3F"/>
                          </a:solidFill>
                          <a:latin typeface="Arial MT"/>
                          <a:cs typeface="Arial MT"/>
                        </a:rPr>
                        <a:t>Drive </a:t>
                      </a:r>
                      <a:r>
                        <a:rPr dirty="0" sz="3250" spc="-10">
                          <a:solidFill>
                            <a:srgbClr val="051C36"/>
                          </a:solidFill>
                          <a:latin typeface="Arial MT"/>
                          <a:cs typeface="Arial MT"/>
                        </a:rPr>
                        <a:t>Strategy</a:t>
                      </a:r>
                      <a:endParaRPr sz="325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</a:tr>
              <a:tr h="470534">
                <a:tc>
                  <a:txBody>
                    <a:bodyPr/>
                    <a:lstStyle/>
                    <a:p>
                      <a:pPr marL="299720">
                        <a:lnSpc>
                          <a:spcPts val="2580"/>
                        </a:lnSpc>
                        <a:spcBef>
                          <a:spcPts val="1025"/>
                        </a:spcBef>
                      </a:pPr>
                      <a:r>
                        <a:rPr dirty="0" sz="2150" spc="-75">
                          <a:latin typeface="Arial MT"/>
                          <a:cs typeface="Arial MT"/>
                        </a:rPr>
                        <a:t>Proactively</a:t>
                      </a:r>
                      <a:r>
                        <a:rPr dirty="0" sz="21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monitor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130175"/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2580"/>
                        </a:lnSpc>
                        <a:spcBef>
                          <a:spcPts val="1025"/>
                        </a:spcBef>
                      </a:pPr>
                      <a:r>
                        <a:rPr dirty="0" sz="2150" spc="-50">
                          <a:latin typeface="Arial MT"/>
                          <a:cs typeface="Arial MT"/>
                        </a:rPr>
                        <a:t>Objectively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5">
                          <a:latin typeface="Arial MT"/>
                          <a:cs typeface="Arial MT"/>
                        </a:rPr>
                        <a:t>assess</a:t>
                      </a:r>
                      <a:r>
                        <a:rPr dirty="0" sz="21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the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130175"/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2580"/>
                        </a:lnSpc>
                        <a:spcBef>
                          <a:spcPts val="1025"/>
                        </a:spcBef>
                      </a:pPr>
                      <a:r>
                        <a:rPr dirty="0" sz="2150" spc="-55">
                          <a:latin typeface="Arial MT"/>
                          <a:cs typeface="Arial MT"/>
                        </a:rPr>
                        <a:t>Efficiently</a:t>
                      </a:r>
                      <a:r>
                        <a:rPr dirty="0" sz="2150" spc="-85">
                          <a:latin typeface="Arial MT"/>
                          <a:cs typeface="Arial MT"/>
                        </a:rPr>
                        <a:t> plan,</a:t>
                      </a:r>
                      <a:r>
                        <a:rPr dirty="0" sz="215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model,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130175"/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580"/>
                        </a:lnSpc>
                        <a:spcBef>
                          <a:spcPts val="1025"/>
                        </a:spcBef>
                      </a:pPr>
                      <a:r>
                        <a:rPr dirty="0" sz="2150" spc="-110">
                          <a:latin typeface="Arial MT"/>
                          <a:cs typeface="Arial MT"/>
                        </a:rPr>
                        <a:t>Benchmark</a:t>
                      </a:r>
                      <a:r>
                        <a:rPr dirty="0" sz="21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key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130175"/>
                </a:tc>
                <a:tc>
                  <a:txBody>
                    <a:bodyPr/>
                    <a:lstStyle/>
                    <a:p>
                      <a:pPr algn="ctr" marL="347345">
                        <a:lnSpc>
                          <a:spcPts val="2580"/>
                        </a:lnSpc>
                        <a:spcBef>
                          <a:spcPts val="1025"/>
                        </a:spcBef>
                      </a:pPr>
                      <a:r>
                        <a:rPr dirty="0" sz="2150" spc="-145">
                          <a:latin typeface="Arial MT"/>
                          <a:cs typeface="Arial MT"/>
                        </a:rPr>
                        <a:t>Make</a:t>
                      </a:r>
                      <a:r>
                        <a:rPr dirty="0" sz="215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80">
                          <a:latin typeface="Arial MT"/>
                          <a:cs typeface="Arial MT"/>
                        </a:rPr>
                        <a:t>informed,</a:t>
                      </a:r>
                      <a:r>
                        <a:rPr dirty="0" sz="21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data-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130175"/>
                </a:tc>
              </a:tr>
              <a:tr h="324485">
                <a:tc>
                  <a:txBody>
                    <a:bodyPr/>
                    <a:lstStyle/>
                    <a:p>
                      <a:pPr marL="106680">
                        <a:lnSpc>
                          <a:spcPts val="2450"/>
                        </a:lnSpc>
                      </a:pPr>
                      <a:r>
                        <a:rPr dirty="0" sz="2150" spc="-80">
                          <a:latin typeface="Arial MT"/>
                          <a:cs typeface="Arial MT"/>
                        </a:rPr>
                        <a:t>compensation</a:t>
                      </a:r>
                      <a:r>
                        <a:rPr dirty="0" sz="21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fairness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ts val="2450"/>
                        </a:lnSpc>
                      </a:pPr>
                      <a:r>
                        <a:rPr dirty="0" sz="2150" spc="-65">
                          <a:latin typeface="Arial MT"/>
                          <a:cs typeface="Arial MT"/>
                        </a:rPr>
                        <a:t>alignment</a:t>
                      </a:r>
                      <a:r>
                        <a:rPr dirty="0" sz="21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3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2150" spc="-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employee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2450"/>
                        </a:lnSpc>
                      </a:pPr>
                      <a:r>
                        <a:rPr dirty="0" sz="2150" spc="-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15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60">
                          <a:latin typeface="Arial MT"/>
                          <a:cs typeface="Arial MT"/>
                        </a:rPr>
                        <a:t>simulate</a:t>
                      </a:r>
                      <a:r>
                        <a:rPr dirty="0" sz="2150" spc="-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bonus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0320">
                        <a:lnSpc>
                          <a:spcPts val="2450"/>
                        </a:lnSpc>
                      </a:pPr>
                      <a:r>
                        <a:rPr dirty="0" sz="2150" spc="-70">
                          <a:latin typeface="Arial MT"/>
                          <a:cs typeface="Arial MT"/>
                        </a:rPr>
                        <a:t>workforce</a:t>
                      </a:r>
                      <a:r>
                        <a:rPr dirty="0" sz="21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40">
                          <a:latin typeface="Arial MT"/>
                          <a:cs typeface="Arial MT"/>
                        </a:rPr>
                        <a:t>metrics</a:t>
                      </a:r>
                      <a:r>
                        <a:rPr dirty="0" sz="215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and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60045">
                        <a:lnSpc>
                          <a:spcPts val="2450"/>
                        </a:lnSpc>
                      </a:pPr>
                      <a:r>
                        <a:rPr dirty="0" sz="2150" spc="-65">
                          <a:latin typeface="Arial MT"/>
                          <a:cs typeface="Arial MT"/>
                        </a:rPr>
                        <a:t>driven</a:t>
                      </a:r>
                      <a:r>
                        <a:rPr dirty="0" sz="2150" spc="-85">
                          <a:latin typeface="Arial MT"/>
                          <a:cs typeface="Arial MT"/>
                        </a:rPr>
                        <a:t> decisions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on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18770">
                <a:tc>
                  <a:txBody>
                    <a:bodyPr/>
                    <a:lstStyle/>
                    <a:p>
                      <a:pPr marL="133350">
                        <a:lnSpc>
                          <a:spcPts val="2375"/>
                        </a:lnSpc>
                      </a:pPr>
                      <a:r>
                        <a:rPr dirty="0" sz="205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050" spc="-2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gender</a:t>
                      </a:r>
                      <a:r>
                        <a:rPr dirty="0" sz="20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85">
                          <a:latin typeface="Arial MT"/>
                          <a:cs typeface="Arial MT"/>
                        </a:rPr>
                        <a:t>pay</a:t>
                      </a:r>
                      <a:r>
                        <a:rPr dirty="0" sz="205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equity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ts val="2375"/>
                        </a:lnSpc>
                      </a:pPr>
                      <a:r>
                        <a:rPr dirty="0" sz="2050" spc="-20"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dirty="0" sz="205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0">
                          <a:latin typeface="Arial MT"/>
                          <a:cs typeface="Arial MT"/>
                        </a:rPr>
                        <a:t>with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2375"/>
                        </a:lnSpc>
                      </a:pPr>
                      <a:r>
                        <a:rPr dirty="0" sz="2050">
                          <a:latin typeface="Arial MT"/>
                          <a:cs typeface="Arial MT"/>
                        </a:rPr>
                        <a:t>distribution</a:t>
                      </a:r>
                      <a:r>
                        <a:rPr dirty="0" sz="20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scenarios.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ts val="2375"/>
                        </a:lnSpc>
                      </a:pPr>
                      <a:r>
                        <a:rPr dirty="0" sz="2050">
                          <a:latin typeface="Arial MT"/>
                          <a:cs typeface="Arial MT"/>
                        </a:rPr>
                        <a:t>costs</a:t>
                      </a:r>
                      <a:r>
                        <a:rPr dirty="0" sz="20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20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different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39090">
                        <a:lnSpc>
                          <a:spcPts val="2375"/>
                        </a:lnSpc>
                      </a:pPr>
                      <a:r>
                        <a:rPr dirty="0" sz="2050" spc="-20">
                          <a:latin typeface="Arial MT"/>
                          <a:cs typeface="Arial MT"/>
                        </a:rPr>
                        <a:t>workforce</a:t>
                      </a:r>
                      <a:r>
                        <a:rPr dirty="0" sz="205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latin typeface="Arial MT"/>
                          <a:cs typeface="Arial MT"/>
                        </a:rPr>
                        <a:t>planning,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635635">
                <a:tc>
                  <a:txBody>
                    <a:bodyPr/>
                    <a:lstStyle/>
                    <a:p>
                      <a:pPr marL="31750">
                        <a:lnSpc>
                          <a:spcPts val="2485"/>
                        </a:lnSpc>
                      </a:pPr>
                      <a:r>
                        <a:rPr dirty="0" sz="2150" spc="-80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215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2150" spc="-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organisation.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8419">
                        <a:lnSpc>
                          <a:spcPts val="2485"/>
                        </a:lnSpc>
                      </a:pPr>
                      <a:r>
                        <a:rPr dirty="0" sz="2150" spc="-10">
                          <a:latin typeface="Arial MT"/>
                          <a:cs typeface="Arial MT"/>
                        </a:rPr>
                        <a:t>compensation.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2485"/>
                        </a:lnSpc>
                      </a:pPr>
                      <a:r>
                        <a:rPr dirty="0" sz="2150" spc="-20">
                          <a:latin typeface="Arial MT"/>
                          <a:cs typeface="Arial MT"/>
                        </a:rPr>
                        <a:t>geographies.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2790" marR="100330" indent="-299720">
                        <a:lnSpc>
                          <a:spcPts val="2500"/>
                        </a:lnSpc>
                      </a:pPr>
                      <a:r>
                        <a:rPr dirty="0" sz="2150" spc="-20">
                          <a:latin typeface="Arial MT"/>
                          <a:cs typeface="Arial MT"/>
                        </a:rPr>
                        <a:t>talent</a:t>
                      </a:r>
                      <a:r>
                        <a:rPr dirty="0" sz="215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90">
                          <a:latin typeface="Arial MT"/>
                          <a:cs typeface="Arial MT"/>
                        </a:rPr>
                        <a:t>management, </a:t>
                      </a:r>
                      <a:r>
                        <a:rPr dirty="0" sz="2150" spc="-10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150" spc="-1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10">
                          <a:latin typeface="Arial MT"/>
                          <a:cs typeface="Arial MT"/>
                        </a:rPr>
                        <a:t>budgeting.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1200" y="8661400"/>
            <a:ext cx="63500" cy="12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00" y="8128000"/>
            <a:ext cx="63500" cy="25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71200" y="7594600"/>
            <a:ext cx="50800" cy="12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6200" y="2209800"/>
            <a:ext cx="2133600" cy="13589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903816" y="2260600"/>
            <a:ext cx="0" cy="1308100"/>
          </a:xfrm>
          <a:custGeom>
            <a:avLst/>
            <a:gdLst/>
            <a:ahLst/>
            <a:cxnLst/>
            <a:rect l="l" t="t" r="r" b="b"/>
            <a:pathLst>
              <a:path w="0" h="1308100">
                <a:moveTo>
                  <a:pt x="0" y="13081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F34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940050" y="2489200"/>
            <a:ext cx="0" cy="1079500"/>
          </a:xfrm>
          <a:custGeom>
            <a:avLst/>
            <a:gdLst/>
            <a:ahLst/>
            <a:cxnLst/>
            <a:rect l="l" t="t" r="r" b="b"/>
            <a:pathLst>
              <a:path w="0"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F34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93233" y="2271183"/>
            <a:ext cx="1697989" cy="0"/>
          </a:xfrm>
          <a:custGeom>
            <a:avLst/>
            <a:gdLst/>
            <a:ahLst/>
            <a:cxnLst/>
            <a:rect l="l" t="t" r="r" b="b"/>
            <a:pathLst>
              <a:path w="1697989" h="0">
                <a:moveTo>
                  <a:pt x="0" y="0"/>
                </a:moveTo>
                <a:lnTo>
                  <a:pt x="1697566" y="0"/>
                </a:lnTo>
              </a:path>
            </a:pathLst>
          </a:custGeom>
          <a:ln w="21166">
            <a:solidFill>
              <a:srgbClr val="1F34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93233" y="3558116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 h="0">
                <a:moveTo>
                  <a:pt x="0" y="0"/>
                </a:moveTo>
                <a:lnTo>
                  <a:pt x="2057400" y="0"/>
                </a:lnTo>
              </a:path>
            </a:pathLst>
          </a:custGeom>
          <a:ln w="21166">
            <a:solidFill>
              <a:srgbClr val="1F34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77116" y="2260600"/>
            <a:ext cx="0" cy="1308100"/>
          </a:xfrm>
          <a:custGeom>
            <a:avLst/>
            <a:gdLst/>
            <a:ahLst/>
            <a:cxnLst/>
            <a:rect l="l" t="t" r="r" b="b"/>
            <a:pathLst>
              <a:path w="0" h="1308100">
                <a:moveTo>
                  <a:pt x="0" y="13081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192183" y="2501900"/>
            <a:ext cx="0" cy="1066800"/>
          </a:xfrm>
          <a:custGeom>
            <a:avLst/>
            <a:gdLst/>
            <a:ahLst/>
            <a:cxnLst/>
            <a:rect l="l" t="t" r="r" b="b"/>
            <a:pathLst>
              <a:path w="0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166532" y="2271183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89" h="0">
                <a:moveTo>
                  <a:pt x="0" y="0"/>
                </a:moveTo>
                <a:lnTo>
                  <a:pt x="1684866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166532" y="3558116"/>
            <a:ext cx="2036445" cy="0"/>
          </a:xfrm>
          <a:custGeom>
            <a:avLst/>
            <a:gdLst/>
            <a:ahLst/>
            <a:cxnLst/>
            <a:rect l="l" t="t" r="r" b="b"/>
            <a:pathLst>
              <a:path w="2036445" h="0">
                <a:moveTo>
                  <a:pt x="0" y="0"/>
                </a:moveTo>
                <a:lnTo>
                  <a:pt x="2036233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437716" y="2260600"/>
            <a:ext cx="0" cy="1308100"/>
          </a:xfrm>
          <a:custGeom>
            <a:avLst/>
            <a:gdLst/>
            <a:ahLst/>
            <a:cxnLst/>
            <a:rect l="l" t="t" r="r" b="b"/>
            <a:pathLst>
              <a:path w="0" h="1308100">
                <a:moveTo>
                  <a:pt x="0" y="13081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465483" y="2489200"/>
            <a:ext cx="0" cy="1079500"/>
          </a:xfrm>
          <a:custGeom>
            <a:avLst/>
            <a:gdLst/>
            <a:ahLst/>
            <a:cxnLst/>
            <a:rect l="l" t="t" r="r" b="b"/>
            <a:pathLst>
              <a:path w="0"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427133" y="2271183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90" h="0">
                <a:moveTo>
                  <a:pt x="0" y="0"/>
                </a:moveTo>
                <a:lnTo>
                  <a:pt x="1684866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427133" y="3558116"/>
            <a:ext cx="2049145" cy="0"/>
          </a:xfrm>
          <a:custGeom>
            <a:avLst/>
            <a:gdLst/>
            <a:ahLst/>
            <a:cxnLst/>
            <a:rect l="l" t="t" r="r" b="b"/>
            <a:pathLst>
              <a:path w="2049145" h="0">
                <a:moveTo>
                  <a:pt x="0" y="0"/>
                </a:moveTo>
                <a:lnTo>
                  <a:pt x="2048933" y="0"/>
                </a:lnTo>
              </a:path>
            </a:pathLst>
          </a:custGeom>
          <a:ln w="21166">
            <a:solidFill>
              <a:srgbClr val="1C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971616" y="2264832"/>
            <a:ext cx="0" cy="1304290"/>
          </a:xfrm>
          <a:custGeom>
            <a:avLst/>
            <a:gdLst/>
            <a:ahLst/>
            <a:cxnLst/>
            <a:rect l="l" t="t" r="r" b="b"/>
            <a:pathLst>
              <a:path w="0" h="1304289">
                <a:moveTo>
                  <a:pt x="0" y="13038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986683" y="2501900"/>
            <a:ext cx="0" cy="1066800"/>
          </a:xfrm>
          <a:custGeom>
            <a:avLst/>
            <a:gdLst/>
            <a:ahLst/>
            <a:cxnLst/>
            <a:rect l="l" t="t" r="r" b="b"/>
            <a:pathLst>
              <a:path w="0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9961033" y="2275416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90" h="0">
                <a:moveTo>
                  <a:pt x="0" y="0"/>
                </a:moveTo>
                <a:lnTo>
                  <a:pt x="1684866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9961033" y="3558116"/>
            <a:ext cx="2036445" cy="0"/>
          </a:xfrm>
          <a:custGeom>
            <a:avLst/>
            <a:gdLst/>
            <a:ahLst/>
            <a:cxnLst/>
            <a:rect l="l" t="t" r="r" b="b"/>
            <a:pathLst>
              <a:path w="2036445" h="0">
                <a:moveTo>
                  <a:pt x="0" y="0"/>
                </a:moveTo>
                <a:lnTo>
                  <a:pt x="2036233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2232216" y="2260600"/>
            <a:ext cx="0" cy="1308100"/>
          </a:xfrm>
          <a:custGeom>
            <a:avLst/>
            <a:gdLst/>
            <a:ahLst/>
            <a:cxnLst/>
            <a:rect l="l" t="t" r="r" b="b"/>
            <a:pathLst>
              <a:path w="0" h="1308100">
                <a:moveTo>
                  <a:pt x="0" y="13081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4259983" y="2489200"/>
            <a:ext cx="0" cy="1079500"/>
          </a:xfrm>
          <a:custGeom>
            <a:avLst/>
            <a:gdLst/>
            <a:ahLst/>
            <a:cxnLst/>
            <a:rect l="l" t="t" r="r" b="b"/>
            <a:pathLst>
              <a:path w="0"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2221633" y="2271183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90" h="0">
                <a:moveTo>
                  <a:pt x="0" y="0"/>
                </a:moveTo>
                <a:lnTo>
                  <a:pt x="1684866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2221633" y="3558116"/>
            <a:ext cx="2049145" cy="0"/>
          </a:xfrm>
          <a:custGeom>
            <a:avLst/>
            <a:gdLst/>
            <a:ahLst/>
            <a:cxnLst/>
            <a:rect l="l" t="t" r="r" b="b"/>
            <a:pathLst>
              <a:path w="2049144" h="0">
                <a:moveTo>
                  <a:pt x="0" y="0"/>
                </a:moveTo>
                <a:lnTo>
                  <a:pt x="2048933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4505513" y="2247900"/>
            <a:ext cx="0" cy="1320800"/>
          </a:xfrm>
          <a:custGeom>
            <a:avLst/>
            <a:gdLst/>
            <a:ahLst/>
            <a:cxnLst/>
            <a:rect l="l" t="t" r="r" b="b"/>
            <a:pathLst>
              <a:path w="0" h="1320800">
                <a:moveTo>
                  <a:pt x="0" y="13208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6520583" y="2501900"/>
            <a:ext cx="0" cy="1066800"/>
          </a:xfrm>
          <a:custGeom>
            <a:avLst/>
            <a:gdLst/>
            <a:ahLst/>
            <a:cxnLst/>
            <a:rect l="l" t="t" r="r" b="b"/>
            <a:pathLst>
              <a:path w="0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4494929" y="2258483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90" h="0">
                <a:moveTo>
                  <a:pt x="0" y="0"/>
                </a:moveTo>
                <a:lnTo>
                  <a:pt x="1684866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494929" y="3558116"/>
            <a:ext cx="2036445" cy="0"/>
          </a:xfrm>
          <a:custGeom>
            <a:avLst/>
            <a:gdLst/>
            <a:ahLst/>
            <a:cxnLst/>
            <a:rect l="l" t="t" r="r" b="b"/>
            <a:pathLst>
              <a:path w="2036444" h="0">
                <a:moveTo>
                  <a:pt x="0" y="0"/>
                </a:moveTo>
                <a:lnTo>
                  <a:pt x="2036233" y="0"/>
                </a:lnTo>
              </a:path>
            </a:pathLst>
          </a:custGeom>
          <a:ln w="21166">
            <a:solidFill>
              <a:srgbClr val="18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4554200" y="2245783"/>
            <a:ext cx="1668145" cy="0"/>
          </a:xfrm>
          <a:custGeom>
            <a:avLst/>
            <a:gdLst/>
            <a:ahLst/>
            <a:cxnLst/>
            <a:rect l="l" t="t" r="r" b="b"/>
            <a:pathLst>
              <a:path w="1668144" h="0">
                <a:moveTo>
                  <a:pt x="0" y="0"/>
                </a:moveTo>
                <a:lnTo>
                  <a:pt x="1667933" y="0"/>
                </a:lnTo>
              </a:path>
            </a:pathLst>
          </a:custGeom>
          <a:ln w="29633">
            <a:solidFill>
              <a:srgbClr val="1F38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915267" y="552097"/>
            <a:ext cx="12842875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-280">
                <a:solidFill>
                  <a:srgbClr val="01284B"/>
                </a:solidFill>
              </a:rPr>
              <a:t>A</a:t>
            </a:r>
            <a:r>
              <a:rPr dirty="0" sz="4650" spc="-245">
                <a:solidFill>
                  <a:srgbClr val="01284B"/>
                </a:solidFill>
              </a:rPr>
              <a:t> </a:t>
            </a:r>
            <a:r>
              <a:rPr dirty="0" sz="4650">
                <a:solidFill>
                  <a:srgbClr val="052649"/>
                </a:solidFill>
              </a:rPr>
              <a:t>Showcase</a:t>
            </a:r>
            <a:r>
              <a:rPr dirty="0" sz="4650" spc="210">
                <a:solidFill>
                  <a:srgbClr val="052649"/>
                </a:solidFill>
              </a:rPr>
              <a:t> </a:t>
            </a:r>
            <a:r>
              <a:rPr dirty="0" sz="4650" spc="110">
                <a:solidFill>
                  <a:srgbClr val="052A4F"/>
                </a:solidFill>
              </a:rPr>
              <a:t>of</a:t>
            </a:r>
            <a:r>
              <a:rPr dirty="0" sz="4650">
                <a:solidFill>
                  <a:srgbClr val="052A4F"/>
                </a:solidFill>
              </a:rPr>
              <a:t> </a:t>
            </a:r>
            <a:r>
              <a:rPr dirty="0" sz="4650" spc="65">
                <a:solidFill>
                  <a:srgbClr val="05284F"/>
                </a:solidFill>
              </a:rPr>
              <a:t>End-</a:t>
            </a:r>
            <a:r>
              <a:rPr dirty="0" sz="4650">
                <a:solidFill>
                  <a:srgbClr val="05284F"/>
                </a:solidFill>
              </a:rPr>
              <a:t>to-</a:t>
            </a:r>
            <a:r>
              <a:rPr dirty="0" sz="4650" spc="75">
                <a:solidFill>
                  <a:srgbClr val="05284F"/>
                </a:solidFill>
              </a:rPr>
              <a:t>End</a:t>
            </a:r>
            <a:r>
              <a:rPr dirty="0" sz="4650" spc="180">
                <a:solidFill>
                  <a:srgbClr val="05284F"/>
                </a:solidFill>
              </a:rPr>
              <a:t> </a:t>
            </a:r>
            <a:r>
              <a:rPr dirty="0" sz="4650" spc="165">
                <a:solidFill>
                  <a:srgbClr val="01244B"/>
                </a:solidFill>
              </a:rPr>
              <a:t>Analytics</a:t>
            </a:r>
            <a:r>
              <a:rPr dirty="0" sz="4650" spc="-140">
                <a:solidFill>
                  <a:srgbClr val="01244B"/>
                </a:solidFill>
              </a:rPr>
              <a:t> </a:t>
            </a:r>
            <a:r>
              <a:rPr dirty="0" sz="4650" spc="110">
                <a:solidFill>
                  <a:srgbClr val="052D56"/>
                </a:solidFill>
              </a:rPr>
              <a:t>Capability</a:t>
            </a:r>
            <a:endParaRPr sz="4650"/>
          </a:p>
        </p:txBody>
      </p:sp>
      <p:sp>
        <p:nvSpPr>
          <p:cNvPr id="44" name="object 4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859739" y="1519413"/>
            <a:ext cx="291592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>
                <a:solidFill>
                  <a:srgbClr val="052342"/>
                </a:solidFill>
                <a:latin typeface="Arial MT"/>
                <a:cs typeface="Arial MT"/>
              </a:rPr>
              <a:t>Data</a:t>
            </a:r>
            <a:r>
              <a:rPr dirty="0" sz="2950" spc="-145">
                <a:solidFill>
                  <a:srgbClr val="052342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031D42"/>
                </a:solidFill>
                <a:latin typeface="Arial MT"/>
                <a:cs typeface="Arial MT"/>
              </a:rPr>
              <a:t>Value</a:t>
            </a:r>
            <a:r>
              <a:rPr dirty="0" sz="2950" spc="-260">
                <a:solidFill>
                  <a:srgbClr val="031D42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0A2641"/>
                </a:solidFill>
                <a:latin typeface="Arial MT"/>
                <a:cs typeface="Arial MT"/>
              </a:rPr>
              <a:t>Chain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80865" y="2639130"/>
            <a:ext cx="88646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25">
                <a:latin typeface="Arial MT"/>
                <a:cs typeface="Arial MT"/>
              </a:rPr>
              <a:t>Ingest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551788" y="2647950"/>
            <a:ext cx="12909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latin typeface="Arial MT"/>
                <a:cs typeface="Arial MT"/>
              </a:rPr>
              <a:t>Integrate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893703" y="2647950"/>
            <a:ext cx="11264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Process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89282" y="3849089"/>
            <a:ext cx="6758305" cy="4161154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3211195" indent="15875">
              <a:lnSpc>
                <a:spcPct val="143500"/>
              </a:lnSpc>
              <a:spcBef>
                <a:spcPts val="150"/>
              </a:spcBef>
            </a:pPr>
            <a:r>
              <a:rPr dirty="0" sz="2950">
                <a:solidFill>
                  <a:srgbClr val="051A34"/>
                </a:solidFill>
                <a:latin typeface="Arial MT"/>
                <a:cs typeface="Arial MT"/>
              </a:rPr>
              <a:t>Technology</a:t>
            </a:r>
            <a:r>
              <a:rPr dirty="0" sz="2950" spc="80">
                <a:solidFill>
                  <a:srgbClr val="051A34"/>
                </a:solidFill>
                <a:latin typeface="Arial MT"/>
                <a:cs typeface="Arial MT"/>
              </a:rPr>
              <a:t> </a:t>
            </a:r>
            <a:r>
              <a:rPr dirty="0" sz="2950" spc="-125">
                <a:solidFill>
                  <a:srgbClr val="032144"/>
                </a:solidFill>
                <a:latin typeface="Arial MT"/>
                <a:cs typeface="Arial MT"/>
              </a:rPr>
              <a:t>&amp;</a:t>
            </a:r>
            <a:r>
              <a:rPr dirty="0" sz="2950" spc="-260">
                <a:solidFill>
                  <a:srgbClr val="032144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011C3F"/>
                </a:solidFill>
                <a:latin typeface="Arial MT"/>
                <a:cs typeface="Arial MT"/>
              </a:rPr>
              <a:t>Toolkit </a:t>
            </a:r>
            <a:r>
              <a:rPr dirty="0" sz="2500" spc="-65">
                <a:latin typeface="Arial MT"/>
                <a:cs typeface="Arial MT"/>
              </a:rPr>
              <a:t>Platform: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55">
                <a:latin typeface="Arial MT"/>
                <a:cs typeface="Arial MT"/>
              </a:rPr>
              <a:t>Microsoft</a:t>
            </a:r>
            <a:r>
              <a:rPr dirty="0" sz="2500" spc="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Excel </a:t>
            </a:r>
            <a:r>
              <a:rPr dirty="0" sz="2500" spc="-155">
                <a:latin typeface="Arial MT"/>
                <a:cs typeface="Arial MT"/>
              </a:rPr>
              <a:t>ETL:</a:t>
            </a:r>
            <a:r>
              <a:rPr dirty="0" sz="2500" spc="-260">
                <a:latin typeface="Arial MT"/>
                <a:cs typeface="Arial MT"/>
              </a:rPr>
              <a:t> </a:t>
            </a:r>
            <a:r>
              <a:rPr dirty="0" sz="2500" spc="-250">
                <a:latin typeface="Arial MT"/>
                <a:cs typeface="Arial MT"/>
              </a:rPr>
              <a:t>Power</a:t>
            </a:r>
            <a:r>
              <a:rPr dirty="0" sz="2500" spc="50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Query</a:t>
            </a:r>
            <a:endParaRPr sz="2500">
              <a:latin typeface="Arial MT"/>
              <a:cs typeface="Arial MT"/>
            </a:endParaRPr>
          </a:p>
          <a:p>
            <a:pPr marL="22225" marR="5080" indent="15240">
              <a:lnSpc>
                <a:spcPts val="2550"/>
              </a:lnSpc>
              <a:spcBef>
                <a:spcPts val="2010"/>
              </a:spcBef>
            </a:pPr>
            <a:r>
              <a:rPr dirty="0" sz="2350" spc="-10">
                <a:latin typeface="Arial MT"/>
                <a:cs typeface="Arial MT"/>
              </a:rPr>
              <a:t>Analysis:</a:t>
            </a:r>
            <a:r>
              <a:rPr dirty="0" sz="2350" spc="-175">
                <a:latin typeface="Arial MT"/>
                <a:cs typeface="Arial MT"/>
              </a:rPr>
              <a:t> </a:t>
            </a:r>
            <a:r>
              <a:rPr dirty="0" sz="2350" spc="-85">
                <a:latin typeface="Arial MT"/>
                <a:cs typeface="Arial MT"/>
              </a:rPr>
              <a:t>Pivot</a:t>
            </a:r>
            <a:r>
              <a:rPr dirty="0" sz="2350" spc="-20">
                <a:latin typeface="Arial MT"/>
                <a:cs typeface="Arial MT"/>
              </a:rPr>
              <a:t> </a:t>
            </a:r>
            <a:r>
              <a:rPr dirty="0" sz="2350" spc="-155">
                <a:latin typeface="Arial MT"/>
                <a:cs typeface="Arial MT"/>
              </a:rPr>
              <a:t>Tables,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 spc="-135">
                <a:latin typeface="Arial MT"/>
                <a:cs typeface="Arial MT"/>
              </a:rPr>
              <a:t>Advanced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145">
                <a:latin typeface="Arial MT"/>
                <a:cs typeface="Arial MT"/>
              </a:rPr>
              <a:t>Formulas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(XLOOKUP, </a:t>
            </a:r>
            <a:r>
              <a:rPr dirty="0" sz="2350" spc="-210">
                <a:latin typeface="Arial MT"/>
                <a:cs typeface="Arial MT"/>
              </a:rPr>
              <a:t>INDEX-</a:t>
            </a:r>
            <a:r>
              <a:rPr dirty="0" sz="2350" spc="-70">
                <a:latin typeface="Arial MT"/>
                <a:cs typeface="Arial MT"/>
              </a:rPr>
              <a:t>MATCH)</a:t>
            </a:r>
            <a:endParaRPr sz="2350">
              <a:latin typeface="Arial MT"/>
              <a:cs typeface="Arial MT"/>
            </a:endParaRPr>
          </a:p>
          <a:p>
            <a:pPr marL="24130">
              <a:lnSpc>
                <a:spcPct val="100000"/>
              </a:lnSpc>
              <a:spcBef>
                <a:spcPts val="1689"/>
              </a:spcBef>
            </a:pPr>
            <a:r>
              <a:rPr dirty="0" sz="2300" spc="65">
                <a:latin typeface="Arial MT"/>
                <a:cs typeface="Arial MT"/>
              </a:rPr>
              <a:t>Statistics: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54">
                <a:latin typeface="Arial MT"/>
                <a:cs typeface="Arial MT"/>
              </a:rPr>
              <a:t>CORREL,</a:t>
            </a:r>
            <a:r>
              <a:rPr dirty="0" sz="2300" spc="105">
                <a:latin typeface="Arial MT"/>
                <a:cs typeface="Arial MT"/>
              </a:rPr>
              <a:t> </a:t>
            </a:r>
            <a:r>
              <a:rPr dirty="0" sz="2300" spc="-175">
                <a:latin typeface="Arial MT"/>
                <a:cs typeface="Arial MT"/>
              </a:rPr>
              <a:t>MEDIAN,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 spc="-245">
                <a:latin typeface="Arial MT"/>
                <a:cs typeface="Arial MT"/>
              </a:rPr>
              <a:t>PERCENTILE</a:t>
            </a:r>
            <a:r>
              <a:rPr dirty="0" sz="2300" spc="4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functions</a:t>
            </a:r>
            <a:endParaRPr sz="2300">
              <a:latin typeface="Arial MT"/>
              <a:cs typeface="Arial MT"/>
            </a:endParaRPr>
          </a:p>
          <a:p>
            <a:pPr marL="36195">
              <a:lnSpc>
                <a:spcPts val="2740"/>
              </a:lnSpc>
              <a:spcBef>
                <a:spcPts val="1639"/>
              </a:spcBef>
            </a:pPr>
            <a:r>
              <a:rPr dirty="0" sz="2400">
                <a:latin typeface="Arial MT"/>
                <a:cs typeface="Arial MT"/>
              </a:rPr>
              <a:t>Visualisation:</a:t>
            </a:r>
            <a:r>
              <a:rPr dirty="0" sz="2400" spc="-350">
                <a:latin typeface="Arial MT"/>
                <a:cs typeface="Arial MT"/>
              </a:rPr>
              <a:t> </a:t>
            </a:r>
            <a:r>
              <a:rPr dirty="0" sz="2400" spc="-125">
                <a:latin typeface="Arial MT"/>
                <a:cs typeface="Arial MT"/>
              </a:rPr>
              <a:t>Pivot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 spc="-114">
                <a:latin typeface="Arial MT"/>
                <a:cs typeface="Arial MT"/>
              </a:rPr>
              <a:t>Charts,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40">
                <a:latin typeface="Arial MT"/>
                <a:cs typeface="Arial MT"/>
              </a:rPr>
              <a:t>Histograms,</a:t>
            </a:r>
            <a:r>
              <a:rPr dirty="0" sz="2400" spc="35">
                <a:latin typeface="Arial MT"/>
                <a:cs typeface="Arial MT"/>
              </a:rPr>
              <a:t> </a:t>
            </a:r>
            <a:r>
              <a:rPr dirty="0" sz="2400" spc="-185">
                <a:latin typeface="Arial MT"/>
                <a:cs typeface="Arial MT"/>
              </a:rPr>
              <a:t>Box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Plots,</a:t>
            </a:r>
            <a:endParaRPr sz="2400">
              <a:latin typeface="Arial MT"/>
              <a:cs typeface="Arial MT"/>
            </a:endParaRPr>
          </a:p>
          <a:p>
            <a:pPr marL="22860">
              <a:lnSpc>
                <a:spcPts val="2680"/>
              </a:lnSpc>
            </a:pPr>
            <a:r>
              <a:rPr dirty="0" sz="2350" spc="-85">
                <a:latin typeface="Arial MT"/>
                <a:cs typeface="Arial MT"/>
              </a:rPr>
              <a:t>Conditional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Formatting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341149" y="2621491"/>
            <a:ext cx="77343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10">
                <a:latin typeface="Arial MT"/>
                <a:cs typeface="Arial MT"/>
              </a:rPr>
              <a:t>Store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452541" y="2665588"/>
            <a:ext cx="108140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Arial MT"/>
                <a:cs typeface="Arial MT"/>
              </a:rPr>
              <a:t>Analyze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2647845" y="2656769"/>
            <a:ext cx="122364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5">
                <a:latin typeface="Arial MT"/>
                <a:cs typeface="Arial MT"/>
              </a:rPr>
              <a:t>Visualize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4856319" y="2656769"/>
            <a:ext cx="133350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latin typeface="Arial MT"/>
                <a:cs typeface="Arial MT"/>
              </a:rPr>
              <a:t>Consume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288750" y="3846293"/>
            <a:ext cx="7811770" cy="1835785"/>
          </a:xfrm>
          <a:prstGeom prst="rect">
            <a:avLst/>
          </a:prstGeom>
        </p:spPr>
        <p:txBody>
          <a:bodyPr wrap="square" lIns="0" tIns="21780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715"/>
              </a:spcBef>
            </a:pPr>
            <a:r>
              <a:rPr dirty="0" sz="2950">
                <a:solidFill>
                  <a:srgbClr val="08213D"/>
                </a:solidFill>
                <a:latin typeface="Arial MT"/>
                <a:cs typeface="Arial MT"/>
              </a:rPr>
              <a:t>Professional</a:t>
            </a:r>
            <a:r>
              <a:rPr dirty="0" sz="2950" spc="110">
                <a:solidFill>
                  <a:srgbClr val="08213D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031D3B"/>
                </a:solidFill>
                <a:latin typeface="Arial MT"/>
                <a:cs typeface="Arial MT"/>
              </a:rPr>
              <a:t>Project</a:t>
            </a:r>
            <a:r>
              <a:rPr dirty="0" sz="2950" spc="170">
                <a:solidFill>
                  <a:srgbClr val="031D3B"/>
                </a:solidFill>
                <a:latin typeface="Arial MT"/>
                <a:cs typeface="Arial MT"/>
              </a:rPr>
              <a:t> </a:t>
            </a:r>
            <a:r>
              <a:rPr dirty="0" sz="2950" spc="90">
                <a:solidFill>
                  <a:srgbClr val="031A36"/>
                </a:solidFill>
                <a:latin typeface="Arial MT"/>
                <a:cs typeface="Arial MT"/>
              </a:rPr>
              <a:t>Structure</a:t>
            </a:r>
            <a:endParaRPr sz="2950">
              <a:latin typeface="Arial MT"/>
              <a:cs typeface="Arial MT"/>
            </a:endParaRPr>
          </a:p>
          <a:p>
            <a:pPr marL="26034">
              <a:lnSpc>
                <a:spcPts val="2680"/>
              </a:lnSpc>
              <a:spcBef>
                <a:spcPts val="1210"/>
              </a:spcBef>
            </a:pPr>
            <a:r>
              <a:rPr dirty="0" sz="2300" spc="-155">
                <a:latin typeface="Arial MT"/>
                <a:cs typeface="Arial MT"/>
              </a:rPr>
              <a:t>The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project</a:t>
            </a:r>
            <a:r>
              <a:rPr dirty="0" sz="2300" spc="-114">
                <a:latin typeface="Arial MT"/>
                <a:cs typeface="Arial MT"/>
              </a:rPr>
              <a:t> </a:t>
            </a:r>
            <a:r>
              <a:rPr dirty="0" sz="2300" spc="-145">
                <a:latin typeface="Arial MT"/>
                <a:cs typeface="Arial MT"/>
              </a:rPr>
              <a:t>was</a:t>
            </a:r>
            <a:r>
              <a:rPr dirty="0" sz="2300" spc="-95">
                <a:latin typeface="Arial MT"/>
                <a:cs typeface="Arial MT"/>
              </a:rPr>
              <a:t> managed</a:t>
            </a:r>
            <a:r>
              <a:rPr dirty="0" sz="2300" spc="70">
                <a:latin typeface="Arial MT"/>
                <a:cs typeface="Arial MT"/>
              </a:rPr>
              <a:t> </a:t>
            </a:r>
            <a:r>
              <a:rPr dirty="0" sz="2300" spc="-30">
                <a:latin typeface="Arial MT"/>
                <a:cs typeface="Arial MT"/>
              </a:rPr>
              <a:t>with</a:t>
            </a:r>
            <a:r>
              <a:rPr dirty="0" sz="2300" spc="-130">
                <a:latin typeface="Arial MT"/>
                <a:cs typeface="Arial MT"/>
              </a:rPr>
              <a:t> </a:t>
            </a:r>
            <a:r>
              <a:rPr dirty="0" sz="2300" spc="-160">
                <a:latin typeface="Arial MT"/>
                <a:cs typeface="Arial MT"/>
              </a:rPr>
              <a:t>a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clear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-114">
                <a:latin typeface="Arial MT"/>
                <a:cs typeface="Arial MT"/>
              </a:rPr>
              <a:t>and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organised</a:t>
            </a:r>
            <a:endParaRPr sz="2300">
              <a:latin typeface="Arial MT"/>
              <a:cs typeface="Arial MT"/>
            </a:endParaRPr>
          </a:p>
          <a:p>
            <a:pPr marL="14604">
              <a:lnSpc>
                <a:spcPts val="2440"/>
              </a:lnSpc>
            </a:pPr>
            <a:r>
              <a:rPr dirty="0" sz="2200">
                <a:latin typeface="Arial MT"/>
                <a:cs typeface="Arial MT"/>
              </a:rPr>
              <a:t>repository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structure,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separating</a:t>
            </a:r>
            <a:r>
              <a:rPr dirty="0" sz="2200" spc="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raw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data,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cleaned</a:t>
            </a:r>
            <a:r>
              <a:rPr dirty="0" sz="2200" spc="-13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data,</a:t>
            </a:r>
            <a:r>
              <a:rPr dirty="0" sz="2200" spc="-14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analysis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ts val="2760"/>
              </a:lnSpc>
            </a:pPr>
            <a:r>
              <a:rPr dirty="0" sz="2400" spc="-130">
                <a:latin typeface="Arial MT"/>
                <a:cs typeface="Arial MT"/>
              </a:rPr>
              <a:t>models,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70">
                <a:latin typeface="Arial MT"/>
                <a:cs typeface="Arial MT"/>
              </a:rPr>
              <a:t>and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110">
                <a:latin typeface="Arial MT"/>
                <a:cs typeface="Arial MT"/>
              </a:rPr>
              <a:t>documentation</a:t>
            </a:r>
            <a:r>
              <a:rPr dirty="0" sz="2400" spc="40">
                <a:latin typeface="Arial MT"/>
                <a:cs typeface="Arial MT"/>
              </a:rPr>
              <a:t> </a:t>
            </a:r>
            <a:r>
              <a:rPr dirty="0" sz="2400" spc="-95">
                <a:latin typeface="Arial MT"/>
                <a:cs typeface="Arial MT"/>
              </a:rPr>
              <a:t>for</a:t>
            </a:r>
            <a:r>
              <a:rPr dirty="0" sz="2400" spc="-70">
                <a:latin typeface="Arial MT"/>
                <a:cs typeface="Arial MT"/>
              </a:rPr>
              <a:t> clarity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70">
                <a:latin typeface="Arial MT"/>
                <a:cs typeface="Arial MT"/>
              </a:rPr>
              <a:t>and</a:t>
            </a:r>
            <a:r>
              <a:rPr dirty="0" sz="2400" spc="-21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maintainability.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789095" y="5934427"/>
            <a:ext cx="152463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65">
                <a:latin typeface="Arial MT"/>
                <a:cs typeface="Arial MT"/>
              </a:rPr>
              <a:t>project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 spc="-105">
                <a:latin typeface="Arial MT"/>
                <a:cs typeface="Arial MT"/>
              </a:rPr>
              <a:t>name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1125348" y="6338358"/>
            <a:ext cx="1595120" cy="268922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04165">
              <a:lnSpc>
                <a:spcPct val="100000"/>
              </a:lnSpc>
              <a:spcBef>
                <a:spcPts val="1540"/>
              </a:spcBef>
            </a:pPr>
            <a:r>
              <a:rPr dirty="0" sz="2300" spc="-55">
                <a:latin typeface="Arial MT"/>
                <a:cs typeface="Arial MT"/>
              </a:rPr>
              <a:t>/data_raw</a:t>
            </a:r>
            <a:endParaRPr sz="2300">
              <a:latin typeface="Arial MT"/>
              <a:cs typeface="Arial MT"/>
            </a:endParaRPr>
          </a:p>
          <a:p>
            <a:pPr marL="304165">
              <a:lnSpc>
                <a:spcPct val="100000"/>
              </a:lnSpc>
              <a:spcBef>
                <a:spcPts val="1440"/>
              </a:spcBef>
            </a:pPr>
            <a:r>
              <a:rPr dirty="0" sz="2300" spc="-180">
                <a:latin typeface="Arial MT"/>
                <a:cs typeface="Arial MT"/>
              </a:rPr>
              <a:t>/data_cIean</a:t>
            </a:r>
            <a:endParaRPr sz="2300">
              <a:latin typeface="Arial MT"/>
              <a:cs typeface="Arial MT"/>
            </a:endParaRPr>
          </a:p>
          <a:p>
            <a:pPr marL="304165">
              <a:lnSpc>
                <a:spcPct val="100000"/>
              </a:lnSpc>
              <a:spcBef>
                <a:spcPts val="1440"/>
              </a:spcBef>
            </a:pPr>
            <a:r>
              <a:rPr dirty="0" sz="2300" spc="-45">
                <a:latin typeface="Arial MT"/>
                <a:cs typeface="Arial MT"/>
              </a:rPr>
              <a:t>/analysis</a:t>
            </a:r>
            <a:endParaRPr sz="2300">
              <a:latin typeface="Arial MT"/>
              <a:cs typeface="Arial MT"/>
            </a:endParaRPr>
          </a:p>
          <a:p>
            <a:pPr marL="304165">
              <a:lnSpc>
                <a:spcPct val="100000"/>
              </a:lnSpc>
              <a:spcBef>
                <a:spcPts val="1540"/>
              </a:spcBef>
            </a:pPr>
            <a:r>
              <a:rPr dirty="0" sz="2200" spc="-10">
                <a:latin typeface="Arial MT"/>
                <a:cs typeface="Arial MT"/>
              </a:rPr>
              <a:t>/visuaIs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150" spc="-140">
                <a:solidFill>
                  <a:srgbClr val="A58E62"/>
                </a:solidFill>
                <a:latin typeface="Arial MT"/>
                <a:cs typeface="Arial MT"/>
              </a:rPr>
              <a:t>"1</a:t>
            </a:r>
            <a:r>
              <a:rPr dirty="0" sz="2150" spc="-15">
                <a:solidFill>
                  <a:srgbClr val="A58E6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/docs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2026-01-15T15:10:35Z</dcterms:created>
  <dcterms:modified xsi:type="dcterms:W3CDTF">2026-01-15T15:10:35Z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LastSaved">
    <vt:filetime>2026-01-15T00:00:00Z</vt:filetime>
  </property>
</Properties>
</file>